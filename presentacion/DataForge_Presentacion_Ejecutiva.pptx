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ertura" id="{980d3f39-62c4-351c-11b1-f7804cdf5475}">
          <p14:sldIdLst>
            <p14:sldId id="256"/>
          </p14:sldIdLst>
        </p14:section>
        <p14:section name="Problema y decisión" id="{d990bfa9-47e0-6f76-4ae3-d6512753e0c8}">
          <p14:sldIdLst>
            <p14:sldId id="257"/>
            <p14:sldId id="258"/>
          </p14:sldIdLst>
        </p14:section>
        <p14:section name="Métricas y datos" id="{f4d95747-7ad7-4b20-013f-992e7b148f51}">
          <p14:sldIdLst>
            <p14:sldId id="259"/>
            <p14:sldId id="260"/>
          </p14:sldIdLst>
        </p14:section>
        <p14:section name="Análisis e impacto" id="{6bc2a021-04b8-e8f4-227a-76d2c914947a}">
          <p14:sldIdLst>
            <p14:sldId id="261"/>
            <p14:sldId id="262"/>
          </p14:sldIdLst>
        </p14:section>
        <p14:section name="Dashboard y recomendación" id="{e5ac3cca-fcd1-216e-265c-8d903c70aa54}">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MRR</c:v>
                </c:pt>
              </c:strCache>
            </c:strRef>
          </c:tx>
          <c:spPr>
            <a:solidFill>
              <a:schemeClr val="accent1"/>
            </a:solidFill>
            <a:ln w="9525" cap="flat">
              <a:solidFill>
                <a:srgbClr val="F9F9F9"/>
              </a:solidFill>
              <a:prstDash val="solid"/>
              <a:round/>
            </a:ln>
            <a:effectLst/>
          </c:spPr>
          <c:dPt>
            <c:idx val="0"/>
            <c:bubble3D val="0"/>
            <c:spPr>
              <a:solidFill>
                <a:srgbClr val="2A78D6"/>
              </a:solidFill>
              <a:ln w="25400" cap="flat">
                <a:solidFill>
                  <a:srgbClr val="0D366B"/>
                </a:solidFill>
                <a:prstDash val="solid"/>
                <a:round/>
              </a:ln>
              <a:effectLst/>
            </c:spPr>
          </c:dPt>
          <c:dPt>
            <c:idx val="1"/>
            <c:bubble3D val="0"/>
            <c:spPr>
              <a:solidFill>
                <a:srgbClr val="EB6834"/>
              </a:solidFill>
              <a:ln w="25400" cap="flat">
                <a:solidFill>
                  <a:srgbClr val="0D366B"/>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MRR retenido</c:v>
                </c:pt>
                <c:pt idx="1">
                  <c:v>MRR perdido por churn</c:v>
                </c:pt>
              </c:strCache>
            </c:strRef>
          </c:cat>
          <c:val>
            <c:numRef>
              <c:f>Sheet1!$B$2:$B$3</c:f>
              <c:numCache>
                <c:ptCount val="2"/>
                <c:pt idx="0">
                  <c:v>69.5</c:v>
                </c:pt>
                <c:pt idx="1">
                  <c:v>30.5</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MRR perdido por segmento (USD/mes)</a:t>
            </a:r>
          </a:p>
        </c:rich>
      </c:tx>
      <c:layout/>
      <c:overlay val="0"/>
    </c:title>
    <c:autoTitleDeleted val="0"/>
    <c:plotArea>
      <c:layout/>
      <c:barChart>
        <c:barDir val="bar"/>
        <c:grouping val="clustered"/>
        <c:varyColors val="0"/>
        <c:ser>
          <c:idx val="0"/>
          <c:order val="0"/>
          <c:tx>
            <c:strRef>
              <c:f>Sheet1!$B$1</c:f>
              <c:strCache>
                <c:ptCount val="1"/>
                <c:pt idx="0">
                  <c:v>MRR perdido (USD/mes)</c:v>
                </c:pt>
              </c:strCache>
            </c:strRef>
          </c:tx>
          <c:spPr>
            <a:solidFill>
              <a:srgbClr val="EB6834"/>
            </a:solidFill>
            <a:effectLst/>
          </c:spPr>
          <c:invertIfNegative val="0"/>
          <c:dLbls>
            <c:numFmt formatCode="#,##0"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cat>
            <c:multiLvlStrRef>
              <c:f>Sheet1!$A$2:$A$7</c:f>
              <c:multiLvlStrCache>
                <c:ptCount val="6"/>
                <c:lvl>
                  <c:pt idx="0">
                    <c:v>Mes a mes · fibra</c:v>
                  </c:pt>
                  <c:pt idx="1">
                    <c:v>Mes a mes · DSL</c:v>
                  </c:pt>
                  <c:pt idx="2">
                    <c:v>Un año · fibra</c:v>
                  </c:pt>
                  <c:pt idx="3">
                    <c:v>Un año · DSL</c:v>
                  </c:pt>
                  <c:pt idx="4">
                    <c:v>Dos años · fibra</c:v>
                  </c:pt>
                  <c:pt idx="5">
                    <c:v>Resto</c:v>
                  </c:pt>
                </c:lvl>
              </c:multiLvlStrCache>
            </c:multiLvlStrRef>
          </c:cat>
          <c:val>
            <c:numRef>
              <c:f>Sheet1!$B$2:$B$7</c:f>
              <c:numCache>
                <c:formatCode>General</c:formatCode>
                <c:ptCount val="6"/>
                <c:pt idx="0">
                  <c:v>100482</c:v>
                </c:pt>
                <c:pt idx="1">
                  <c:v>18367</c:v>
                </c:pt>
                <c:pt idx="2">
                  <c:v>10572</c:v>
                </c:pt>
                <c:pt idx="3">
                  <c:v>3356</c:v>
                </c:pt>
                <c:pt idx="4">
                  <c:v>3246</c:v>
                </c:pt>
                <c:pt idx="5">
                  <c:v>3108</c:v>
                </c:pt>
              </c:numCache>
            </c:numRef>
          </c:val>
        </c:ser>
        <c:dLbls>
          <c:numFmt formatCode="#,##0"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0D9"/>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Churn por antigüedad: 52.9 % en los primeros 6 meses</a:t>
            </a:r>
          </a:p>
        </c:rich>
      </c:tx>
      <c:layout/>
      <c:overlay val="0"/>
    </c:title>
    <c:autoTitleDeleted val="0"/>
    <c:plotArea>
      <c:layout/>
      <c:barChart>
        <c:barDir val="col"/>
        <c:grouping val="clustered"/>
        <c:varyColors val="0"/>
        <c:ser>
          <c:idx val="0"/>
          <c:order val="0"/>
          <c:tx>
            <c:strRef>
              <c:f>Sheet1!$B$1</c:f>
              <c:strCache>
                <c:ptCount val="1"/>
                <c:pt idx="0">
                  <c:v>Tasa de churn</c:v>
                </c:pt>
              </c:strCache>
            </c:strRef>
          </c:tx>
          <c:spPr>
            <a:solidFill>
              <a:srgbClr val="2A78D6"/>
            </a:solidFill>
            <a:effectLst/>
          </c:spPr>
          <c:invertIfNegative val="0"/>
          <c:dLbls>
            <c:numFmt formatCode="0.0&quot;%&quot;"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cat>
            <c:multiLvlStrRef>
              <c:f>Sheet1!$A$2:$A$6</c:f>
              <c:multiLvlStrCache>
                <c:ptCount val="5"/>
                <c:lvl>
                  <c:pt idx="0">
                    <c:v>0–6 m</c:v>
                  </c:pt>
                  <c:pt idx="1">
                    <c:v>7–12 m</c:v>
                  </c:pt>
                  <c:pt idx="2">
                    <c:v>13–24 m</c:v>
                  </c:pt>
                  <c:pt idx="3">
                    <c:v>25–48 m</c:v>
                  </c:pt>
                  <c:pt idx="4">
                    <c:v>49–72 m</c:v>
                  </c:pt>
                </c:lvl>
              </c:multiLvlStrCache>
            </c:multiLvlStrRef>
          </c:cat>
          <c:val>
            <c:numRef>
              <c:f>Sheet1!$B$2:$B$6</c:f>
              <c:numCache>
                <c:formatCode>General</c:formatCode>
                <c:ptCount val="5"/>
                <c:pt idx="0">
                  <c:v>52.9</c:v>
                </c:pt>
                <c:pt idx="1">
                  <c:v>35.9</c:v>
                </c:pt>
                <c:pt idx="2">
                  <c:v>28.7</c:v>
                </c:pt>
                <c:pt idx="3">
                  <c:v>20.4</c:v>
                </c:pt>
                <c:pt idx="4">
                  <c:v>9.5</c:v>
                </c:pt>
              </c:numCache>
            </c:numRef>
          </c:val>
        </c:ser>
        <c:dLbls>
          <c:numFmt formatCode="0.0&quot;%&quot;"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1E0D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0B0B"/>
                </a:solidFill>
                <a:latin typeface="+mn-lt"/>
              </a:defRPr>
            </a:pPr>
            <a:r>
              <a:rPr sz="1300" b="0" i="0" u="none" strike="noStrike">
                <a:solidFill>
                  <a:srgbClr val="0B0B0B"/>
                </a:solidFill>
                <a:latin typeface="+mn-lt"/>
              </a:rPr>
              <a:t>ROI estimado por alternativa y escenario</a:t>
            </a:r>
          </a:p>
        </c:rich>
      </c:tx>
      <c:layout/>
      <c:overlay val="0"/>
    </c:title>
    <c:autoTitleDeleted val="0"/>
    <c:plotArea>
      <c:layout/>
      <c:barChart>
        <c:barDir val="col"/>
        <c:grouping val="clustered"/>
        <c:varyColors val="0"/>
        <c:ser>
          <c:idx val="0"/>
          <c:order val="0"/>
          <c:tx>
            <c:strRef>
              <c:f>Sheet1!$B$1</c:f>
              <c:strCache>
                <c:ptCount val="1"/>
                <c:pt idx="0">
                  <c:v>Conservador</c:v>
                </c:pt>
              </c:strCache>
            </c:strRef>
          </c:tx>
          <c:spPr>
            <a:solidFill>
              <a:srgbClr val="86B6EF"/>
            </a:solidFill>
            <a:effectLst/>
          </c:spPr>
          <c:invertIfNegative val="0"/>
          <c:dLbls>
            <c:numFmt formatCode="+0&quot;%&quot;;-0&quot;%&quot;;0&quot;%&quot;"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cat>
            <c:multiLvlStrRef>
              <c:f>Sheet1!$A$2:$A$4</c:f>
              <c:multiLvlStrCache>
                <c:ptCount val="3"/>
                <c:lvl>
                  <c:pt idx="0">
                    <c:v>B · Descuento masivo</c:v>
                  </c:pt>
                  <c:pt idx="1">
                    <c:v>C · Sin focalizar</c:v>
                  </c:pt>
                  <c:pt idx="2">
                    <c:v>C · Focalizado (riesgo alto)</c:v>
                  </c:pt>
                </c:lvl>
              </c:multiLvlStrCache>
            </c:multiLvlStrRef>
          </c:cat>
          <c:val>
            <c:numRef>
              <c:f>Sheet1!$B$2:$B$4</c:f>
              <c:numCache>
                <c:formatCode>General</c:formatCode>
                <c:ptCount val="3"/>
                <c:pt idx="0">
                  <c:v>-85</c:v>
                </c:pt>
                <c:pt idx="1">
                  <c:v>-79</c:v>
                </c:pt>
                <c:pt idx="2">
                  <c:v>-48</c:v>
                </c:pt>
              </c:numCache>
            </c:numRef>
          </c:val>
        </c:ser>
        <c:ser>
          <c:idx val="1"/>
          <c:order val="1"/>
          <c:tx>
            <c:strRef>
              <c:f>Sheet1!$C$1</c:f>
              <c:strCache>
                <c:ptCount val="1"/>
                <c:pt idx="0">
                  <c:v>Base</c:v>
                </c:pt>
              </c:strCache>
            </c:strRef>
          </c:tx>
          <c:spPr>
            <a:solidFill>
              <a:srgbClr val="2A78D6"/>
            </a:solidFill>
            <a:effectLst/>
          </c:spPr>
          <c:invertIfNegative val="0"/>
          <c:dLbls>
            <c:numFmt formatCode="+0&quot;%&quot;;-0&quot;%&quot;;0&quot;%&quot;"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cat>
            <c:multiLvlStrRef>
              <c:f>Sheet1!$A$2:$A$4</c:f>
              <c:multiLvlStrCache>
                <c:ptCount val="3"/>
                <c:lvl>
                  <c:pt idx="0">
                    <c:v>B · Descuento masivo</c:v>
                  </c:pt>
                  <c:pt idx="1">
                    <c:v>C · Sin focalizar</c:v>
                  </c:pt>
                  <c:pt idx="2">
                    <c:v>C · Focalizado (riesgo alto)</c:v>
                  </c:pt>
                </c:lvl>
              </c:multiLvlStrCache>
            </c:multiLvlStrRef>
          </c:cat>
          <c:val>
            <c:numRef>
              <c:f>Sheet1!$C$2:$C$4</c:f>
              <c:numCache>
                <c:formatCode>General</c:formatCode>
                <c:ptCount val="3"/>
                <c:pt idx="0">
                  <c:v>-32</c:v>
                </c:pt>
                <c:pt idx="1">
                  <c:v>0</c:v>
                </c:pt>
                <c:pt idx="2">
                  <c:v>179</c:v>
                </c:pt>
              </c:numCache>
            </c:numRef>
          </c:val>
        </c:ser>
        <c:ser>
          <c:idx val="2"/>
          <c:order val="2"/>
          <c:tx>
            <c:strRef>
              <c:f>Sheet1!$D$1</c:f>
              <c:strCache>
                <c:ptCount val="1"/>
                <c:pt idx="0">
                  <c:v>Optimista</c:v>
                </c:pt>
              </c:strCache>
            </c:strRef>
          </c:tx>
          <c:spPr>
            <a:solidFill>
              <a:srgbClr val="0D366B"/>
            </a:solidFill>
            <a:effectLst/>
          </c:spPr>
          <c:invertIfNegative val="0"/>
          <c:dLbls>
            <c:numFmt formatCode="+0&quot;%&quot;;-0&quot;%&quot;;0&quot;%&quot;"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cat>
            <c:multiLvlStrRef>
              <c:f>Sheet1!$A$2:$A$4</c:f>
              <c:multiLvlStrCache>
                <c:ptCount val="3"/>
                <c:lvl>
                  <c:pt idx="0">
                    <c:v>B · Descuento masivo</c:v>
                  </c:pt>
                  <c:pt idx="1">
                    <c:v>C · Sin focalizar</c:v>
                  </c:pt>
                  <c:pt idx="2">
                    <c:v>C · Focalizado (riesgo alto)</c:v>
                  </c:pt>
                </c:lvl>
              </c:multiLvlStrCache>
            </c:multiLvlStrRef>
          </c:cat>
          <c:val>
            <c:numRef>
              <c:f>Sheet1!$D$2:$D$4</c:f>
              <c:numCache>
                <c:formatCode>General</c:formatCode>
                <c:ptCount val="3"/>
                <c:pt idx="0">
                  <c:v>77</c:v>
                </c:pt>
                <c:pt idx="1">
                  <c:v>205</c:v>
                </c:pt>
                <c:pt idx="2">
                  <c:v>839</c:v>
                </c:pt>
              </c:numCache>
            </c:numRef>
          </c:val>
        </c:ser>
        <c:dLbls>
          <c:numFmt formatCode="+0&quot;%&quot;;-0&quot;%&quot;;0&quot;%&quot;" sourceLinked="0"/>
          <c:txPr>
            <a:bodyPr/>
            <a:lstStyle/>
            <a:p>
              <a:pPr>
                <a:defRPr b="0" i="0" strike="noStrike" sz="1100" u="none">
                  <a:solidFill>
                    <a:srgbClr val="52514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1E0D9"/>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52514E"/>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Presentamos a DataForge Consulting. Telco nos contrató porque está perdiendo clientes, pero sobre todo valor: casi un tercio del ingreso recurrente mensual. Nuestra propuesta es un sistema de decisión, no un tablero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El problema no es solo cuántos clientes se van, sino cuánto valor se va: quienes abandonan pagan más que los que se quedan. Por eso planteamos una pregunta de decisión concreta, con usuario, frecuencia y acción.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Este es el Decision Canvas resumido. Quien decide es la Gerencia de Retención, cada mes. Evaluamos cuatro alternativas; la C, el programa focalizado, es la que los datos respaldan. La D queda como línea de investigación.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15 s) Elegimos como North Star el % de MRR retenido porque pondera por valor y se descompone en drivers controlables. Cada driver tiene palanca y dueño. Como balance usamos ARPU y ROI, para no comprar retención con descuentos (ley de Goodhart).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base venía casi limpia, pero no era una tabla analítica. El hallazgo más importante no es un nulo: el 26.5 % no puede ser un churn mensual estable, así que todo se reporta como tasa del período y se compara entre segmentos. El notebook se detiene si alguna validación falla.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15 s) Dos mensajes. Primero, la pérdida está concentrada: mes a mes con fibra es el 30 % de la base y el 72 % del MRR perdido. Segundo, el riesgo vive en los primeros meses, y esto se mantiene dentro de cada contrato. El modelo ajustado confirma los drivers: la protección y el pago automático se asocian con menos churn.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s) Simulamos ROI con supuestos explícitos en tres escenarios. El descuento masivo pierde dinero en el escenario base. Focalizar en los 820 clientes de riesgo alto, con palancas de bajo costo, da un ROI base de +179 %. Ninguna alternativa resiste el conservador, así que recomendamos un piloto con grupo control: basta con una reducción atribuible del 5 % para que el programa sea rentable.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15 s) El dashboard tiene una página por propósito: ejecutiva, diagnóstica, de monitoreo y acción, y de definiciones. En la página 3 la Gerencia ve a quién intervenir, con qué palanca y responsable, el ROI según el escenario y los umbrales del plan de monitoreo. [Demo en vivo si hay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Recomendamos un piloto del programa focalizado con grupo control, con criterios de escalamiento explícitos y un plan de 90 días. La meta no es reportar datos, es decidir mejor.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9494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291840"/>
            <a:ext cx="6766560" cy="82296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2514E"/>
                </a:solidFill>
              </a:rPr>
              <a:t>DataForge Consulting · Proyecto final DIBA · Caso Telco</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CDE2FB"/>
                </a:solidFill>
              </a:rPr>
              <a:t>DataForge Consulting · Proyecto final DIBA · Caso Telco</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DE2FB"/>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6949440" cy="1737360"/>
          </a:xfrm>
          <a:prstGeom prst="rect">
            <a:avLst/>
          </a:prstGeom>
          <a:noFill/>
          <a:ln/>
        </p:spPr>
        <p:txBody>
          <a:bodyPr wrap="square" lIns="0" tIns="0" rIns="0" bIns="0" rtlCol="0" anchor="b"/>
          <a:lstStyle/>
          <a:p>
            <a:pPr algn="l" indent="0" marL="0">
              <a:buNone/>
            </a:pPr>
            <a:r>
              <a:rPr lang="en-US" sz="4400" b="1" dirty="0">
                <a:solidFill>
                  <a:schemeClr val="bg1"/>
                </a:solidFill>
              </a:rPr>
              <a:t>Retener valor, no solo clientes</a:t>
            </a:r>
            <a:endParaRPr lang="en-US" sz="4400" dirty="0"/>
          </a:p>
        </p:txBody>
      </p:sp>
      <p:sp>
        <p:nvSpPr>
          <p:cNvPr id="3" name="Text 0"/>
          <p:cNvSpPr/>
          <p:nvPr>
            <p:ph idx="101" type="body" hasCustomPrompt="1"/>
          </p:nvPr>
        </p:nvSpPr>
        <p:spPr>
          <a:xfrm>
            <a:off x="640080" y="3291840"/>
            <a:ext cx="6766560" cy="822960"/>
          </a:xfrm>
          <a:prstGeom prst="rect">
            <a:avLst/>
          </a:prstGeom>
          <a:noFill/>
          <a:ln/>
        </p:spPr>
        <p:txBody>
          <a:bodyPr wrap="square" lIns="0" tIns="0" rIns="0" bIns="0" rtlCol="0" anchor="t"/>
          <a:lstStyle/>
          <a:p>
            <a:pPr indent="0" marL="0">
              <a:buNone/>
            </a:pPr>
            <a:r>
              <a:rPr lang="en-US" sz="2000" dirty="0">
                <a:solidFill>
                  <a:schemeClr val="bg2"/>
                </a:solidFill>
              </a:rPr>
              <a:t>Sistema de Decision Intelligence para la retención de clientes · Caso Telco</a:t>
            </a:r>
            <a:endParaRPr lang="en-US" sz="2000" dirty="0"/>
          </a:p>
        </p:txBody>
      </p:sp>
      <p:sp>
        <p:nvSpPr>
          <p:cNvPr id="4" name="equipo"/>
          <p:cNvSpPr txBox="1"/>
          <p:nvPr/>
        </p:nvSpPr>
        <p:spPr>
          <a:xfrm>
            <a:off x="640080" y="4800600"/>
            <a:ext cx="6949440" cy="1371600"/>
          </a:xfrm>
          <a:prstGeom prst="rect">
            <a:avLst/>
          </a:prstGeom>
          <a:noFill/>
          <a:ln/>
        </p:spPr>
        <p:txBody>
          <a:bodyPr wrap="square" lIns="0" tIns="0" rIns="0" bIns="0" rtlCol="0" anchor="t"/>
          <a:lstStyle/>
          <a:p>
            <a:pPr indent="0" marL="0">
              <a:spcAft>
                <a:spcPts val="400"/>
              </a:spcAft>
              <a:buNone/>
            </a:pPr>
            <a:r>
              <a:rPr lang="en-US" sz="1200" b="1" dirty="0">
                <a:solidFill>
                  <a:srgbClr val="CDE2FB"/>
                </a:solidFill>
              </a:rPr>
              <a:t>DataForge Consulting</a:t>
            </a:r>
            <a:endParaRPr lang="en-US" sz="1200" dirty="0"/>
          </a:p>
          <a:p>
            <a:pPr indent="0" marL="0">
              <a:spcAft>
                <a:spcPts val="400"/>
              </a:spcAft>
              <a:buNone/>
            </a:pPr>
            <a:r>
              <a:rPr lang="en-US" sz="1200" dirty="0">
                <a:solidFill>
                  <a:srgbClr val="CDE2FB"/>
                </a:solidFill>
              </a:rPr>
              <a:t>Oscar Santiago Merino Suárez · Claudia Rocío Rodríguez Ortiz · Paula Andrea Gacha García · Daniel Felipe Pérez Pineda</a:t>
            </a:r>
            <a:endParaRPr lang="en-US" sz="1200" dirty="0"/>
          </a:p>
          <a:p>
            <a:pPr indent="0" marL="0">
              <a:spcAft>
                <a:spcPts val="400"/>
              </a:spcAft>
              <a:buNone/>
            </a:pPr>
            <a:r>
              <a:rPr lang="en-US" sz="1200" dirty="0">
                <a:solidFill>
                  <a:srgbClr val="CDE2FB"/>
                </a:solidFill>
              </a:rPr>
              <a:t>Decision Intelligence &amp; Business Analytics · Maestría en Ciencia de Datos · Escuela Colombiana de Ingeniería Julio Garavito · Octubre de 2026</a:t>
            </a:r>
            <a:endParaRPr lang="en-US" sz="1200" dirty="0"/>
          </a:p>
        </p:txBody>
      </p:sp>
      <p:graphicFrame>
        <p:nvGraphicFramePr>
          <p:cNvPr id="5" name="dona_mrr" descr=""/>
          <p:cNvGraphicFramePr/>
          <p:nvPr/>
        </p:nvGraphicFramePr>
        <p:xfrm>
          <a:off x="7955280" y="1188720"/>
          <a:ext cx="3657600" cy="3657600"/>
        </p:xfrm>
        <a:graphic xmlns:a="http://schemas.openxmlformats.org/drawingml/2006/main">
          <a:graphicData uri="http://schemas.openxmlformats.org/drawingml/2006/chart">
            <c:chart xmlns:c="http://schemas.openxmlformats.org/drawingml/2006/chart" r:id="rId1"/>
          </a:graphicData>
        </a:graphic>
      </p:graphicFrame>
      <p:sp>
        <p:nvSpPr>
          <p:cNvPr id="6" name="dona_centro"/>
          <p:cNvSpPr txBox="1"/>
          <p:nvPr/>
        </p:nvSpPr>
        <p:spPr>
          <a:xfrm>
            <a:off x="8641080" y="2514600"/>
            <a:ext cx="2286000" cy="1005840"/>
          </a:xfrm>
          <a:prstGeom prst="rect">
            <a:avLst/>
          </a:prstGeom>
          <a:noFill/>
          <a:ln/>
        </p:spPr>
        <p:txBody>
          <a:bodyPr wrap="square" lIns="0" tIns="0" rIns="0" bIns="0" rtlCol="0" anchor="ctr"/>
          <a:lstStyle/>
          <a:p>
            <a:pPr algn="ctr" indent="0" marL="0">
              <a:buNone/>
            </a:pPr>
            <a:r>
              <a:rPr lang="en-US" sz="3400" b="1" dirty="0">
                <a:solidFill>
                  <a:srgbClr val="EB6834"/>
                </a:solidFill>
                <a:latin typeface="Cambria" pitchFamily="34" charset="0"/>
                <a:ea typeface="Cambria" pitchFamily="34" charset="-122"/>
                <a:cs typeface="Cambria" pitchFamily="34" charset="-120"/>
              </a:rPr>
              <a:t>30.5 %</a:t>
            </a:r>
            <a:endParaRPr lang="en-US" sz="3400" dirty="0"/>
          </a:p>
          <a:p>
            <a:pPr algn="ctr" indent="0" marL="0">
              <a:buNone/>
            </a:pPr>
            <a:r>
              <a:rPr lang="en-US" sz="1300" dirty="0">
                <a:solidFill>
                  <a:srgbClr val="FFFFFF"/>
                </a:solidFill>
                <a:latin typeface="Cambria" pitchFamily="34" charset="0"/>
                <a:ea typeface="Cambria" pitchFamily="34" charset="-122"/>
                <a:cs typeface="Cambria" pitchFamily="34" charset="-120"/>
              </a:rPr>
              <a:t>del MRR se pierde por churn</a:t>
            </a:r>
            <a:endParaRPr lang="en-US" sz="3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Perdemos un tercio del MRR por churn</a:t>
            </a:r>
            <a:endParaRPr lang="en-US" sz="3200" dirty="0"/>
          </a:p>
        </p:txBody>
      </p:sp>
      <p:sp>
        <p:nvSpPr>
          <p:cNvPr id="3" name="cifra_churn"/>
          <p:cNvSpPr/>
          <p:nvPr/>
        </p:nvSpPr>
        <p:spPr>
          <a:xfrm>
            <a:off x="548640" y="1371600"/>
            <a:ext cx="2606040" cy="1600200"/>
          </a:xfrm>
          <a:prstGeom prst="roundRect">
            <a:avLst>
              <a:gd name="adj" fmla="val 4571"/>
            </a:avLst>
          </a:prstGeom>
          <a:solidFill>
            <a:schemeClr val="bg2"/>
          </a:solidFill>
          <a:ln/>
        </p:spPr>
      </p:sp>
      <p:sp>
        <p:nvSpPr>
          <p:cNvPr id="4" name="cifra_churn_valor"/>
          <p:cNvSpPr txBox="1"/>
          <p:nvPr/>
        </p:nvSpPr>
        <p:spPr>
          <a:xfrm>
            <a:off x="777240" y="1536192"/>
            <a:ext cx="214884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26.5 %</a:t>
            </a:r>
            <a:endParaRPr lang="en-US" sz="3600" dirty="0"/>
          </a:p>
        </p:txBody>
      </p:sp>
      <p:sp>
        <p:nvSpPr>
          <p:cNvPr id="5" name="cifra_churn_etiqueta"/>
          <p:cNvSpPr txBox="1"/>
          <p:nvPr/>
        </p:nvSpPr>
        <p:spPr>
          <a:xfrm>
            <a:off x="777240" y="2304288"/>
            <a:ext cx="2148840" cy="548640"/>
          </a:xfrm>
          <a:prstGeom prst="rect">
            <a:avLst/>
          </a:prstGeom>
          <a:noFill/>
          <a:ln/>
        </p:spPr>
        <p:txBody>
          <a:bodyPr wrap="square" lIns="0" tIns="0" rIns="0" bIns="0" rtlCol="0" anchor="t"/>
          <a:lstStyle/>
          <a:p>
            <a:pPr indent="0" marL="0">
              <a:buNone/>
            </a:pPr>
            <a:r>
              <a:rPr lang="en-US" sz="1400" dirty="0">
                <a:solidFill>
                  <a:schemeClr val="tx1"/>
                </a:solidFill>
              </a:rPr>
              <a:t>de los clientes abandonó en el período (1,869 de 7,043)</a:t>
            </a:r>
            <a:endParaRPr lang="en-US" sz="1400" dirty="0"/>
          </a:p>
        </p:txBody>
      </p:sp>
      <p:sp>
        <p:nvSpPr>
          <p:cNvPr id="6" name="cifra_mrr"/>
          <p:cNvSpPr/>
          <p:nvPr/>
        </p:nvSpPr>
        <p:spPr>
          <a:xfrm>
            <a:off x="3383280" y="1371600"/>
            <a:ext cx="2606040" cy="1600200"/>
          </a:xfrm>
          <a:prstGeom prst="roundRect">
            <a:avLst>
              <a:gd name="adj" fmla="val 4571"/>
            </a:avLst>
          </a:prstGeom>
          <a:solidFill>
            <a:schemeClr val="bg2"/>
          </a:solidFill>
          <a:ln/>
        </p:spPr>
      </p:sp>
      <p:sp>
        <p:nvSpPr>
          <p:cNvPr id="7" name="cifra_mrr_valor"/>
          <p:cNvSpPr txBox="1"/>
          <p:nvPr/>
        </p:nvSpPr>
        <p:spPr>
          <a:xfrm>
            <a:off x="3611880" y="1536192"/>
            <a:ext cx="2148840" cy="777240"/>
          </a:xfrm>
          <a:prstGeom prst="rect">
            <a:avLst/>
          </a:prstGeom>
          <a:noFill/>
          <a:ln/>
        </p:spPr>
        <p:txBody>
          <a:bodyPr wrap="square" lIns="0" tIns="0" rIns="0" bIns="0" rtlCol="0" anchor="ctr"/>
          <a:lstStyle/>
          <a:p>
            <a:pPr indent="0" marL="0">
              <a:buNone/>
            </a:pPr>
            <a:r>
              <a:rPr lang="en-US" sz="3600" b="1" dirty="0">
                <a:solidFill>
                  <a:srgbClr val="EB6834"/>
                </a:solidFill>
                <a:latin typeface="Cambria" pitchFamily="34" charset="0"/>
                <a:ea typeface="Cambria" pitchFamily="34" charset="-122"/>
                <a:cs typeface="Cambria" pitchFamily="34" charset="-120"/>
              </a:rPr>
              <a:t>USD 139K</a:t>
            </a:r>
            <a:endParaRPr lang="en-US" sz="3600" dirty="0"/>
          </a:p>
        </p:txBody>
      </p:sp>
      <p:sp>
        <p:nvSpPr>
          <p:cNvPr id="8" name="cifra_mrr_etiqueta"/>
          <p:cNvSpPr txBox="1"/>
          <p:nvPr/>
        </p:nvSpPr>
        <p:spPr>
          <a:xfrm>
            <a:off x="3611880" y="2304288"/>
            <a:ext cx="2148840" cy="548640"/>
          </a:xfrm>
          <a:prstGeom prst="rect">
            <a:avLst/>
          </a:prstGeom>
          <a:noFill/>
          <a:ln/>
        </p:spPr>
        <p:txBody>
          <a:bodyPr wrap="square" lIns="0" tIns="0" rIns="0" bIns="0" rtlCol="0" anchor="t"/>
          <a:lstStyle/>
          <a:p>
            <a:pPr indent="0" marL="0">
              <a:buNone/>
            </a:pPr>
            <a:r>
              <a:rPr lang="en-US" sz="1400" dirty="0">
                <a:solidFill>
                  <a:schemeClr val="tx1"/>
                </a:solidFill>
              </a:rPr>
              <a:t>de MRR perdido cada mes por churn</a:t>
            </a:r>
            <a:endParaRPr lang="en-US" sz="1400" dirty="0"/>
          </a:p>
        </p:txBody>
      </p:sp>
      <p:sp>
        <p:nvSpPr>
          <p:cNvPr id="9" name="cifra_pct"/>
          <p:cNvSpPr/>
          <p:nvPr/>
        </p:nvSpPr>
        <p:spPr>
          <a:xfrm>
            <a:off x="6217920" y="1371600"/>
            <a:ext cx="2606040" cy="1600200"/>
          </a:xfrm>
          <a:prstGeom prst="roundRect">
            <a:avLst>
              <a:gd name="adj" fmla="val 4571"/>
            </a:avLst>
          </a:prstGeom>
          <a:solidFill>
            <a:schemeClr val="bg2"/>
          </a:solidFill>
          <a:ln/>
        </p:spPr>
      </p:sp>
      <p:sp>
        <p:nvSpPr>
          <p:cNvPr id="10" name="cifra_pct_valor"/>
          <p:cNvSpPr txBox="1"/>
          <p:nvPr/>
        </p:nvSpPr>
        <p:spPr>
          <a:xfrm>
            <a:off x="6446520" y="1536192"/>
            <a:ext cx="2148840" cy="777240"/>
          </a:xfrm>
          <a:prstGeom prst="rect">
            <a:avLst/>
          </a:prstGeom>
          <a:noFill/>
          <a:ln/>
        </p:spPr>
        <p:txBody>
          <a:bodyPr wrap="square" lIns="0" tIns="0" rIns="0" bIns="0" rtlCol="0" anchor="ctr"/>
          <a:lstStyle/>
          <a:p>
            <a:pPr indent="0" marL="0">
              <a:buNone/>
            </a:pPr>
            <a:r>
              <a:rPr lang="en-US" sz="3600" b="1" dirty="0">
                <a:solidFill>
                  <a:srgbClr val="EB6834"/>
                </a:solidFill>
                <a:latin typeface="Cambria" pitchFamily="34" charset="0"/>
                <a:ea typeface="Cambria" pitchFamily="34" charset="-122"/>
                <a:cs typeface="Cambria" pitchFamily="34" charset="-120"/>
              </a:rPr>
              <a:t>30.5 %</a:t>
            </a:r>
            <a:endParaRPr lang="en-US" sz="3600" dirty="0"/>
          </a:p>
        </p:txBody>
      </p:sp>
      <p:sp>
        <p:nvSpPr>
          <p:cNvPr id="11" name="cifra_pct_etiqueta"/>
          <p:cNvSpPr txBox="1"/>
          <p:nvPr/>
        </p:nvSpPr>
        <p:spPr>
          <a:xfrm>
            <a:off x="6446520" y="2304288"/>
            <a:ext cx="2148840" cy="548640"/>
          </a:xfrm>
          <a:prstGeom prst="rect">
            <a:avLst/>
          </a:prstGeom>
          <a:noFill/>
          <a:ln/>
        </p:spPr>
        <p:txBody>
          <a:bodyPr wrap="square" lIns="0" tIns="0" rIns="0" bIns="0" rtlCol="0" anchor="t"/>
          <a:lstStyle/>
          <a:p>
            <a:pPr indent="0" marL="0">
              <a:buNone/>
            </a:pPr>
            <a:r>
              <a:rPr lang="en-US" sz="1400" dirty="0">
                <a:solidFill>
                  <a:schemeClr val="tx1"/>
                </a:solidFill>
              </a:rPr>
              <a:t>del ingreso recurrente mensual (MRR)</a:t>
            </a:r>
            <a:endParaRPr lang="en-US" sz="1400" dirty="0"/>
          </a:p>
        </p:txBody>
      </p:sp>
      <p:sp>
        <p:nvSpPr>
          <p:cNvPr id="12" name="cifra_arpu"/>
          <p:cNvSpPr/>
          <p:nvPr/>
        </p:nvSpPr>
        <p:spPr>
          <a:xfrm>
            <a:off x="9052560" y="1371600"/>
            <a:ext cx="2606040" cy="1600200"/>
          </a:xfrm>
          <a:prstGeom prst="roundRect">
            <a:avLst>
              <a:gd name="adj" fmla="val 4571"/>
            </a:avLst>
          </a:prstGeom>
          <a:solidFill>
            <a:schemeClr val="bg2"/>
          </a:solidFill>
          <a:ln/>
        </p:spPr>
      </p:sp>
      <p:sp>
        <p:nvSpPr>
          <p:cNvPr id="13" name="cifra_arpu_valor"/>
          <p:cNvSpPr txBox="1"/>
          <p:nvPr/>
        </p:nvSpPr>
        <p:spPr>
          <a:xfrm>
            <a:off x="9281160" y="1536192"/>
            <a:ext cx="214884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74 vs. 61</a:t>
            </a:r>
            <a:endParaRPr lang="en-US" sz="3600" dirty="0"/>
          </a:p>
        </p:txBody>
      </p:sp>
      <p:sp>
        <p:nvSpPr>
          <p:cNvPr id="14" name="cifra_arpu_etiqueta"/>
          <p:cNvSpPr txBox="1"/>
          <p:nvPr/>
        </p:nvSpPr>
        <p:spPr>
          <a:xfrm>
            <a:off x="9281160" y="2304288"/>
            <a:ext cx="2148840" cy="548640"/>
          </a:xfrm>
          <a:prstGeom prst="rect">
            <a:avLst/>
          </a:prstGeom>
          <a:noFill/>
          <a:ln/>
        </p:spPr>
        <p:txBody>
          <a:bodyPr wrap="square" lIns="0" tIns="0" rIns="0" bIns="0" rtlCol="0" anchor="t"/>
          <a:lstStyle/>
          <a:p>
            <a:pPr indent="0" marL="0">
              <a:buNone/>
            </a:pPr>
            <a:r>
              <a:rPr lang="en-US" sz="1400" dirty="0">
                <a:solidFill>
                  <a:schemeClr val="tx1"/>
                </a:solidFill>
              </a:rPr>
              <a:t>USD de ARPU: quienes se van frente a los activos</a:t>
            </a:r>
            <a:endParaRPr lang="en-US" sz="1400" dirty="0"/>
          </a:p>
        </p:txBody>
      </p:sp>
      <p:sp>
        <p:nvSpPr>
          <p:cNvPr id="15" name="pregunta"/>
          <p:cNvSpPr/>
          <p:nvPr/>
        </p:nvSpPr>
        <p:spPr>
          <a:xfrm>
            <a:off x="548640" y="3429000"/>
            <a:ext cx="11109960" cy="1920240"/>
          </a:xfrm>
          <a:prstGeom prst="roundRect">
            <a:avLst>
              <a:gd name="adj" fmla="val 3810"/>
            </a:avLst>
          </a:prstGeom>
          <a:solidFill>
            <a:schemeClr val="tx2"/>
          </a:solidFill>
          <a:ln/>
        </p:spPr>
      </p:sp>
      <p:sp>
        <p:nvSpPr>
          <p:cNvPr id="16" name="pregunta_txt"/>
          <p:cNvSpPr txBox="1"/>
          <p:nvPr/>
        </p:nvSpPr>
        <p:spPr>
          <a:xfrm>
            <a:off x="914400" y="3611880"/>
            <a:ext cx="10424160" cy="1554480"/>
          </a:xfrm>
          <a:prstGeom prst="rect">
            <a:avLst/>
          </a:prstGeom>
          <a:noFill/>
          <a:ln/>
        </p:spPr>
        <p:txBody>
          <a:bodyPr wrap="square" lIns="0" tIns="0" rIns="0" bIns="0" rtlCol="0" anchor="ctr"/>
          <a:lstStyle/>
          <a:p>
            <a:pPr indent="0" marL="0">
              <a:spcAft>
                <a:spcPts val="600"/>
              </a:spcAft>
              <a:buNone/>
            </a:pPr>
            <a:r>
              <a:rPr lang="en-US" sz="1600" b="1" dirty="0">
                <a:solidFill>
                  <a:srgbClr val="CDE2FB"/>
                </a:solidFill>
              </a:rPr>
              <a:t>Pregunta de decisión</a:t>
            </a:r>
            <a:endParaRPr lang="en-US" sz="1600" dirty="0"/>
          </a:p>
          <a:p>
            <a:pPr indent="0" marL="0">
              <a:spcAft>
                <a:spcPts val="600"/>
              </a:spcAft>
              <a:buNone/>
            </a:pPr>
            <a:r>
              <a:rPr lang="en-US" sz="2200" dirty="0">
                <a:solidFill>
                  <a:srgbClr val="FFFFFF"/>
                </a:solidFill>
                <a:latin typeface="Cambria" pitchFamily="34" charset="0"/>
                <a:ea typeface="Cambria" pitchFamily="34" charset="-122"/>
                <a:cs typeface="Cambria" pitchFamily="34" charset="-120"/>
              </a:rPr>
              <a:t>¿Qué clientes activos debe priorizar la Gerencia de Retención este mes, con qué palanca y con qué retorno esperado, para reducir el MRR perdido por churn sin deteriorar el ARPU?</a:t>
            </a:r>
            <a:endParaRPr lang="en-US" sz="1600" dirty="0"/>
          </a:p>
        </p:txBody>
      </p:sp>
      <p:sp>
        <p:nvSpPr>
          <p:cNvPr id="17" name="fuente"/>
          <p:cNvSpPr txBox="1"/>
          <p:nvPr/>
        </p:nvSpPr>
        <p:spPr>
          <a:xfrm>
            <a:off x="548640" y="5623560"/>
            <a:ext cx="10972800" cy="320040"/>
          </a:xfrm>
          <a:prstGeom prst="rect">
            <a:avLst/>
          </a:prstGeom>
          <a:noFill/>
          <a:ln/>
        </p:spPr>
        <p:txBody>
          <a:bodyPr wrap="square" lIns="0" tIns="0" rIns="0" bIns="0" rtlCol="0" anchor="ctr"/>
          <a:lstStyle/>
          <a:p>
            <a:pPr indent="0" marL="0">
              <a:buNone/>
            </a:pPr>
            <a:r>
              <a:rPr lang="en-US" sz="1100" dirty="0">
                <a:solidFill>
                  <a:srgbClr val="52514E"/>
                </a:solidFill>
              </a:rPr>
              <a:t>Fuente: Telco Customer Churn (IBM/Kaggle), corte único. Tasas del período de corte: no se anualizan.</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La decisión: a quién, con qué palanca y cuánto</a:t>
            </a:r>
            <a:endParaRPr lang="en-US" sz="3200" dirty="0"/>
          </a:p>
        </p:txBody>
      </p:sp>
      <p:sp>
        <p:nvSpPr>
          <p:cNvPr id="3" name="canvas_0"/>
          <p:cNvSpPr/>
          <p:nvPr/>
        </p:nvSpPr>
        <p:spPr>
          <a:xfrm>
            <a:off x="548640" y="1417320"/>
            <a:ext cx="640080" cy="640080"/>
          </a:xfrm>
          <a:prstGeom prst="ellipse">
            <a:avLst/>
          </a:prstGeom>
          <a:solidFill>
            <a:schemeClr val="tx2"/>
          </a:solidFill>
          <a:ln/>
        </p:spPr>
      </p:sp>
      <p:sp>
        <p:nvSpPr>
          <p:cNvPr id="4" name="canvas_0_txt"/>
          <p:cNvSpPr txBox="1"/>
          <p:nvPr/>
        </p:nvSpPr>
        <p:spPr>
          <a:xfrm>
            <a:off x="548640" y="141732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U</a:t>
            </a:r>
            <a:endParaRPr lang="en-US" sz="1600" dirty="0"/>
          </a:p>
        </p:txBody>
      </p:sp>
      <p:sp>
        <p:nvSpPr>
          <p:cNvPr id="5" name="canvas_txt_0"/>
          <p:cNvSpPr txBox="1"/>
          <p:nvPr/>
        </p:nvSpPr>
        <p:spPr>
          <a:xfrm>
            <a:off x="1371600" y="1325880"/>
            <a:ext cx="4114800" cy="868680"/>
          </a:xfrm>
          <a:prstGeom prst="rect">
            <a:avLst/>
          </a:prstGeom>
          <a:noFill/>
          <a:ln/>
        </p:spPr>
        <p:txBody>
          <a:bodyPr wrap="square" lIns="0" tIns="0" rIns="0" bIns="0" rtlCol="0" anchor="ctr"/>
          <a:lstStyle/>
          <a:p>
            <a:pPr indent="0" marL="0">
              <a:buNone/>
            </a:pPr>
            <a:r>
              <a:rPr lang="en-US" sz="1600" b="1" dirty="0">
                <a:solidFill>
                  <a:schemeClr val="tx2"/>
                </a:solidFill>
              </a:rPr>
              <a:t>Usuario</a:t>
            </a:r>
            <a:endParaRPr lang="en-US" sz="1600" dirty="0"/>
          </a:p>
          <a:p>
            <a:pPr indent="0" marL="0">
              <a:buNone/>
            </a:pPr>
            <a:r>
              <a:rPr lang="en-US" sz="1400" dirty="0">
                <a:solidFill>
                  <a:schemeClr val="tx1"/>
                </a:solidFill>
              </a:rPr>
              <a:t>Gerente de Retención; el Comité Directivo como audiencia ejecutiva</a:t>
            </a:r>
            <a:endParaRPr lang="en-US" sz="1600" dirty="0"/>
          </a:p>
        </p:txBody>
      </p:sp>
      <p:sp>
        <p:nvSpPr>
          <p:cNvPr id="6" name="canvas_1"/>
          <p:cNvSpPr/>
          <p:nvPr/>
        </p:nvSpPr>
        <p:spPr>
          <a:xfrm>
            <a:off x="548640" y="2514600"/>
            <a:ext cx="640080" cy="640080"/>
          </a:xfrm>
          <a:prstGeom prst="ellipse">
            <a:avLst/>
          </a:prstGeom>
          <a:solidFill>
            <a:schemeClr val="tx2"/>
          </a:solidFill>
          <a:ln/>
        </p:spPr>
      </p:sp>
      <p:sp>
        <p:nvSpPr>
          <p:cNvPr id="7" name="canvas_1_txt"/>
          <p:cNvSpPr txBox="1"/>
          <p:nvPr/>
        </p:nvSpPr>
        <p:spPr>
          <a:xfrm>
            <a:off x="548640" y="25146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F</a:t>
            </a:r>
            <a:endParaRPr lang="en-US" sz="1600" dirty="0"/>
          </a:p>
        </p:txBody>
      </p:sp>
      <p:sp>
        <p:nvSpPr>
          <p:cNvPr id="8" name="canvas_txt_1"/>
          <p:cNvSpPr txBox="1"/>
          <p:nvPr/>
        </p:nvSpPr>
        <p:spPr>
          <a:xfrm>
            <a:off x="1371600" y="2423160"/>
            <a:ext cx="4114800" cy="868680"/>
          </a:xfrm>
          <a:prstGeom prst="rect">
            <a:avLst/>
          </a:prstGeom>
          <a:noFill/>
          <a:ln/>
        </p:spPr>
        <p:txBody>
          <a:bodyPr wrap="square" lIns="0" tIns="0" rIns="0" bIns="0" rtlCol="0" anchor="ctr"/>
          <a:lstStyle/>
          <a:p>
            <a:pPr indent="0" marL="0">
              <a:buNone/>
            </a:pPr>
            <a:r>
              <a:rPr lang="en-US" sz="1600" b="1" dirty="0">
                <a:solidFill>
                  <a:schemeClr val="tx2"/>
                </a:solidFill>
              </a:rPr>
              <a:t>Frecuencia</a:t>
            </a:r>
            <a:endParaRPr lang="en-US" sz="1600" dirty="0"/>
          </a:p>
          <a:p>
            <a:pPr indent="0" marL="0">
              <a:buNone/>
            </a:pPr>
            <a:r>
              <a:rPr lang="en-US" sz="1400" dirty="0">
                <a:solidFill>
                  <a:schemeClr val="tx1"/>
                </a:solidFill>
              </a:rPr>
              <a:t>Mensual para segmentos y presupuesto; seguimiento semanal</a:t>
            </a:r>
            <a:endParaRPr lang="en-US" sz="1600" dirty="0"/>
          </a:p>
        </p:txBody>
      </p:sp>
      <p:sp>
        <p:nvSpPr>
          <p:cNvPr id="9" name="canvas_2"/>
          <p:cNvSpPr/>
          <p:nvPr/>
        </p:nvSpPr>
        <p:spPr>
          <a:xfrm>
            <a:off x="548640" y="3611880"/>
            <a:ext cx="640080" cy="640080"/>
          </a:xfrm>
          <a:prstGeom prst="ellipse">
            <a:avLst/>
          </a:prstGeom>
          <a:solidFill>
            <a:schemeClr val="tx2"/>
          </a:solidFill>
          <a:ln/>
        </p:spPr>
      </p:sp>
      <p:sp>
        <p:nvSpPr>
          <p:cNvPr id="10" name="canvas_2_txt"/>
          <p:cNvSpPr txBox="1"/>
          <p:nvPr/>
        </p:nvSpPr>
        <p:spPr>
          <a:xfrm>
            <a:off x="548640" y="361188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É</a:t>
            </a:r>
            <a:endParaRPr lang="en-US" sz="1600" dirty="0"/>
          </a:p>
        </p:txBody>
      </p:sp>
      <p:sp>
        <p:nvSpPr>
          <p:cNvPr id="11" name="canvas_txt_2"/>
          <p:cNvSpPr txBox="1"/>
          <p:nvPr/>
        </p:nvSpPr>
        <p:spPr>
          <a:xfrm>
            <a:off x="1371600" y="3520440"/>
            <a:ext cx="4114800" cy="868680"/>
          </a:xfrm>
          <a:prstGeom prst="rect">
            <a:avLst/>
          </a:prstGeom>
          <a:noFill/>
          <a:ln/>
        </p:spPr>
        <p:txBody>
          <a:bodyPr wrap="square" lIns="0" tIns="0" rIns="0" bIns="0" rtlCol="0" anchor="ctr"/>
          <a:lstStyle/>
          <a:p>
            <a:pPr indent="0" marL="0">
              <a:buNone/>
            </a:pPr>
            <a:r>
              <a:rPr lang="en-US" sz="1600" b="1" dirty="0">
                <a:solidFill>
                  <a:schemeClr val="tx2"/>
                </a:solidFill>
              </a:rPr>
              <a:t>Criterio de éxito</a:t>
            </a:r>
            <a:endParaRPr lang="en-US" sz="1600" dirty="0"/>
          </a:p>
          <a:p>
            <a:pPr indent="0" marL="0">
              <a:buNone/>
            </a:pPr>
            <a:r>
              <a:rPr lang="en-US" sz="1400" dirty="0">
                <a:solidFill>
                  <a:schemeClr val="tx1"/>
                </a:solidFill>
              </a:rPr>
              <a:t>MRR perdido ≤ 25 % en dos trimestres, con ARPU sin caer más de 3 %</a:t>
            </a:r>
            <a:endParaRPr lang="en-US" sz="1600" dirty="0"/>
          </a:p>
        </p:txBody>
      </p:sp>
      <p:sp>
        <p:nvSpPr>
          <p:cNvPr id="12" name="canvas_3"/>
          <p:cNvSpPr/>
          <p:nvPr/>
        </p:nvSpPr>
        <p:spPr>
          <a:xfrm>
            <a:off x="548640" y="4709160"/>
            <a:ext cx="640080" cy="640080"/>
          </a:xfrm>
          <a:prstGeom prst="ellipse">
            <a:avLst/>
          </a:prstGeom>
          <a:solidFill>
            <a:schemeClr val="tx2"/>
          </a:solidFill>
          <a:ln/>
        </p:spPr>
      </p:sp>
      <p:sp>
        <p:nvSpPr>
          <p:cNvPr id="13" name="canvas_3_txt"/>
          <p:cNvSpPr txBox="1"/>
          <p:nvPr/>
        </p:nvSpPr>
        <p:spPr>
          <a:xfrm>
            <a:off x="548640" y="470916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D</a:t>
            </a:r>
            <a:endParaRPr lang="en-US" sz="1600" dirty="0"/>
          </a:p>
        </p:txBody>
      </p:sp>
      <p:sp>
        <p:nvSpPr>
          <p:cNvPr id="14" name="canvas_txt_3"/>
          <p:cNvSpPr txBox="1"/>
          <p:nvPr/>
        </p:nvSpPr>
        <p:spPr>
          <a:xfrm>
            <a:off x="1371600" y="4617720"/>
            <a:ext cx="4114800" cy="868680"/>
          </a:xfrm>
          <a:prstGeom prst="rect">
            <a:avLst/>
          </a:prstGeom>
          <a:noFill/>
          <a:ln/>
        </p:spPr>
        <p:txBody>
          <a:bodyPr wrap="square" lIns="0" tIns="0" rIns="0" bIns="0" rtlCol="0" anchor="ctr"/>
          <a:lstStyle/>
          <a:p>
            <a:pPr indent="0" marL="0">
              <a:buNone/>
            </a:pPr>
            <a:r>
              <a:rPr lang="en-US" sz="1600" b="1" dirty="0">
                <a:solidFill>
                  <a:schemeClr val="tx2"/>
                </a:solidFill>
              </a:rPr>
              <a:t>Datos</a:t>
            </a:r>
            <a:endParaRPr lang="en-US" sz="1600" dirty="0"/>
          </a:p>
          <a:p>
            <a:pPr indent="0" marL="0">
              <a:buNone/>
            </a:pPr>
            <a:r>
              <a:rPr lang="en-US" sz="1400" dirty="0">
                <a:solidFill>
                  <a:schemeClr val="tx1"/>
                </a:solidFill>
              </a:rPr>
              <a:t>Corte IBM Telco: 7,043 clientes × 21 variables</a:t>
            </a:r>
            <a:endParaRPr lang="en-US" sz="1600" dirty="0"/>
          </a:p>
        </p:txBody>
      </p:sp>
      <p:sp>
        <p:nvSpPr>
          <p:cNvPr id="15" name="alt_titulo"/>
          <p:cNvSpPr txBox="1"/>
          <p:nvPr/>
        </p:nvSpPr>
        <p:spPr>
          <a:xfrm>
            <a:off x="5989320" y="1325880"/>
            <a:ext cx="5669280" cy="365760"/>
          </a:xfrm>
          <a:prstGeom prst="rect">
            <a:avLst/>
          </a:prstGeom>
          <a:noFill/>
          <a:ln/>
        </p:spPr>
        <p:txBody>
          <a:bodyPr wrap="square" lIns="0" tIns="0" rIns="0" bIns="0" rtlCol="0" anchor="ctr"/>
          <a:lstStyle/>
          <a:p>
            <a:pPr indent="0" marL="0">
              <a:buNone/>
            </a:pPr>
            <a:r>
              <a:rPr lang="en-US" sz="1600" b="1" dirty="0">
                <a:solidFill>
                  <a:schemeClr val="tx2"/>
                </a:solidFill>
              </a:rPr>
              <a:t>Alternativas evaluadas</a:t>
            </a:r>
            <a:endParaRPr lang="en-US" sz="1600" dirty="0"/>
          </a:p>
        </p:txBody>
      </p:sp>
      <p:sp>
        <p:nvSpPr>
          <p:cNvPr id="16" name="alt_A"/>
          <p:cNvSpPr/>
          <p:nvPr/>
        </p:nvSpPr>
        <p:spPr>
          <a:xfrm>
            <a:off x="5989320" y="1783080"/>
            <a:ext cx="2743200" cy="1874520"/>
          </a:xfrm>
          <a:prstGeom prst="roundRect">
            <a:avLst>
              <a:gd name="adj" fmla="val 3902"/>
            </a:avLst>
          </a:prstGeom>
          <a:solidFill>
            <a:schemeClr val="bg2"/>
          </a:solidFill>
          <a:ln/>
        </p:spPr>
      </p:sp>
      <p:sp>
        <p:nvSpPr>
          <p:cNvPr id="17" name="alt_txt_A"/>
          <p:cNvSpPr txBox="1"/>
          <p:nvPr/>
        </p:nvSpPr>
        <p:spPr>
          <a:xfrm>
            <a:off x="6172200" y="1920240"/>
            <a:ext cx="2377440" cy="160020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A · No intervenir</a:t>
            </a:r>
            <a:endParaRPr lang="en-US" sz="1600" dirty="0"/>
          </a:p>
          <a:p>
            <a:pPr indent="0" marL="0">
              <a:spcAft>
                <a:spcPts val="600"/>
              </a:spcAft>
              <a:buNone/>
            </a:pPr>
            <a:r>
              <a:rPr lang="en-US" sz="1300" dirty="0">
                <a:solidFill>
                  <a:schemeClr val="tx1"/>
                </a:solidFill>
              </a:rPr>
              <a:t>Status quo: el churn sigue llevándose el 30.5 % del MRR</a:t>
            </a:r>
            <a:endParaRPr lang="en-US" sz="1600" dirty="0"/>
          </a:p>
        </p:txBody>
      </p:sp>
      <p:sp>
        <p:nvSpPr>
          <p:cNvPr id="18" name="alt_B"/>
          <p:cNvSpPr/>
          <p:nvPr/>
        </p:nvSpPr>
        <p:spPr>
          <a:xfrm>
            <a:off x="8869680" y="1783080"/>
            <a:ext cx="2743200" cy="1874520"/>
          </a:xfrm>
          <a:prstGeom prst="roundRect">
            <a:avLst>
              <a:gd name="adj" fmla="val 3902"/>
            </a:avLst>
          </a:prstGeom>
          <a:solidFill>
            <a:schemeClr val="bg2"/>
          </a:solidFill>
          <a:ln/>
        </p:spPr>
      </p:sp>
      <p:sp>
        <p:nvSpPr>
          <p:cNvPr id="19" name="alt_txt_B"/>
          <p:cNvSpPr txBox="1"/>
          <p:nvPr/>
        </p:nvSpPr>
        <p:spPr>
          <a:xfrm>
            <a:off x="9052560" y="1920240"/>
            <a:ext cx="2377440" cy="160020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B · Descuento masivo</a:t>
            </a:r>
            <a:endParaRPr lang="en-US" sz="1600" dirty="0"/>
          </a:p>
          <a:p>
            <a:pPr indent="0" marL="0">
              <a:spcAft>
                <a:spcPts val="600"/>
              </a:spcAft>
              <a:buNone/>
            </a:pPr>
            <a:r>
              <a:rPr lang="en-US" sz="1300" dirty="0">
                <a:solidFill>
                  <a:schemeClr val="tx1"/>
                </a:solidFill>
              </a:rPr>
              <a:t>10 % de descuento a todos los clientes mes a mes</a:t>
            </a:r>
            <a:endParaRPr lang="en-US" sz="1600" dirty="0"/>
          </a:p>
        </p:txBody>
      </p:sp>
      <p:sp>
        <p:nvSpPr>
          <p:cNvPr id="20" name="alt_C"/>
          <p:cNvSpPr/>
          <p:nvPr/>
        </p:nvSpPr>
        <p:spPr>
          <a:xfrm>
            <a:off x="5989320" y="3840480"/>
            <a:ext cx="2743200" cy="1874520"/>
          </a:xfrm>
          <a:prstGeom prst="roundRect">
            <a:avLst>
              <a:gd name="adj" fmla="val 3902"/>
            </a:avLst>
          </a:prstGeom>
          <a:solidFill>
            <a:schemeClr val="accent1"/>
          </a:solidFill>
          <a:ln/>
        </p:spPr>
      </p:sp>
      <p:sp>
        <p:nvSpPr>
          <p:cNvPr id="21" name="alt_txt_C"/>
          <p:cNvSpPr txBox="1"/>
          <p:nvPr/>
        </p:nvSpPr>
        <p:spPr>
          <a:xfrm>
            <a:off x="6172200" y="3977640"/>
            <a:ext cx="2377440" cy="1600200"/>
          </a:xfrm>
          <a:prstGeom prst="rect">
            <a:avLst/>
          </a:prstGeom>
          <a:noFill/>
          <a:ln/>
        </p:spPr>
        <p:txBody>
          <a:bodyPr wrap="square" lIns="0" tIns="0" rIns="0" bIns="0" rtlCol="0" anchor="t"/>
          <a:lstStyle/>
          <a:p>
            <a:pPr indent="0" marL="0">
              <a:spcAft>
                <a:spcPts val="600"/>
              </a:spcAft>
              <a:buNone/>
            </a:pPr>
            <a:r>
              <a:rPr lang="en-US" sz="1600" b="1" dirty="0">
                <a:solidFill>
                  <a:schemeClr val="bg1"/>
                </a:solidFill>
              </a:rPr>
              <a:t>C · Programa focalizado</a:t>
            </a:r>
            <a:endParaRPr lang="en-US" sz="1600" dirty="0"/>
          </a:p>
          <a:p>
            <a:pPr indent="0" marL="0">
              <a:spcAft>
                <a:spcPts val="600"/>
              </a:spcAft>
              <a:buNone/>
            </a:pPr>
            <a:r>
              <a:rPr lang="en-US" sz="1300" dirty="0">
                <a:solidFill>
                  <a:schemeClr val="bg1"/>
                </a:solidFill>
              </a:rPr>
              <a:t>Clientes de riesgo alto, cada uno con su palanca: onboarding, protección, pago automático o migración</a:t>
            </a:r>
            <a:endParaRPr lang="en-US" sz="1600" dirty="0"/>
          </a:p>
        </p:txBody>
      </p:sp>
      <p:sp>
        <p:nvSpPr>
          <p:cNvPr id="22" name="alt_D"/>
          <p:cNvSpPr/>
          <p:nvPr/>
        </p:nvSpPr>
        <p:spPr>
          <a:xfrm>
            <a:off x="8869680" y="3840480"/>
            <a:ext cx="2743200" cy="1874520"/>
          </a:xfrm>
          <a:prstGeom prst="roundRect">
            <a:avLst>
              <a:gd name="adj" fmla="val 3902"/>
            </a:avLst>
          </a:prstGeom>
          <a:solidFill>
            <a:schemeClr val="bg2"/>
          </a:solidFill>
          <a:ln/>
        </p:spPr>
      </p:sp>
      <p:sp>
        <p:nvSpPr>
          <p:cNvPr id="23" name="alt_txt_D"/>
          <p:cNvSpPr txBox="1"/>
          <p:nvPr/>
        </p:nvSpPr>
        <p:spPr>
          <a:xfrm>
            <a:off x="9052560" y="3977640"/>
            <a:ext cx="2377440" cy="160020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D · Revisar la fibra</a:t>
            </a:r>
            <a:endParaRPr lang="en-US" sz="1600" dirty="0"/>
          </a:p>
          <a:p>
            <a:pPr indent="0" marL="0">
              <a:spcAft>
                <a:spcPts val="600"/>
              </a:spcAft>
              <a:buNone/>
            </a:pPr>
            <a:r>
              <a:rPr lang="en-US" sz="1300" dirty="0">
                <a:solidFill>
                  <a:schemeClr val="tx1"/>
                </a:solidFill>
              </a:rPr>
              <a:t>Precio y calidad de la fibra óptica (requiere más datos)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North Star: % MRR retenido (69.5 %)</a:t>
            </a:r>
            <a:endParaRPr lang="en-US" sz="3200" dirty="0"/>
          </a:p>
        </p:txBody>
      </p:sp>
      <p:sp>
        <p:nvSpPr>
          <p:cNvPr id="3" name="nsm"/>
          <p:cNvSpPr/>
          <p:nvPr/>
        </p:nvSpPr>
        <p:spPr>
          <a:xfrm>
            <a:off x="3813048" y="1325880"/>
            <a:ext cx="4572000" cy="868680"/>
          </a:xfrm>
          <a:prstGeom prst="roundRect">
            <a:avLst>
              <a:gd name="adj" fmla="val 8421"/>
            </a:avLst>
          </a:prstGeom>
          <a:solidFill>
            <a:schemeClr val="tx2"/>
          </a:solidFill>
          <a:ln/>
        </p:spPr>
      </p:sp>
      <p:sp>
        <p:nvSpPr>
          <p:cNvPr id="4" name="nsm_txt"/>
          <p:cNvSpPr txBox="1"/>
          <p:nvPr/>
        </p:nvSpPr>
        <p:spPr>
          <a:xfrm>
            <a:off x="3904488" y="1371600"/>
            <a:ext cx="4389120" cy="777240"/>
          </a:xfrm>
          <a:prstGeom prst="rect">
            <a:avLst/>
          </a:prstGeom>
          <a:noFill/>
          <a:ln/>
        </p:spPr>
        <p:txBody>
          <a:bodyPr wrap="square" lIns="0" tIns="0" rIns="0" bIns="0" rtlCol="0" anchor="ctr"/>
          <a:lstStyle/>
          <a:p>
            <a:pPr algn="ctr" indent="0" marL="0">
              <a:buNone/>
            </a:pPr>
            <a:r>
              <a:rPr lang="en-US" sz="2000" b="1" dirty="0">
                <a:solidFill>
                  <a:schemeClr val="bg1"/>
                </a:solidFill>
              </a:rPr>
              <a:t>% MRR retenido = 69.5 %</a:t>
            </a:r>
            <a:endParaRPr lang="en-US" sz="2000" dirty="0"/>
          </a:p>
          <a:p>
            <a:pPr algn="ctr" indent="0" marL="0">
              <a:buNone/>
            </a:pPr>
            <a:r>
              <a:rPr lang="en-US" sz="1300" dirty="0">
                <a:solidFill>
                  <a:schemeClr val="bg1"/>
                </a:solidFill>
              </a:rPr>
              <a:t>1 − MRR perdido / MRR total · meta ≥ 75 %</a:t>
            </a:r>
            <a:endParaRPr lang="en-US" sz="2000" dirty="0"/>
          </a:p>
        </p:txBody>
      </p:sp>
      <p:sp>
        <p:nvSpPr>
          <p:cNvPr id="5" name="n2_0"/>
          <p:cNvSpPr/>
          <p:nvPr/>
        </p:nvSpPr>
        <p:spPr>
          <a:xfrm>
            <a:off x="1828800" y="2514600"/>
            <a:ext cx="4114800" cy="777240"/>
          </a:xfrm>
          <a:prstGeom prst="roundRect">
            <a:avLst>
              <a:gd name="adj" fmla="val 9412"/>
            </a:avLst>
          </a:prstGeom>
          <a:solidFill>
            <a:schemeClr val="bg2"/>
          </a:solidFill>
          <a:ln/>
        </p:spPr>
      </p:sp>
      <p:sp>
        <p:nvSpPr>
          <p:cNvPr id="6" name="n2_txt_0"/>
          <p:cNvSpPr txBox="1"/>
          <p:nvPr/>
        </p:nvSpPr>
        <p:spPr>
          <a:xfrm>
            <a:off x="1965960" y="2542032"/>
            <a:ext cx="3840480" cy="731520"/>
          </a:xfrm>
          <a:prstGeom prst="rect">
            <a:avLst/>
          </a:prstGeom>
          <a:noFill/>
          <a:ln/>
        </p:spPr>
        <p:txBody>
          <a:bodyPr wrap="square" lIns="0" tIns="0" rIns="0" bIns="0" rtlCol="0" anchor="ctr"/>
          <a:lstStyle/>
          <a:p>
            <a:pPr algn="ctr" indent="0" marL="0">
              <a:buNone/>
            </a:pPr>
            <a:r>
              <a:rPr lang="en-US" sz="1500" b="1" dirty="0">
                <a:solidFill>
                  <a:schemeClr val="tx2"/>
                </a:solidFill>
              </a:rPr>
              <a:t>MRR total</a:t>
            </a:r>
            <a:endParaRPr lang="en-US" sz="1500" dirty="0"/>
          </a:p>
          <a:p>
            <a:pPr algn="ctr" indent="0" marL="0">
              <a:buNone/>
            </a:pPr>
            <a:r>
              <a:rPr lang="en-US" sz="1300" dirty="0">
                <a:solidFill>
                  <a:srgbClr val="000000"/>
                </a:solidFill>
              </a:rPr>
              <a:t>7,043 clientes × ARPU USD 64.76</a:t>
            </a:r>
            <a:endParaRPr lang="en-US" sz="1500" dirty="0"/>
          </a:p>
        </p:txBody>
      </p:sp>
      <p:sp>
        <p:nvSpPr>
          <p:cNvPr id="7" name="n2_flecha_0"/>
          <p:cNvSpPr/>
          <p:nvPr/>
        </p:nvSpPr>
        <p:spPr>
          <a:xfrm>
            <a:off x="3886200" y="2194560"/>
            <a:ext cx="0" cy="320040"/>
          </a:xfrm>
          <a:prstGeom prst="line">
            <a:avLst/>
          </a:prstGeom>
          <a:noFill/>
          <a:ln w="12700">
            <a:solidFill>
              <a:srgbClr val="52514E"/>
            </a:solidFill>
            <a:prstDash val="solid"/>
            <a:tailEnd type="triangle"/>
          </a:ln>
        </p:spPr>
      </p:sp>
      <p:sp>
        <p:nvSpPr>
          <p:cNvPr id="8" name="n2_1"/>
          <p:cNvSpPr/>
          <p:nvPr/>
        </p:nvSpPr>
        <p:spPr>
          <a:xfrm>
            <a:off x="6263640" y="2514600"/>
            <a:ext cx="4114800" cy="777240"/>
          </a:xfrm>
          <a:prstGeom prst="roundRect">
            <a:avLst>
              <a:gd name="adj" fmla="val 9412"/>
            </a:avLst>
          </a:prstGeom>
          <a:solidFill>
            <a:schemeClr val="bg2"/>
          </a:solidFill>
          <a:ln/>
        </p:spPr>
      </p:sp>
      <p:sp>
        <p:nvSpPr>
          <p:cNvPr id="9" name="n2_txt_1"/>
          <p:cNvSpPr txBox="1"/>
          <p:nvPr/>
        </p:nvSpPr>
        <p:spPr>
          <a:xfrm>
            <a:off x="6400800" y="2542032"/>
            <a:ext cx="3840480" cy="731520"/>
          </a:xfrm>
          <a:prstGeom prst="rect">
            <a:avLst/>
          </a:prstGeom>
          <a:noFill/>
          <a:ln/>
        </p:spPr>
        <p:txBody>
          <a:bodyPr wrap="square" lIns="0" tIns="0" rIns="0" bIns="0" rtlCol="0" anchor="ctr"/>
          <a:lstStyle/>
          <a:p>
            <a:pPr algn="ctr" indent="0" marL="0">
              <a:buNone/>
            </a:pPr>
            <a:r>
              <a:rPr lang="en-US" sz="1500" b="1" dirty="0">
                <a:solidFill>
                  <a:schemeClr val="tx2"/>
                </a:solidFill>
              </a:rPr>
              <a:t>MRR perdido</a:t>
            </a:r>
            <a:endParaRPr lang="en-US" sz="1500" dirty="0"/>
          </a:p>
          <a:p>
            <a:pPr algn="ctr" indent="0" marL="0">
              <a:buNone/>
            </a:pPr>
            <a:r>
              <a:rPr lang="en-US" sz="1300" dirty="0">
                <a:solidFill>
                  <a:srgbClr val="000000"/>
                </a:solidFill>
              </a:rPr>
              <a:t>1,869 clientes × ARPU USD 74.44</a:t>
            </a:r>
            <a:endParaRPr lang="en-US" sz="1500" dirty="0"/>
          </a:p>
        </p:txBody>
      </p:sp>
      <p:sp>
        <p:nvSpPr>
          <p:cNvPr id="10" name="n2_flecha_1"/>
          <p:cNvSpPr/>
          <p:nvPr/>
        </p:nvSpPr>
        <p:spPr>
          <a:xfrm>
            <a:off x="8321040" y="2194560"/>
            <a:ext cx="0" cy="320040"/>
          </a:xfrm>
          <a:prstGeom prst="line">
            <a:avLst/>
          </a:prstGeom>
          <a:noFill/>
          <a:ln w="12700">
            <a:solidFill>
              <a:srgbClr val="52514E"/>
            </a:solidFill>
            <a:prstDash val="solid"/>
            <a:tailEnd type="triangle"/>
          </a:ln>
        </p:spPr>
      </p:sp>
      <p:sp>
        <p:nvSpPr>
          <p:cNvPr id="11" name="flecha_drivers"/>
          <p:cNvSpPr/>
          <p:nvPr/>
        </p:nvSpPr>
        <p:spPr>
          <a:xfrm>
            <a:off x="8321040" y="3291840"/>
            <a:ext cx="0" cy="320040"/>
          </a:xfrm>
          <a:prstGeom prst="line">
            <a:avLst/>
          </a:prstGeom>
          <a:noFill/>
          <a:ln w="12700">
            <a:solidFill>
              <a:srgbClr val="52514E"/>
            </a:solidFill>
            <a:prstDash val="solid"/>
            <a:tailEnd type="triangle"/>
          </a:ln>
        </p:spPr>
      </p:sp>
      <p:sp>
        <p:nvSpPr>
          <p:cNvPr id="12" name="drivers_titulo"/>
          <p:cNvSpPr txBox="1"/>
          <p:nvPr/>
        </p:nvSpPr>
        <p:spPr>
          <a:xfrm>
            <a:off x="548640" y="3611880"/>
            <a:ext cx="10972800" cy="320040"/>
          </a:xfrm>
          <a:prstGeom prst="rect">
            <a:avLst/>
          </a:prstGeom>
          <a:noFill/>
          <a:ln/>
        </p:spPr>
        <p:txBody>
          <a:bodyPr wrap="square" lIns="0" tIns="0" rIns="0" bIns="0" rtlCol="0" anchor="ctr"/>
          <a:lstStyle/>
          <a:p>
            <a:pPr indent="0" marL="0">
              <a:buNone/>
            </a:pPr>
            <a:r>
              <a:rPr lang="en-US" sz="1400" b="1" dirty="0">
                <a:solidFill>
                  <a:schemeClr val="tx2"/>
                </a:solidFill>
              </a:rPr>
              <a:t>Drivers de la tasa de churn (26.5 %) → palanca y dueño</a:t>
            </a:r>
            <a:endParaRPr lang="en-US" sz="1400" dirty="0"/>
          </a:p>
        </p:txBody>
      </p:sp>
      <p:sp>
        <p:nvSpPr>
          <p:cNvPr id="13" name="driver_0"/>
          <p:cNvSpPr/>
          <p:nvPr/>
        </p:nvSpPr>
        <p:spPr>
          <a:xfrm>
            <a:off x="548640" y="4023360"/>
            <a:ext cx="2103120" cy="1600200"/>
          </a:xfrm>
          <a:prstGeom prst="roundRect">
            <a:avLst>
              <a:gd name="adj" fmla="val 4571"/>
            </a:avLst>
          </a:prstGeom>
          <a:solidFill>
            <a:schemeClr val="bg2"/>
          </a:solidFill>
          <a:ln/>
        </p:spPr>
      </p:sp>
      <p:sp>
        <p:nvSpPr>
          <p:cNvPr id="14" name="driver_txt_0"/>
          <p:cNvSpPr txBox="1"/>
          <p:nvPr/>
        </p:nvSpPr>
        <p:spPr>
          <a:xfrm>
            <a:off x="685800" y="4114800"/>
            <a:ext cx="1828800" cy="141732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Contrato</a:t>
            </a:r>
            <a:endParaRPr lang="en-US" sz="1500" dirty="0"/>
          </a:p>
          <a:p>
            <a:pPr indent="0" marL="0">
              <a:spcAft>
                <a:spcPts val="400"/>
              </a:spcAft>
              <a:buNone/>
            </a:pPr>
            <a:r>
              <a:rPr lang="en-US" sz="1300" dirty="0">
                <a:solidFill>
                  <a:srgbClr val="000000"/>
                </a:solidFill>
              </a:rPr>
              <a:t>45.0 % a plazo; churn mes a mes 42.7 %</a:t>
            </a:r>
            <a:endParaRPr lang="en-US" sz="1500" dirty="0"/>
          </a:p>
          <a:p>
            <a:pPr indent="0" marL="0">
              <a:spcAft>
                <a:spcPts val="400"/>
              </a:spcAft>
              <a:buNone/>
            </a:pPr>
            <a:r>
              <a:rPr lang="en-US" sz="1200" b="1" dirty="0">
                <a:solidFill>
                  <a:schemeClr val="accent1"/>
                </a:solidFill>
              </a:rPr>
              <a:t>L1 · Comercial</a:t>
            </a:r>
            <a:endParaRPr lang="en-US" sz="1500" dirty="0"/>
          </a:p>
        </p:txBody>
      </p:sp>
      <p:sp>
        <p:nvSpPr>
          <p:cNvPr id="15" name="driver_1"/>
          <p:cNvSpPr/>
          <p:nvPr/>
        </p:nvSpPr>
        <p:spPr>
          <a:xfrm>
            <a:off x="2788920" y="4023360"/>
            <a:ext cx="2103120" cy="1600200"/>
          </a:xfrm>
          <a:prstGeom prst="roundRect">
            <a:avLst>
              <a:gd name="adj" fmla="val 4571"/>
            </a:avLst>
          </a:prstGeom>
          <a:solidFill>
            <a:schemeClr val="bg2"/>
          </a:solidFill>
          <a:ln/>
        </p:spPr>
      </p:sp>
      <p:sp>
        <p:nvSpPr>
          <p:cNvPr id="16" name="driver_txt_1"/>
          <p:cNvSpPr txBox="1"/>
          <p:nvPr/>
        </p:nvSpPr>
        <p:spPr>
          <a:xfrm>
            <a:off x="2926080" y="4114800"/>
            <a:ext cx="1828800" cy="141732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Ciclo de vida</a:t>
            </a:r>
            <a:endParaRPr lang="en-US" sz="1500" dirty="0"/>
          </a:p>
          <a:p>
            <a:pPr indent="0" marL="0">
              <a:spcAft>
                <a:spcPts val="400"/>
              </a:spcAft>
              <a:buNone/>
            </a:pPr>
            <a:r>
              <a:rPr lang="en-US" sz="1300" dirty="0">
                <a:solidFill>
                  <a:srgbClr val="000000"/>
                </a:solidFill>
              </a:rPr>
              <a:t>churn 0–6 m 52.9 % vs. 9.5 % en 49–72 m</a:t>
            </a:r>
            <a:endParaRPr lang="en-US" sz="1500" dirty="0"/>
          </a:p>
          <a:p>
            <a:pPr indent="0" marL="0">
              <a:spcAft>
                <a:spcPts val="400"/>
              </a:spcAft>
              <a:buNone/>
            </a:pPr>
            <a:r>
              <a:rPr lang="en-US" sz="1200" b="1" dirty="0">
                <a:solidFill>
                  <a:schemeClr val="accent1"/>
                </a:solidFill>
              </a:rPr>
              <a:t>L4 · Customer Success</a:t>
            </a:r>
            <a:endParaRPr lang="en-US" sz="1500" dirty="0"/>
          </a:p>
        </p:txBody>
      </p:sp>
      <p:sp>
        <p:nvSpPr>
          <p:cNvPr id="17" name="driver_2"/>
          <p:cNvSpPr/>
          <p:nvPr/>
        </p:nvSpPr>
        <p:spPr>
          <a:xfrm>
            <a:off x="5029200" y="4023360"/>
            <a:ext cx="2103120" cy="1600200"/>
          </a:xfrm>
          <a:prstGeom prst="roundRect">
            <a:avLst>
              <a:gd name="adj" fmla="val 4571"/>
            </a:avLst>
          </a:prstGeom>
          <a:solidFill>
            <a:schemeClr val="bg2"/>
          </a:solidFill>
          <a:ln/>
        </p:spPr>
      </p:sp>
      <p:sp>
        <p:nvSpPr>
          <p:cNvPr id="18" name="driver_txt_2"/>
          <p:cNvSpPr txBox="1"/>
          <p:nvPr/>
        </p:nvSpPr>
        <p:spPr>
          <a:xfrm>
            <a:off x="5166360" y="4114800"/>
            <a:ext cx="1828800" cy="141732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Propuesta de valor</a:t>
            </a:r>
            <a:endParaRPr lang="en-US" sz="1500" dirty="0"/>
          </a:p>
          <a:p>
            <a:pPr indent="0" marL="0">
              <a:spcAft>
                <a:spcPts val="400"/>
              </a:spcAft>
              <a:buNone/>
            </a:pPr>
            <a:r>
              <a:rPr lang="en-US" sz="1300" dirty="0">
                <a:solidFill>
                  <a:srgbClr val="000000"/>
                </a:solidFill>
              </a:rPr>
              <a:t>churn fibra 41.9 % vs. DSL 19.0 %</a:t>
            </a:r>
            <a:endParaRPr lang="en-US" sz="1500" dirty="0"/>
          </a:p>
          <a:p>
            <a:pPr indent="0" marL="0">
              <a:spcAft>
                <a:spcPts val="400"/>
              </a:spcAft>
              <a:buNone/>
            </a:pPr>
            <a:r>
              <a:rPr lang="en-US" sz="1200" b="1" dirty="0">
                <a:solidFill>
                  <a:schemeClr val="accent1"/>
                </a:solidFill>
              </a:rPr>
              <a:t>D · Producto</a:t>
            </a:r>
            <a:endParaRPr lang="en-US" sz="1500" dirty="0"/>
          </a:p>
        </p:txBody>
      </p:sp>
      <p:sp>
        <p:nvSpPr>
          <p:cNvPr id="19" name="driver_3"/>
          <p:cNvSpPr/>
          <p:nvPr/>
        </p:nvSpPr>
        <p:spPr>
          <a:xfrm>
            <a:off x="7269480" y="4023360"/>
            <a:ext cx="2103120" cy="1600200"/>
          </a:xfrm>
          <a:prstGeom prst="roundRect">
            <a:avLst>
              <a:gd name="adj" fmla="val 4571"/>
            </a:avLst>
          </a:prstGeom>
          <a:solidFill>
            <a:schemeClr val="bg2"/>
          </a:solidFill>
          <a:ln/>
        </p:spPr>
      </p:sp>
      <p:sp>
        <p:nvSpPr>
          <p:cNvPr id="20" name="driver_txt_3"/>
          <p:cNvSpPr txBox="1"/>
          <p:nvPr/>
        </p:nvSpPr>
        <p:spPr>
          <a:xfrm>
            <a:off x="7406640" y="4114800"/>
            <a:ext cx="1828800" cy="141732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Protección</a:t>
            </a:r>
            <a:endParaRPr lang="en-US" sz="1500" dirty="0"/>
          </a:p>
          <a:p>
            <a:pPr indent="0" marL="0">
              <a:spcAft>
                <a:spcPts val="400"/>
              </a:spcAft>
              <a:buNone/>
            </a:pPr>
            <a:r>
              <a:rPr lang="en-US" sz="1300" dirty="0">
                <a:solidFill>
                  <a:srgbClr val="000000"/>
                </a:solidFill>
              </a:rPr>
              <a:t>17.1 % de churn con protección vs. 49.0 % sin ella</a:t>
            </a:r>
            <a:endParaRPr lang="en-US" sz="1500" dirty="0"/>
          </a:p>
          <a:p>
            <a:pPr indent="0" marL="0">
              <a:spcAft>
                <a:spcPts val="400"/>
              </a:spcAft>
              <a:buNone/>
            </a:pPr>
            <a:r>
              <a:rPr lang="en-US" sz="1200" b="1" dirty="0">
                <a:solidFill>
                  <a:schemeClr val="accent1"/>
                </a:solidFill>
              </a:rPr>
              <a:t>L2 · Producto</a:t>
            </a:r>
            <a:endParaRPr lang="en-US" sz="1500" dirty="0"/>
          </a:p>
        </p:txBody>
      </p:sp>
      <p:sp>
        <p:nvSpPr>
          <p:cNvPr id="21" name="driver_4"/>
          <p:cNvSpPr/>
          <p:nvPr/>
        </p:nvSpPr>
        <p:spPr>
          <a:xfrm>
            <a:off x="9509760" y="4023360"/>
            <a:ext cx="2103120" cy="1600200"/>
          </a:xfrm>
          <a:prstGeom prst="roundRect">
            <a:avLst>
              <a:gd name="adj" fmla="val 4571"/>
            </a:avLst>
          </a:prstGeom>
          <a:solidFill>
            <a:schemeClr val="bg2"/>
          </a:solidFill>
          <a:ln/>
        </p:spPr>
      </p:sp>
      <p:sp>
        <p:nvSpPr>
          <p:cNvPr id="22" name="driver_txt_4"/>
          <p:cNvSpPr txBox="1"/>
          <p:nvPr/>
        </p:nvSpPr>
        <p:spPr>
          <a:xfrm>
            <a:off x="9646920" y="4114800"/>
            <a:ext cx="1828800" cy="141732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Pago</a:t>
            </a:r>
            <a:endParaRPr lang="en-US" sz="1500" dirty="0"/>
          </a:p>
          <a:p>
            <a:pPr indent="0" marL="0">
              <a:spcAft>
                <a:spcPts val="400"/>
              </a:spcAft>
              <a:buNone/>
            </a:pPr>
            <a:r>
              <a:rPr lang="en-US" sz="1300" dirty="0">
                <a:solidFill>
                  <a:srgbClr val="000000"/>
                </a:solidFill>
              </a:rPr>
              <a:t>43.5 % automático; churn con cheque 45.3 %</a:t>
            </a:r>
            <a:endParaRPr lang="en-US" sz="1500" dirty="0"/>
          </a:p>
          <a:p>
            <a:pPr indent="0" marL="0">
              <a:spcAft>
                <a:spcPts val="400"/>
              </a:spcAft>
              <a:buNone/>
            </a:pPr>
            <a:r>
              <a:rPr lang="en-US" sz="1200" b="1" dirty="0">
                <a:solidFill>
                  <a:schemeClr val="accent1"/>
                </a:solidFill>
              </a:rPr>
              <a:t>L3 · Facturación</a:t>
            </a:r>
            <a:endParaRPr lang="en-US" sz="1500" dirty="0"/>
          </a:p>
        </p:txBody>
      </p:sp>
      <p:sp>
        <p:nvSpPr>
          <p:cNvPr id="23" name="balance"/>
          <p:cNvSpPr txBox="1"/>
          <p:nvPr/>
        </p:nvSpPr>
        <p:spPr>
          <a:xfrm>
            <a:off x="548640" y="5806440"/>
            <a:ext cx="11064240" cy="365760"/>
          </a:xfrm>
          <a:prstGeom prst="rect">
            <a:avLst/>
          </a:prstGeom>
          <a:noFill/>
          <a:ln/>
        </p:spPr>
        <p:txBody>
          <a:bodyPr wrap="square" lIns="0" tIns="0" rIns="0" bIns="0" rtlCol="0" anchor="ctr"/>
          <a:lstStyle/>
          <a:p>
            <a:pPr indent="0" marL="0">
              <a:buNone/>
            </a:pPr>
            <a:r>
              <a:rPr lang="en-US" sz="1300" i="1" dirty="0">
                <a:solidFill>
                  <a:schemeClr val="accent2"/>
                </a:solidFill>
              </a:rPr>
              <a:t>Métricas de balance: ARPU (no caer más de 3 %), costo por cliente salvado y ROI del programa · Diccionario técnico con 9 métricas (Anexo A)</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Datos confiables: tabla analítica auditada</a:t>
            </a:r>
            <a:endParaRPr lang="en-US" sz="3200" dirty="0"/>
          </a:p>
        </p:txBody>
      </p:sp>
      <p:sp>
        <p:nvSpPr>
          <p:cNvPr id="3" name="paso_1"/>
          <p:cNvSpPr/>
          <p:nvPr/>
        </p:nvSpPr>
        <p:spPr>
          <a:xfrm>
            <a:off x="548640" y="1417320"/>
            <a:ext cx="594360" cy="594360"/>
          </a:xfrm>
          <a:prstGeom prst="ellipse">
            <a:avLst/>
          </a:prstGeom>
          <a:solidFill>
            <a:schemeClr val="accent1"/>
          </a:solidFill>
          <a:ln/>
        </p:spPr>
      </p:sp>
      <p:sp>
        <p:nvSpPr>
          <p:cNvPr id="4" name="paso_1_txt"/>
          <p:cNvSpPr txBox="1"/>
          <p:nvPr/>
        </p:nvSpPr>
        <p:spPr>
          <a:xfrm>
            <a:off x="548640" y="141732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paso_txt_1"/>
          <p:cNvSpPr txBox="1"/>
          <p:nvPr/>
        </p:nvSpPr>
        <p:spPr>
          <a:xfrm>
            <a:off x="1234440" y="1325880"/>
            <a:ext cx="1508760" cy="777240"/>
          </a:xfrm>
          <a:prstGeom prst="rect">
            <a:avLst/>
          </a:prstGeom>
          <a:noFill/>
          <a:ln/>
        </p:spPr>
        <p:txBody>
          <a:bodyPr wrap="square" lIns="0" tIns="0" rIns="0" bIns="0" rtlCol="0" anchor="ctr"/>
          <a:lstStyle/>
          <a:p>
            <a:pPr indent="0" marL="0">
              <a:buNone/>
            </a:pPr>
            <a:r>
              <a:rPr lang="en-US" sz="1500" b="1" dirty="0">
                <a:solidFill>
                  <a:schemeClr val="tx2"/>
                </a:solidFill>
              </a:rPr>
              <a:t>CSV crudo</a:t>
            </a:r>
            <a:endParaRPr lang="en-US" sz="1500" dirty="0"/>
          </a:p>
          <a:p>
            <a:pPr indent="0" marL="0">
              <a:buNone/>
            </a:pPr>
            <a:r>
              <a:rPr lang="en-US" sz="1300" dirty="0">
                <a:solidFill>
                  <a:srgbClr val="000000"/>
                </a:solidFill>
              </a:rPr>
              <a:t>7,043 × 21</a:t>
            </a:r>
            <a:endParaRPr lang="en-US" sz="1500" dirty="0"/>
          </a:p>
        </p:txBody>
      </p:sp>
      <p:sp>
        <p:nvSpPr>
          <p:cNvPr id="6" name="paso_2"/>
          <p:cNvSpPr/>
          <p:nvPr/>
        </p:nvSpPr>
        <p:spPr>
          <a:xfrm>
            <a:off x="2834640" y="1417320"/>
            <a:ext cx="594360" cy="594360"/>
          </a:xfrm>
          <a:prstGeom prst="ellipse">
            <a:avLst/>
          </a:prstGeom>
          <a:solidFill>
            <a:schemeClr val="accent1"/>
          </a:solidFill>
          <a:ln/>
        </p:spPr>
      </p:sp>
      <p:sp>
        <p:nvSpPr>
          <p:cNvPr id="7" name="paso_2_txt"/>
          <p:cNvSpPr txBox="1"/>
          <p:nvPr/>
        </p:nvSpPr>
        <p:spPr>
          <a:xfrm>
            <a:off x="2834640" y="141732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paso_txt_2"/>
          <p:cNvSpPr txBox="1"/>
          <p:nvPr/>
        </p:nvSpPr>
        <p:spPr>
          <a:xfrm>
            <a:off x="3520440" y="1325880"/>
            <a:ext cx="1508760" cy="777240"/>
          </a:xfrm>
          <a:prstGeom prst="rect">
            <a:avLst/>
          </a:prstGeom>
          <a:noFill/>
          <a:ln/>
        </p:spPr>
        <p:txBody>
          <a:bodyPr wrap="square" lIns="0" tIns="0" rIns="0" bIns="0" rtlCol="0" anchor="ctr"/>
          <a:lstStyle/>
          <a:p>
            <a:pPr indent="0" marL="0">
              <a:buNone/>
            </a:pPr>
            <a:r>
              <a:rPr lang="en-US" sz="1500" b="1" dirty="0">
                <a:solidFill>
                  <a:schemeClr val="tx2"/>
                </a:solidFill>
              </a:rPr>
              <a:t>Auditoría</a:t>
            </a:r>
            <a:endParaRPr lang="en-US" sz="1500" dirty="0"/>
          </a:p>
          <a:p>
            <a:pPr indent="0" marL="0">
              <a:buNone/>
            </a:pPr>
            <a:r>
              <a:rPr lang="en-US" sz="1300" dirty="0">
                <a:solidFill>
                  <a:srgbClr val="000000"/>
                </a:solidFill>
              </a:rPr>
              <a:t>11 revisiones</a:t>
            </a:r>
            <a:endParaRPr lang="en-US" sz="1500" dirty="0"/>
          </a:p>
        </p:txBody>
      </p:sp>
      <p:sp>
        <p:nvSpPr>
          <p:cNvPr id="9" name="paso_3"/>
          <p:cNvSpPr/>
          <p:nvPr/>
        </p:nvSpPr>
        <p:spPr>
          <a:xfrm>
            <a:off x="5120640" y="1417320"/>
            <a:ext cx="594360" cy="594360"/>
          </a:xfrm>
          <a:prstGeom prst="ellipse">
            <a:avLst/>
          </a:prstGeom>
          <a:solidFill>
            <a:schemeClr val="accent1"/>
          </a:solidFill>
          <a:ln/>
        </p:spPr>
      </p:sp>
      <p:sp>
        <p:nvSpPr>
          <p:cNvPr id="10" name="paso_3_txt"/>
          <p:cNvSpPr txBox="1"/>
          <p:nvPr/>
        </p:nvSpPr>
        <p:spPr>
          <a:xfrm>
            <a:off x="5120640" y="141732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paso_txt_3"/>
          <p:cNvSpPr txBox="1"/>
          <p:nvPr/>
        </p:nvSpPr>
        <p:spPr>
          <a:xfrm>
            <a:off x="5806440" y="1325880"/>
            <a:ext cx="1508760" cy="777240"/>
          </a:xfrm>
          <a:prstGeom prst="rect">
            <a:avLst/>
          </a:prstGeom>
          <a:noFill/>
          <a:ln/>
        </p:spPr>
        <p:txBody>
          <a:bodyPr wrap="square" lIns="0" tIns="0" rIns="0" bIns="0" rtlCol="0" anchor="ctr"/>
          <a:lstStyle/>
          <a:p>
            <a:pPr indent="0" marL="0">
              <a:buNone/>
            </a:pPr>
            <a:r>
              <a:rPr lang="en-US" sz="1500" b="1" dirty="0">
                <a:solidFill>
                  <a:schemeClr val="tx2"/>
                </a:solidFill>
              </a:rPr>
              <a:t>Limpieza</a:t>
            </a:r>
            <a:endParaRPr lang="en-US" sz="1500" dirty="0"/>
          </a:p>
          <a:p>
            <a:pPr indent="0" marL="0">
              <a:buNone/>
            </a:pPr>
            <a:r>
              <a:rPr lang="en-US" sz="1300" dirty="0">
                <a:solidFill>
                  <a:srgbClr val="000000"/>
                </a:solidFill>
              </a:rPr>
              <a:t>10 reglas</a:t>
            </a:r>
            <a:endParaRPr lang="en-US" sz="1500" dirty="0"/>
          </a:p>
        </p:txBody>
      </p:sp>
      <p:sp>
        <p:nvSpPr>
          <p:cNvPr id="12" name="paso_4"/>
          <p:cNvSpPr/>
          <p:nvPr/>
        </p:nvSpPr>
        <p:spPr>
          <a:xfrm>
            <a:off x="7406640" y="1417320"/>
            <a:ext cx="594360" cy="594360"/>
          </a:xfrm>
          <a:prstGeom prst="ellipse">
            <a:avLst/>
          </a:prstGeom>
          <a:solidFill>
            <a:schemeClr val="accent1"/>
          </a:solidFill>
          <a:ln/>
        </p:spPr>
      </p:sp>
      <p:sp>
        <p:nvSpPr>
          <p:cNvPr id="13" name="paso_4_txt"/>
          <p:cNvSpPr txBox="1"/>
          <p:nvPr/>
        </p:nvSpPr>
        <p:spPr>
          <a:xfrm>
            <a:off x="7406640" y="141732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paso_txt_4"/>
          <p:cNvSpPr txBox="1"/>
          <p:nvPr/>
        </p:nvSpPr>
        <p:spPr>
          <a:xfrm>
            <a:off x="8092440" y="1325880"/>
            <a:ext cx="1508760" cy="777240"/>
          </a:xfrm>
          <a:prstGeom prst="rect">
            <a:avLst/>
          </a:prstGeom>
          <a:noFill/>
          <a:ln/>
        </p:spPr>
        <p:txBody>
          <a:bodyPr wrap="square" lIns="0" tIns="0" rIns="0" bIns="0" rtlCol="0" anchor="ctr"/>
          <a:lstStyle/>
          <a:p>
            <a:pPr indent="0" marL="0">
              <a:buNone/>
            </a:pPr>
            <a:r>
              <a:rPr lang="en-US" sz="1500" b="1" dirty="0">
                <a:solidFill>
                  <a:schemeClr val="tx2"/>
                </a:solidFill>
              </a:rPr>
              <a:t>df_analitico</a:t>
            </a:r>
            <a:endParaRPr lang="en-US" sz="1500" dirty="0"/>
          </a:p>
          <a:p>
            <a:pPr indent="0" marL="0">
              <a:buNone/>
            </a:pPr>
            <a:r>
              <a:rPr lang="en-US" sz="1300" dirty="0">
                <a:solidFill>
                  <a:srgbClr val="000000"/>
                </a:solidFill>
              </a:rPr>
              <a:t>cliente-corte</a:t>
            </a:r>
            <a:endParaRPr lang="en-US" sz="1500" dirty="0"/>
          </a:p>
        </p:txBody>
      </p:sp>
      <p:sp>
        <p:nvSpPr>
          <p:cNvPr id="15" name="paso_5"/>
          <p:cNvSpPr/>
          <p:nvPr/>
        </p:nvSpPr>
        <p:spPr>
          <a:xfrm>
            <a:off x="9692640" y="1417320"/>
            <a:ext cx="594360" cy="594360"/>
          </a:xfrm>
          <a:prstGeom prst="ellipse">
            <a:avLst/>
          </a:prstGeom>
          <a:solidFill>
            <a:schemeClr val="accent1"/>
          </a:solidFill>
          <a:ln/>
        </p:spPr>
      </p:sp>
      <p:sp>
        <p:nvSpPr>
          <p:cNvPr id="16" name="paso_5_txt"/>
          <p:cNvSpPr txBox="1"/>
          <p:nvPr/>
        </p:nvSpPr>
        <p:spPr>
          <a:xfrm>
            <a:off x="9692640" y="1417320"/>
            <a:ext cx="594360" cy="59436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paso_txt_5"/>
          <p:cNvSpPr txBox="1"/>
          <p:nvPr/>
        </p:nvSpPr>
        <p:spPr>
          <a:xfrm>
            <a:off x="10378440" y="1325880"/>
            <a:ext cx="1508760" cy="777240"/>
          </a:xfrm>
          <a:prstGeom prst="rect">
            <a:avLst/>
          </a:prstGeom>
          <a:noFill/>
          <a:ln/>
        </p:spPr>
        <p:txBody>
          <a:bodyPr wrap="square" lIns="0" tIns="0" rIns="0" bIns="0" rtlCol="0" anchor="ctr"/>
          <a:lstStyle/>
          <a:p>
            <a:pPr indent="0" marL="0">
              <a:buNone/>
            </a:pPr>
            <a:r>
              <a:rPr lang="en-US" sz="1500" b="1" dirty="0">
                <a:solidFill>
                  <a:schemeClr val="tx2"/>
                </a:solidFill>
              </a:rPr>
              <a:t>Modelo estrella</a:t>
            </a:r>
            <a:endParaRPr lang="en-US" sz="1500" dirty="0"/>
          </a:p>
          <a:p>
            <a:pPr indent="0" marL="0">
              <a:buNone/>
            </a:pPr>
            <a:r>
              <a:rPr lang="en-US" sz="1300" dirty="0">
                <a:solidFill>
                  <a:srgbClr val="000000"/>
                </a:solidFill>
              </a:rPr>
              <a:t>Power BI</a:t>
            </a:r>
            <a:endParaRPr lang="en-US" sz="1500" dirty="0"/>
          </a:p>
        </p:txBody>
      </p:sp>
      <p:sp>
        <p:nvSpPr>
          <p:cNvPr id="18" name="hallazgo_0"/>
          <p:cNvSpPr/>
          <p:nvPr/>
        </p:nvSpPr>
        <p:spPr>
          <a:xfrm>
            <a:off x="548640" y="2514600"/>
            <a:ext cx="3566160" cy="1783080"/>
          </a:xfrm>
          <a:prstGeom prst="roundRect">
            <a:avLst>
              <a:gd name="adj" fmla="val 4103"/>
            </a:avLst>
          </a:prstGeom>
          <a:solidFill>
            <a:schemeClr val="bg2"/>
          </a:solidFill>
          <a:ln/>
        </p:spPr>
      </p:sp>
      <p:sp>
        <p:nvSpPr>
          <p:cNvPr id="19" name="hallazgo_txt_0"/>
          <p:cNvSpPr txBox="1"/>
          <p:nvPr/>
        </p:nvSpPr>
        <p:spPr>
          <a:xfrm>
            <a:off x="777240" y="2651760"/>
            <a:ext cx="3108960" cy="155448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11 TotalCharges vacíos</a:t>
            </a:r>
            <a:endParaRPr lang="en-US" sz="1700" dirty="0"/>
          </a:p>
          <a:p>
            <a:pPr indent="0" marL="0">
              <a:spcAft>
                <a:spcPts val="600"/>
              </a:spcAft>
              <a:buNone/>
            </a:pPr>
            <a:r>
              <a:rPr lang="en-US" sz="1400" dirty="0">
                <a:solidFill>
                  <a:srgbClr val="000000"/>
                </a:solidFill>
              </a:rPr>
              <a:t>Todos con antigüedad 0, es decir, clientes aún sin facturar. Se imputa 0 con bandera; no se eliminan.</a:t>
            </a:r>
            <a:endParaRPr lang="en-US" sz="1700" dirty="0"/>
          </a:p>
        </p:txBody>
      </p:sp>
      <p:sp>
        <p:nvSpPr>
          <p:cNvPr id="20" name="hallazgo_1"/>
          <p:cNvSpPr/>
          <p:nvPr/>
        </p:nvSpPr>
        <p:spPr>
          <a:xfrm>
            <a:off x="4297680" y="2514600"/>
            <a:ext cx="3566160" cy="1783080"/>
          </a:xfrm>
          <a:prstGeom prst="roundRect">
            <a:avLst>
              <a:gd name="adj" fmla="val 4103"/>
            </a:avLst>
          </a:prstGeom>
          <a:solidFill>
            <a:schemeClr val="bg2"/>
          </a:solidFill>
          <a:ln/>
        </p:spPr>
      </p:sp>
      <p:sp>
        <p:nvSpPr>
          <p:cNvPr id="21" name="hallazgo_txt_1"/>
          <p:cNvSpPr txBox="1"/>
          <p:nvPr/>
        </p:nvSpPr>
        <p:spPr>
          <a:xfrm>
            <a:off x="4526280" y="2651760"/>
            <a:ext cx="3108960" cy="1554480"/>
          </a:xfrm>
          <a:prstGeom prst="rect">
            <a:avLst/>
          </a:prstGeom>
          <a:noFill/>
          <a:ln/>
        </p:spPr>
        <p:txBody>
          <a:bodyPr wrap="square" lIns="0" tIns="0" rIns="0" bIns="0" rtlCol="0" anchor="t"/>
          <a:lstStyle/>
          <a:p>
            <a:pPr indent="0" marL="0">
              <a:spcAft>
                <a:spcPts val="600"/>
              </a:spcAft>
              <a:buNone/>
            </a:pPr>
            <a:r>
              <a:rPr lang="en-US" sz="1700" b="1" dirty="0">
                <a:solidFill>
                  <a:schemeClr val="tx2"/>
                </a:solidFill>
              </a:rPr>
              <a:t>Sin fecha calendario</a:t>
            </a:r>
            <a:endParaRPr lang="en-US" sz="1700" dirty="0"/>
          </a:p>
          <a:p>
            <a:pPr indent="0" marL="0">
              <a:spcAft>
                <a:spcPts val="600"/>
              </a:spcAft>
              <a:buNone/>
            </a:pPr>
            <a:r>
              <a:rPr lang="en-US" sz="1400" dirty="0">
                <a:solidFill>
                  <a:srgbClr val="000000"/>
                </a:solidFill>
              </a:rPr>
              <a:t>El eje temporal es el ciclo de vida (meses de antigüedad), con cohortes por antigüedad.</a:t>
            </a:r>
            <a:endParaRPr lang="en-US" sz="1700" dirty="0"/>
          </a:p>
        </p:txBody>
      </p:sp>
      <p:sp>
        <p:nvSpPr>
          <p:cNvPr id="22" name="hallazgo_2"/>
          <p:cNvSpPr/>
          <p:nvPr/>
        </p:nvSpPr>
        <p:spPr>
          <a:xfrm>
            <a:off x="8046720" y="2514600"/>
            <a:ext cx="3566160" cy="1783080"/>
          </a:xfrm>
          <a:prstGeom prst="roundRect">
            <a:avLst>
              <a:gd name="adj" fmla="val 4103"/>
            </a:avLst>
          </a:prstGeom>
          <a:solidFill>
            <a:schemeClr val="bg2"/>
          </a:solidFill>
          <a:ln/>
        </p:spPr>
      </p:sp>
      <p:sp>
        <p:nvSpPr>
          <p:cNvPr id="23" name="hallazgo_txt_2"/>
          <p:cNvSpPr txBox="1"/>
          <p:nvPr/>
        </p:nvSpPr>
        <p:spPr>
          <a:xfrm>
            <a:off x="8275320" y="2651760"/>
            <a:ext cx="3108960" cy="1554480"/>
          </a:xfrm>
          <a:prstGeom prst="rect">
            <a:avLst/>
          </a:prstGeom>
          <a:noFill/>
          <a:ln/>
        </p:spPr>
        <p:txBody>
          <a:bodyPr wrap="square" lIns="0" tIns="0" rIns="0" bIns="0" rtlCol="0" anchor="t"/>
          <a:lstStyle/>
          <a:p>
            <a:pPr indent="0" marL="0">
              <a:spcAft>
                <a:spcPts val="600"/>
              </a:spcAft>
              <a:buNone/>
            </a:pPr>
            <a:r>
              <a:rPr lang="en-US" sz="1700" b="1" dirty="0">
                <a:solidFill>
                  <a:schemeClr val="accent2"/>
                </a:solidFill>
              </a:rPr>
              <a:t>26.5 % no es churn mensual</a:t>
            </a:r>
            <a:endParaRPr lang="en-US" sz="1700" dirty="0"/>
          </a:p>
          <a:p>
            <a:pPr indent="0" marL="0">
              <a:spcAft>
                <a:spcPts val="600"/>
              </a:spcAft>
              <a:buNone/>
            </a:pPr>
            <a:r>
              <a:rPr lang="en-US" sz="1400" dirty="0">
                <a:solidFill>
                  <a:srgbClr val="000000"/>
                </a:solidFill>
              </a:rPr>
              <a:t>La antigüedad implica ≈ 3 % mensual: se reporta como tasa del período y no se anualiza.</a:t>
            </a:r>
            <a:endParaRPr lang="en-US" sz="1700" dirty="0"/>
          </a:p>
        </p:txBody>
      </p:sp>
      <p:sp>
        <p:nvSpPr>
          <p:cNvPr id="24" name="validaciones"/>
          <p:cNvSpPr/>
          <p:nvPr/>
        </p:nvSpPr>
        <p:spPr>
          <a:xfrm>
            <a:off x="548640" y="4526280"/>
            <a:ext cx="11064240" cy="1051560"/>
          </a:xfrm>
          <a:prstGeom prst="roundRect">
            <a:avLst>
              <a:gd name="adj" fmla="val 6957"/>
            </a:avLst>
          </a:prstGeom>
          <a:solidFill>
            <a:schemeClr val="tx2"/>
          </a:solidFill>
          <a:ln/>
        </p:spPr>
      </p:sp>
      <p:sp>
        <p:nvSpPr>
          <p:cNvPr id="25" name="validaciones_txt"/>
          <p:cNvSpPr txBox="1"/>
          <p:nvPr/>
        </p:nvSpPr>
        <p:spPr>
          <a:xfrm>
            <a:off x="822960" y="4572000"/>
            <a:ext cx="10515600" cy="960120"/>
          </a:xfrm>
          <a:prstGeom prst="rect">
            <a:avLst/>
          </a:prstGeom>
          <a:noFill/>
          <a:ln/>
        </p:spPr>
        <p:txBody>
          <a:bodyPr wrap="square" lIns="0" tIns="0" rIns="0" bIns="0" rtlCol="0" anchor="ctr"/>
          <a:lstStyle/>
          <a:p>
            <a:pPr indent="0" marL="0">
              <a:buNone/>
            </a:pPr>
            <a:r>
              <a:rPr lang="en-US" sz="1500" dirty="0">
                <a:solidFill>
                  <a:schemeClr val="bg1"/>
                </a:solidFill>
              </a:rPr>
              <a:t>Validaciones automáticas (assert): llave única · sin nulos · MRR (USD 456,116.60) y churners (1,869) reconciliados con el crudo · tasas en [0, 1] · integridad referencial del modelo estrella</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El churn se concentra y ocurre temprano</a:t>
            </a:r>
            <a:endParaRPr lang="en-US" sz="3200" dirty="0"/>
          </a:p>
        </p:txBody>
      </p:sp>
      <p:graphicFrame>
        <p:nvGraphicFramePr>
          <p:cNvPr id="3" name="graf_mrr_segmento" descr=""/>
          <p:cNvGraphicFramePr/>
          <p:nvPr/>
        </p:nvGraphicFramePr>
        <p:xfrm>
          <a:off x="548640" y="1280160"/>
          <a:ext cx="566928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graf_antiguedad" descr=""/>
          <p:cNvGraphicFramePr/>
          <p:nvPr/>
        </p:nvGraphicFramePr>
        <p:xfrm>
          <a:off x="6400800" y="1280160"/>
          <a:ext cx="5212080" cy="3931920"/>
        </p:xfrm>
        <a:graphic xmlns:a="http://schemas.openxmlformats.org/drawingml/2006/main">
          <a:graphicData uri="http://schemas.openxmlformats.org/drawingml/2006/chart">
            <c:chart xmlns:c="http://schemas.openxmlformats.org/drawingml/2006/chart" r:id="rId2"/>
          </a:graphicData>
        </a:graphic>
      </p:graphicFrame>
      <p:sp>
        <p:nvSpPr>
          <p:cNvPr id="5" name="drivers_or"/>
          <p:cNvSpPr txBox="1"/>
          <p:nvPr/>
        </p:nvSpPr>
        <p:spPr>
          <a:xfrm>
            <a:off x="548640" y="5440680"/>
            <a:ext cx="11064240" cy="548640"/>
          </a:xfrm>
          <a:prstGeom prst="rect">
            <a:avLst/>
          </a:prstGeom>
          <a:noFill/>
          <a:ln/>
        </p:spPr>
        <p:txBody>
          <a:bodyPr wrap="square" lIns="0" tIns="0" rIns="0" bIns="0" rtlCol="0" anchor="ctr"/>
          <a:lstStyle/>
          <a:p>
            <a:pPr indent="0" marL="0">
              <a:buNone/>
            </a:pPr>
            <a:r>
              <a:rPr lang="en-US" sz="1400" b="1" dirty="0">
                <a:solidFill>
                  <a:schemeClr val="tx2"/>
                </a:solidFill>
              </a:rPr>
              <a:t>Drivers ajustados (modelo logístico, odds ratio): </a:t>
            </a:r>
            <a:pPr indent="0" marL="0">
              <a:buNone/>
            </a:pPr>
            <a:r>
              <a:rPr lang="en-US" sz="1400" dirty="0">
                <a:solidFill>
                  <a:schemeClr val="tx1"/>
                </a:solidFill>
              </a:rPr>
              <a:t>fibra 2.1 · cheque electrónico 1.4 · seguridad online 0.70 · soporte técnico 0.72 · contrato dos años 0.18. Asociaciones, no causalidad.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Focalizar paga; el descuento masivo no</a:t>
            </a:r>
            <a:endParaRPr lang="en-US" sz="3200" dirty="0"/>
          </a:p>
        </p:txBody>
      </p:sp>
      <p:graphicFrame>
        <p:nvGraphicFramePr>
          <p:cNvPr id="3" name="graf_roi" descr=""/>
          <p:cNvGraphicFramePr/>
          <p:nvPr/>
        </p:nvGraphicFramePr>
        <p:xfrm>
          <a:off x="548640" y="1280160"/>
          <a:ext cx="6583680" cy="4663440"/>
        </p:xfrm>
        <a:graphic xmlns:a="http://schemas.openxmlformats.org/drawingml/2006/main">
          <a:graphicData uri="http://schemas.openxmlformats.org/drawingml/2006/chart">
            <c:chart xmlns:c="http://schemas.openxmlformats.org/drawingml/2006/chart" r:id="rId1"/>
          </a:graphicData>
        </a:graphic>
      </p:graphicFrame>
      <p:sp>
        <p:nvSpPr>
          <p:cNvPr id="4" name="callout_0"/>
          <p:cNvSpPr/>
          <p:nvPr/>
        </p:nvSpPr>
        <p:spPr>
          <a:xfrm>
            <a:off x="7406640" y="1325880"/>
            <a:ext cx="4206240" cy="1051560"/>
          </a:xfrm>
          <a:prstGeom prst="roundRect">
            <a:avLst>
              <a:gd name="adj" fmla="val 6957"/>
            </a:avLst>
          </a:prstGeom>
          <a:solidFill>
            <a:schemeClr val="bg2"/>
          </a:solidFill>
          <a:ln/>
        </p:spPr>
      </p:sp>
      <p:sp>
        <p:nvSpPr>
          <p:cNvPr id="5" name="callout_txt_0"/>
          <p:cNvSpPr txBox="1"/>
          <p:nvPr/>
        </p:nvSpPr>
        <p:spPr>
          <a:xfrm>
            <a:off x="7589520" y="1399032"/>
            <a:ext cx="3886200" cy="9144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820 clientes</a:t>
            </a:r>
            <a:endParaRPr lang="en-US" sz="1800" dirty="0"/>
          </a:p>
          <a:p>
            <a:pPr indent="0" marL="0">
              <a:buNone/>
            </a:pPr>
            <a:r>
              <a:rPr lang="en-US" sz="1300" dirty="0">
                <a:solidFill>
                  <a:srgbClr val="000000"/>
                </a:solidFill>
              </a:rPr>
              <a:t>de riesgo alto (16 % de los activos) concentran el 53 % del MRR en riesgo esperado</a:t>
            </a:r>
            <a:endParaRPr lang="en-US" sz="1800" dirty="0"/>
          </a:p>
        </p:txBody>
      </p:sp>
      <p:sp>
        <p:nvSpPr>
          <p:cNvPr id="6" name="callout_1"/>
          <p:cNvSpPr/>
          <p:nvPr/>
        </p:nvSpPr>
        <p:spPr>
          <a:xfrm>
            <a:off x="7406640" y="2496312"/>
            <a:ext cx="4206240" cy="1051560"/>
          </a:xfrm>
          <a:prstGeom prst="roundRect">
            <a:avLst>
              <a:gd name="adj" fmla="val 6957"/>
            </a:avLst>
          </a:prstGeom>
          <a:solidFill>
            <a:schemeClr val="bg2"/>
          </a:solidFill>
          <a:ln/>
        </p:spPr>
      </p:sp>
      <p:sp>
        <p:nvSpPr>
          <p:cNvPr id="7" name="callout_txt_1"/>
          <p:cNvSpPr txBox="1"/>
          <p:nvPr/>
        </p:nvSpPr>
        <p:spPr>
          <a:xfrm>
            <a:off x="7589520" y="2569464"/>
            <a:ext cx="3886200" cy="914400"/>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+179 % ROI base</a:t>
            </a:r>
            <a:endParaRPr lang="en-US" sz="1800" dirty="0"/>
          </a:p>
          <a:p>
            <a:pPr indent="0" marL="0">
              <a:buNone/>
            </a:pPr>
            <a:r>
              <a:rPr lang="en-US" sz="1300" dirty="0">
                <a:solidFill>
                  <a:srgbClr val="000000"/>
                </a:solidFill>
              </a:rPr>
              <a:t>USD 184 por cliente salvado, frente a USD 677 del descuento masivo</a:t>
            </a:r>
            <a:endParaRPr lang="en-US" sz="1800" dirty="0"/>
          </a:p>
        </p:txBody>
      </p:sp>
      <p:sp>
        <p:nvSpPr>
          <p:cNvPr id="8" name="callout_2"/>
          <p:cNvSpPr/>
          <p:nvPr/>
        </p:nvSpPr>
        <p:spPr>
          <a:xfrm>
            <a:off x="7406640" y="3666744"/>
            <a:ext cx="4206240" cy="1051560"/>
          </a:xfrm>
          <a:prstGeom prst="roundRect">
            <a:avLst>
              <a:gd name="adj" fmla="val 6957"/>
            </a:avLst>
          </a:prstGeom>
          <a:solidFill>
            <a:schemeClr val="bg2"/>
          </a:solidFill>
          <a:ln/>
        </p:spPr>
      </p:sp>
      <p:sp>
        <p:nvSpPr>
          <p:cNvPr id="9" name="callout_txt_2"/>
          <p:cNvSpPr txBox="1"/>
          <p:nvPr/>
        </p:nvSpPr>
        <p:spPr>
          <a:xfrm>
            <a:off x="7589520" y="3739896"/>
            <a:ext cx="3886200" cy="91440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 5 % de reducción</a:t>
            </a:r>
            <a:endParaRPr lang="en-US" sz="1800" dirty="0"/>
          </a:p>
          <a:p>
            <a:pPr indent="0" marL="0">
              <a:buNone/>
            </a:pPr>
            <a:r>
              <a:rPr lang="en-US" sz="1300" dirty="0">
                <a:solidFill>
                  <a:srgbClr val="000000"/>
                </a:solidFill>
              </a:rPr>
              <a:t>atribuible basta para el equilibrio a 12 meses: es la meta del piloto</a:t>
            </a:r>
            <a:endParaRPr lang="en-US" sz="1800" dirty="0"/>
          </a:p>
        </p:txBody>
      </p:sp>
      <p:sp>
        <p:nvSpPr>
          <p:cNvPr id="10" name="callout_3"/>
          <p:cNvSpPr/>
          <p:nvPr/>
        </p:nvSpPr>
        <p:spPr>
          <a:xfrm>
            <a:off x="7406640" y="4837176"/>
            <a:ext cx="4206240" cy="1051560"/>
          </a:xfrm>
          <a:prstGeom prst="roundRect">
            <a:avLst>
              <a:gd name="adj" fmla="val 6957"/>
            </a:avLst>
          </a:prstGeom>
          <a:solidFill>
            <a:schemeClr val="bg2"/>
          </a:solidFill>
          <a:ln/>
        </p:spPr>
      </p:sp>
      <p:sp>
        <p:nvSpPr>
          <p:cNvPr id="11" name="callout_txt_3"/>
          <p:cNvSpPr txBox="1"/>
          <p:nvPr/>
        </p:nvSpPr>
        <p:spPr>
          <a:xfrm>
            <a:off x="7589520" y="4910328"/>
            <a:ext cx="3886200" cy="914400"/>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Conservador −48 %</a:t>
            </a:r>
            <a:endParaRPr lang="en-US" sz="1800" dirty="0"/>
          </a:p>
          <a:p>
            <a:pPr indent="0" marL="0">
              <a:buNone/>
            </a:pPr>
            <a:r>
              <a:rPr lang="en-US" sz="1300" dirty="0">
                <a:solidFill>
                  <a:srgbClr val="000000"/>
                </a:solidFill>
              </a:rPr>
              <a:t>por eso, piloto A/B: 410 clientes por brazo y acumulación de cohortes mensuales</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2"/>
                </a:solidFill>
              </a:rPr>
              <a:t>Dashboard: monitorear y decidir cada mes</a:t>
            </a:r>
            <a:endParaRPr lang="en-US" sz="3200" dirty="0"/>
          </a:p>
        </p:txBody>
      </p:sp>
      <p:pic>
        <p:nvPicPr>
          <p:cNvPr id="3" name="captura_dashboard" descr="Página 3 del dashboard de Power BI: monitoreo y acción">    </p:cNvPr>
          <p:cNvPicPr>
            <a:picLocks noChangeAspect="1"/>
          </p:cNvPicPr>
          <p:nvPr/>
        </p:nvPicPr>
        <p:blipFill>
          <a:blip r:embed="rId1"/>
          <a:stretch>
            <a:fillRect/>
          </a:stretch>
        </p:blipFill>
        <p:spPr>
          <a:xfrm>
            <a:off x="548640" y="1325880"/>
            <a:ext cx="7315200" cy="4123944"/>
          </a:xfrm>
          <a:prstGeom prst="rect">
            <a:avLst/>
          </a:prstGeom>
        </p:spPr>
      </p:pic>
      <p:sp>
        <p:nvSpPr>
          <p:cNvPr id="4" name="pagina_1"/>
          <p:cNvSpPr/>
          <p:nvPr/>
        </p:nvSpPr>
        <p:spPr>
          <a:xfrm>
            <a:off x="8183880" y="1463040"/>
            <a:ext cx="548640" cy="548640"/>
          </a:xfrm>
          <a:prstGeom prst="ellipse">
            <a:avLst/>
          </a:prstGeom>
          <a:solidFill>
            <a:schemeClr val="accent1"/>
          </a:solidFill>
          <a:ln/>
        </p:spPr>
      </p:sp>
      <p:sp>
        <p:nvSpPr>
          <p:cNvPr id="5" name="pagina_1_txt"/>
          <p:cNvSpPr txBox="1"/>
          <p:nvPr/>
        </p:nvSpPr>
        <p:spPr>
          <a:xfrm>
            <a:off x="8183880" y="1463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pagina_txt_1"/>
          <p:cNvSpPr txBox="1"/>
          <p:nvPr/>
        </p:nvSpPr>
        <p:spPr>
          <a:xfrm>
            <a:off x="8869680" y="1371600"/>
            <a:ext cx="2743200" cy="777240"/>
          </a:xfrm>
          <a:prstGeom prst="rect">
            <a:avLst/>
          </a:prstGeom>
          <a:noFill/>
          <a:ln/>
        </p:spPr>
        <p:txBody>
          <a:bodyPr wrap="square" lIns="0" tIns="0" rIns="0" bIns="0" rtlCol="0" anchor="ctr"/>
          <a:lstStyle/>
          <a:p>
            <a:pPr indent="0" marL="0">
              <a:buNone/>
            </a:pPr>
            <a:r>
              <a:rPr lang="en-US" sz="1500" b="1" dirty="0">
                <a:solidFill>
                  <a:schemeClr val="tx2"/>
                </a:solidFill>
              </a:rPr>
              <a:t>Resumen ejecutivo</a:t>
            </a:r>
            <a:endParaRPr lang="en-US" sz="1500" dirty="0"/>
          </a:p>
          <a:p>
            <a:pPr indent="0" marL="0">
              <a:buNone/>
            </a:pPr>
            <a:r>
              <a:rPr lang="en-US" sz="1300" dirty="0">
                <a:solidFill>
                  <a:srgbClr val="000000"/>
                </a:solidFill>
              </a:rPr>
              <a:t>6 KPIs con semáforo, ciclo de vida y foco</a:t>
            </a:r>
            <a:endParaRPr lang="en-US" sz="1500" dirty="0"/>
          </a:p>
        </p:txBody>
      </p:sp>
      <p:sp>
        <p:nvSpPr>
          <p:cNvPr id="7" name="pagina_2"/>
          <p:cNvSpPr/>
          <p:nvPr/>
        </p:nvSpPr>
        <p:spPr>
          <a:xfrm>
            <a:off x="8183880" y="2487168"/>
            <a:ext cx="548640" cy="548640"/>
          </a:xfrm>
          <a:prstGeom prst="ellipse">
            <a:avLst/>
          </a:prstGeom>
          <a:solidFill>
            <a:schemeClr val="accent1"/>
          </a:solidFill>
          <a:ln/>
        </p:spPr>
      </p:sp>
      <p:sp>
        <p:nvSpPr>
          <p:cNvPr id="8" name="pagina_2_txt"/>
          <p:cNvSpPr txBox="1"/>
          <p:nvPr/>
        </p:nvSpPr>
        <p:spPr>
          <a:xfrm>
            <a:off x="8183880" y="248716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pagina_txt_2"/>
          <p:cNvSpPr txBox="1"/>
          <p:nvPr/>
        </p:nvSpPr>
        <p:spPr>
          <a:xfrm>
            <a:off x="8869680" y="2395728"/>
            <a:ext cx="2743200" cy="777240"/>
          </a:xfrm>
          <a:prstGeom prst="rect">
            <a:avLst/>
          </a:prstGeom>
          <a:noFill/>
          <a:ln/>
        </p:spPr>
        <p:txBody>
          <a:bodyPr wrap="square" lIns="0" tIns="0" rIns="0" bIns="0" rtlCol="0" anchor="ctr"/>
          <a:lstStyle/>
          <a:p>
            <a:pPr indent="0" marL="0">
              <a:buNone/>
            </a:pPr>
            <a:r>
              <a:rPr lang="en-US" sz="1500" b="1" dirty="0">
                <a:solidFill>
                  <a:schemeClr val="tx2"/>
                </a:solidFill>
              </a:rPr>
              <a:t>Diagnóstico</a:t>
            </a:r>
            <a:endParaRPr lang="en-US" sz="1500" dirty="0"/>
          </a:p>
          <a:p>
            <a:pPr indent="0" marL="0">
              <a:buNone/>
            </a:pPr>
            <a:r>
              <a:rPr lang="en-US" sz="1300" dirty="0">
                <a:solidFill>
                  <a:srgbClr val="000000"/>
                </a:solidFill>
              </a:rPr>
              <a:t>heatmap, drivers, odds ratios y segmentos</a:t>
            </a:r>
            <a:endParaRPr lang="en-US" sz="1500" dirty="0"/>
          </a:p>
        </p:txBody>
      </p:sp>
      <p:sp>
        <p:nvSpPr>
          <p:cNvPr id="10" name="pagina_3"/>
          <p:cNvSpPr/>
          <p:nvPr/>
        </p:nvSpPr>
        <p:spPr>
          <a:xfrm>
            <a:off x="8183880" y="3511296"/>
            <a:ext cx="548640" cy="548640"/>
          </a:xfrm>
          <a:prstGeom prst="ellipse">
            <a:avLst/>
          </a:prstGeom>
          <a:solidFill>
            <a:schemeClr val="accent2"/>
          </a:solidFill>
          <a:ln/>
        </p:spPr>
      </p:sp>
      <p:sp>
        <p:nvSpPr>
          <p:cNvPr id="11" name="pagina_3_txt"/>
          <p:cNvSpPr txBox="1"/>
          <p:nvPr/>
        </p:nvSpPr>
        <p:spPr>
          <a:xfrm>
            <a:off x="8183880" y="3511296"/>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pagina_txt_3"/>
          <p:cNvSpPr txBox="1"/>
          <p:nvPr/>
        </p:nvSpPr>
        <p:spPr>
          <a:xfrm>
            <a:off x="8869680" y="3419856"/>
            <a:ext cx="2743200" cy="777240"/>
          </a:xfrm>
          <a:prstGeom prst="rect">
            <a:avLst/>
          </a:prstGeom>
          <a:noFill/>
          <a:ln/>
        </p:spPr>
        <p:txBody>
          <a:bodyPr wrap="square" lIns="0" tIns="0" rIns="0" bIns="0" rtlCol="0" anchor="ctr"/>
          <a:lstStyle/>
          <a:p>
            <a:pPr indent="0" marL="0">
              <a:buNone/>
            </a:pPr>
            <a:r>
              <a:rPr lang="en-US" sz="1500" b="1" dirty="0">
                <a:solidFill>
                  <a:schemeClr val="tx2"/>
                </a:solidFill>
              </a:rPr>
              <a:t>Monitoreo y acción</a:t>
            </a:r>
            <a:endParaRPr lang="en-US" sz="1500" dirty="0"/>
          </a:p>
          <a:p>
            <a:pPr indent="0" marL="0">
              <a:buNone/>
            </a:pPr>
            <a:r>
              <a:rPr lang="en-US" sz="1300" dirty="0">
                <a:solidFill>
                  <a:srgbClr val="000000"/>
                </a:solidFill>
              </a:rPr>
              <a:t>priorización P1–P3, simulador de ROI y alertas</a:t>
            </a:r>
            <a:endParaRPr lang="en-US" sz="1500" dirty="0"/>
          </a:p>
        </p:txBody>
      </p:sp>
      <p:sp>
        <p:nvSpPr>
          <p:cNvPr id="13" name="pagina_4"/>
          <p:cNvSpPr/>
          <p:nvPr/>
        </p:nvSpPr>
        <p:spPr>
          <a:xfrm>
            <a:off x="8183880" y="4535424"/>
            <a:ext cx="548640" cy="548640"/>
          </a:xfrm>
          <a:prstGeom prst="ellipse">
            <a:avLst/>
          </a:prstGeom>
          <a:solidFill>
            <a:schemeClr val="accent1"/>
          </a:solidFill>
          <a:ln/>
        </p:spPr>
      </p:sp>
      <p:sp>
        <p:nvSpPr>
          <p:cNvPr id="14" name="pagina_4_txt"/>
          <p:cNvSpPr txBox="1"/>
          <p:nvPr/>
        </p:nvSpPr>
        <p:spPr>
          <a:xfrm>
            <a:off x="8183880" y="4535424"/>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pagina_txt_4"/>
          <p:cNvSpPr txBox="1"/>
          <p:nvPr/>
        </p:nvSpPr>
        <p:spPr>
          <a:xfrm>
            <a:off x="8869680" y="4443984"/>
            <a:ext cx="2743200" cy="777240"/>
          </a:xfrm>
          <a:prstGeom prst="rect">
            <a:avLst/>
          </a:prstGeom>
          <a:noFill/>
          <a:ln/>
        </p:spPr>
        <p:txBody>
          <a:bodyPr wrap="square" lIns="0" tIns="0" rIns="0" bIns="0" rtlCol="0" anchor="ctr"/>
          <a:lstStyle/>
          <a:p>
            <a:pPr indent="0" marL="0">
              <a:buNone/>
            </a:pPr>
            <a:r>
              <a:rPr lang="en-US" sz="1500" b="1" dirty="0">
                <a:solidFill>
                  <a:schemeClr val="tx2"/>
                </a:solidFill>
              </a:rPr>
              <a:t>Definiciones</a:t>
            </a:r>
            <a:endParaRPr lang="en-US" sz="1500" dirty="0"/>
          </a:p>
          <a:p>
            <a:pPr indent="0" marL="0">
              <a:buNone/>
            </a:pPr>
            <a:r>
              <a:rPr lang="en-US" sz="1300" dirty="0">
                <a:solidFill>
                  <a:srgbClr val="000000"/>
                </a:solidFill>
              </a:rPr>
              <a:t>diccionario y supuestos</a:t>
            </a:r>
            <a:endParaRPr lang="en-US" sz="1500" dirty="0"/>
          </a:p>
        </p:txBody>
      </p:sp>
      <p:sp>
        <p:nvSpPr>
          <p:cNvPr id="16" name="dashboard_nota"/>
          <p:cNvSpPr txBox="1"/>
          <p:nvPr/>
        </p:nvSpPr>
        <p:spPr>
          <a:xfrm>
            <a:off x="548640" y="5669280"/>
            <a:ext cx="11064240" cy="365760"/>
          </a:xfrm>
          <a:prstGeom prst="rect">
            <a:avLst/>
          </a:prstGeom>
          <a:noFill/>
          <a:ln/>
        </p:spPr>
        <p:txBody>
          <a:bodyPr wrap="square" lIns="0" tIns="0" rIns="0" bIns="0" rtlCol="0" anchor="ctr"/>
          <a:lstStyle/>
          <a:p>
            <a:pPr indent="0" marL="0">
              <a:buNone/>
            </a:pPr>
            <a:r>
              <a:rPr lang="en-US" sz="1300" i="1" dirty="0">
                <a:solidFill>
                  <a:srgbClr val="52514E"/>
                </a:solidFill>
              </a:rPr>
              <a:t>Power BI (PBIP): modelo estrella · 39 medidas DAX · filtros por contrato, internet, pago, antigüedad y escenario · cifras reconciliadas con el notebook</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rPr>
              <a:t>Recomendación: piloto focalizado con control</a:t>
            </a:r>
            <a:endParaRPr lang="en-US" sz="3200" dirty="0"/>
          </a:p>
        </p:txBody>
      </p:sp>
      <p:sp>
        <p:nvSpPr>
          <p:cNvPr id="3" name="col_0"/>
          <p:cNvSpPr/>
          <p:nvPr/>
        </p:nvSpPr>
        <p:spPr>
          <a:xfrm>
            <a:off x="548640" y="1371600"/>
            <a:ext cx="3566160" cy="3291840"/>
          </a:xfrm>
          <a:prstGeom prst="roundRect">
            <a:avLst>
              <a:gd name="adj" fmla="val 2222"/>
            </a:avLst>
          </a:prstGeom>
          <a:solidFill>
            <a:srgbClr val="1C5CAB"/>
          </a:solidFill>
          <a:ln/>
        </p:spPr>
      </p:sp>
      <p:sp>
        <p:nvSpPr>
          <p:cNvPr id="4" name="col_titulo_0"/>
          <p:cNvSpPr txBox="1"/>
          <p:nvPr/>
        </p:nvSpPr>
        <p:spPr>
          <a:xfrm>
            <a:off x="777240" y="1508760"/>
            <a:ext cx="310896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Decidir</a:t>
            </a:r>
            <a:endParaRPr lang="en-US" sz="2000" dirty="0"/>
          </a:p>
        </p:txBody>
      </p:sp>
      <p:sp>
        <p:nvSpPr>
          <p:cNvPr id="5" name="col_items_0"/>
          <p:cNvSpPr txBox="1"/>
          <p:nvPr/>
        </p:nvSpPr>
        <p:spPr>
          <a:xfrm>
            <a:off x="777240" y="2103120"/>
            <a:ext cx="3154680" cy="2926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Aprobar el piloto sobre los 820 clientes de riesgo alto</a:t>
            </a:r>
            <a:endParaRPr lang="en-US" sz="1500" dirty="0"/>
          </a:p>
          <a:p>
            <a:pPr marL="342900" indent="-342900">
              <a:spcAft>
                <a:spcPts val="1000"/>
              </a:spcAft>
              <a:buSzPct val="100000"/>
              <a:buChar char="•"/>
            </a:pPr>
            <a:r>
              <a:rPr lang="en-US" sz="1500" dirty="0">
                <a:solidFill>
                  <a:schemeClr val="bg1"/>
                </a:solidFill>
              </a:rPr>
              <a:t>Empezar por onboarding (L4), protección (L2) y pago automático (L3)</a:t>
            </a:r>
            <a:endParaRPr lang="en-US" sz="1500" dirty="0"/>
          </a:p>
          <a:p>
            <a:pPr marL="342900" indent="-342900">
              <a:spcAft>
                <a:spcPts val="1000"/>
              </a:spcAft>
              <a:buSzPct val="100000"/>
              <a:buChar char="•"/>
            </a:pPr>
            <a:r>
              <a:rPr lang="en-US" sz="1500" dirty="0">
                <a:solidFill>
                  <a:schemeClr val="bg1"/>
                </a:solidFill>
              </a:rPr>
              <a:t>No aprobar el descuento masivo</a:t>
            </a:r>
            <a:endParaRPr lang="en-US" sz="1500" dirty="0"/>
          </a:p>
        </p:txBody>
      </p:sp>
      <p:sp>
        <p:nvSpPr>
          <p:cNvPr id="6" name="col_1"/>
          <p:cNvSpPr/>
          <p:nvPr/>
        </p:nvSpPr>
        <p:spPr>
          <a:xfrm>
            <a:off x="4297680" y="1371600"/>
            <a:ext cx="3566160" cy="3291840"/>
          </a:xfrm>
          <a:prstGeom prst="roundRect">
            <a:avLst>
              <a:gd name="adj" fmla="val 2222"/>
            </a:avLst>
          </a:prstGeom>
          <a:solidFill>
            <a:srgbClr val="1C5CAB"/>
          </a:solidFill>
          <a:ln/>
        </p:spPr>
      </p:sp>
      <p:sp>
        <p:nvSpPr>
          <p:cNvPr id="7" name="col_titulo_1"/>
          <p:cNvSpPr txBox="1"/>
          <p:nvPr/>
        </p:nvSpPr>
        <p:spPr>
          <a:xfrm>
            <a:off x="4526280" y="1508760"/>
            <a:ext cx="310896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Escalar si</a:t>
            </a:r>
            <a:endParaRPr lang="en-US" sz="2000" dirty="0"/>
          </a:p>
        </p:txBody>
      </p:sp>
      <p:sp>
        <p:nvSpPr>
          <p:cNvPr id="8" name="col_items_1"/>
          <p:cNvSpPr txBox="1"/>
          <p:nvPr/>
        </p:nvSpPr>
        <p:spPr>
          <a:xfrm>
            <a:off x="4526280" y="2103120"/>
            <a:ext cx="3154680" cy="2926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El uplift a 90 días es significativo y ≥ 5 %</a:t>
            </a:r>
            <a:endParaRPr lang="en-US" sz="1500" dirty="0"/>
          </a:p>
          <a:p>
            <a:pPr marL="342900" indent="-342900">
              <a:spcAft>
                <a:spcPts val="1000"/>
              </a:spcAft>
              <a:buSzPct val="100000"/>
              <a:buChar char="•"/>
            </a:pPr>
            <a:r>
              <a:rPr lang="en-US" sz="1500" dirty="0">
                <a:solidFill>
                  <a:schemeClr val="bg1"/>
                </a:solidFill>
              </a:rPr>
              <a:t>El ARPU no cae más de 3 %</a:t>
            </a:r>
            <a:endParaRPr lang="en-US" sz="1500" dirty="0"/>
          </a:p>
          <a:p>
            <a:pPr marL="342900" indent="-342900">
              <a:spcAft>
                <a:spcPts val="1000"/>
              </a:spcAft>
              <a:buSzPct val="100000"/>
              <a:buChar char="•"/>
            </a:pPr>
            <a:r>
              <a:rPr lang="en-US" sz="1500" dirty="0">
                <a:solidFill>
                  <a:schemeClr val="bg1"/>
                </a:solidFill>
              </a:rPr>
              <a:t>El costo por cliente salvado es &lt; USD 200</a:t>
            </a:r>
            <a:endParaRPr lang="en-US" sz="1500" dirty="0"/>
          </a:p>
        </p:txBody>
      </p:sp>
      <p:sp>
        <p:nvSpPr>
          <p:cNvPr id="9" name="col_2"/>
          <p:cNvSpPr/>
          <p:nvPr/>
        </p:nvSpPr>
        <p:spPr>
          <a:xfrm>
            <a:off x="8046720" y="1371600"/>
            <a:ext cx="3566160" cy="3291840"/>
          </a:xfrm>
          <a:prstGeom prst="roundRect">
            <a:avLst>
              <a:gd name="adj" fmla="val 2222"/>
            </a:avLst>
          </a:prstGeom>
          <a:solidFill>
            <a:srgbClr val="1C5CAB"/>
          </a:solidFill>
          <a:ln/>
        </p:spPr>
      </p:sp>
      <p:sp>
        <p:nvSpPr>
          <p:cNvPr id="10" name="col_titulo_2"/>
          <p:cNvSpPr txBox="1"/>
          <p:nvPr/>
        </p:nvSpPr>
        <p:spPr>
          <a:xfrm>
            <a:off x="8275320" y="1508760"/>
            <a:ext cx="310896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Próximos 90 días</a:t>
            </a:r>
            <a:endParaRPr lang="en-US" sz="2000" dirty="0"/>
          </a:p>
        </p:txBody>
      </p:sp>
      <p:sp>
        <p:nvSpPr>
          <p:cNvPr id="11" name="col_items_2"/>
          <p:cNvSpPr txBox="1"/>
          <p:nvPr/>
        </p:nvSpPr>
        <p:spPr>
          <a:xfrm>
            <a:off x="8275320" y="2103120"/>
            <a:ext cx="3154680" cy="2926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Mes 1: lista P1 y aleatorización 50/50</a:t>
            </a:r>
            <a:endParaRPr lang="en-US" sz="1500" dirty="0"/>
          </a:p>
          <a:p>
            <a:pPr marL="342900" indent="-342900">
              <a:spcAft>
                <a:spcPts val="1000"/>
              </a:spcAft>
              <a:buSzPct val="100000"/>
              <a:buChar char="•"/>
            </a:pPr>
            <a:r>
              <a:rPr lang="en-US" sz="1500" dirty="0">
                <a:solidFill>
                  <a:schemeClr val="bg1"/>
                </a:solidFill>
              </a:rPr>
              <a:t>Meses 1–3: ejecutar y monitorear semanalmente</a:t>
            </a:r>
            <a:endParaRPr lang="en-US" sz="1500" dirty="0"/>
          </a:p>
          <a:p>
            <a:pPr marL="342900" indent="-342900">
              <a:spcAft>
                <a:spcPts val="1000"/>
              </a:spcAft>
              <a:buSzPct val="100000"/>
              <a:buChar char="•"/>
            </a:pPr>
            <a:r>
              <a:rPr lang="en-US" sz="1500" dirty="0">
                <a:solidFill>
                  <a:schemeClr val="bg1"/>
                </a:solidFill>
              </a:rPr>
              <a:t>Mes 3: lectura del piloto con el Comité</a:t>
            </a:r>
            <a:endParaRPr lang="en-US" sz="1500" dirty="0"/>
          </a:p>
        </p:txBody>
      </p:sp>
      <p:sp>
        <p:nvSpPr>
          <p:cNvPr id="12" name="riesgos"/>
          <p:cNvSpPr txBox="1"/>
          <p:nvPr/>
        </p:nvSpPr>
        <p:spPr>
          <a:xfrm>
            <a:off x="548640" y="5029200"/>
            <a:ext cx="11064240" cy="548640"/>
          </a:xfrm>
          <a:prstGeom prst="rect">
            <a:avLst/>
          </a:prstGeom>
          <a:noFill/>
          <a:ln/>
        </p:spPr>
        <p:txBody>
          <a:bodyPr wrap="square" lIns="0" tIns="0" rIns="0" bIns="0" rtlCol="0" anchor="ctr"/>
          <a:lstStyle/>
          <a:p>
            <a:pPr indent="0" marL="0">
              <a:buNone/>
            </a:pPr>
            <a:r>
              <a:rPr lang="en-US" sz="1400" dirty="0">
                <a:solidFill>
                  <a:srgbClr val="CDE2FB"/>
                </a:solidFill>
              </a:rPr>
              <a:t>Riesgos: corte único sin fechas, churn sobrerrepresentado, efectos observacionales y costos supuestos. Se gestionan con escenarios, umbrales y el piloto A/B.</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DE2FB"/>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DataForge Consulting">
  <a:themeElements>
    <a:clrScheme name="DataForge Consulting">
      <a:dk1>
        <a:srgbClr val="0B0B0B"/>
      </a:dk1>
      <a:lt1>
        <a:srgbClr val="FFFFFF"/>
      </a:lt1>
      <a:dk2>
        <a:srgbClr val="0D366B"/>
      </a:dk2>
      <a:lt2>
        <a:srgbClr val="EEF3FA"/>
      </a:lt2>
      <a:accent1>
        <a:srgbClr val="2A78D6"/>
      </a:accent1>
      <a:accent2>
        <a:srgbClr val="EB6834"/>
      </a:accent2>
      <a:accent3>
        <a:srgbClr val="1BAF7A"/>
      </a:accent3>
      <a:accent4>
        <a:srgbClr val="EDA100"/>
      </a:accent4>
      <a:accent5>
        <a:srgbClr val="6250D6"/>
      </a:accent5>
      <a:accent6>
        <a:srgbClr val="D03B3B"/>
      </a:accent6>
      <a:hlink>
        <a:srgbClr val="2A78D6"/>
      </a:hlink>
      <a:folHlink>
        <a:srgbClr val="6250D6"/>
      </a:folHlink>
    </a:clrScheme>
    <a:fontScheme name="DataForge Consult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DataForge Consulting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de Decision Intelligence para la retención - Caso Telco</dc:title>
  <dc:subject>PptxGenJS Presentation</dc:subject>
  <dc:creator>DataForge Consulting</dc:creator>
  <cp:lastModifiedBy>DataForge Consulting</cp:lastModifiedBy>
  <cp:revision>1</cp:revision>
  <dcterms:created xsi:type="dcterms:W3CDTF">2026-10-27T02:58:46Z</dcterms:created>
  <dcterms:modified xsi:type="dcterms:W3CDTF">2026-10-27T02:58:46Z</dcterms:modified>
</cp:coreProperties>
</file>