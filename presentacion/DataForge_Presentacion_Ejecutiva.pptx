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01 · Problema y decisión" id="{fd36ff31-281a-d3e1-e655-ac1cd22fb71e}">
          <p14:sldIdLst>
            <p14:sldId id="256"/>
            <p14:sldId id="257"/>
            <p14:sldId id="258"/>
            <p14:sldId id="259"/>
            <p14:sldId id="260"/>
            <p14:sldId id="261"/>
            <p14:sldId id="262"/>
            <p14:sldId id="263"/>
          </p14:sldIdLst>
        </p14:section>
        <p14:section name="02 · Métricas y datos" id="{8ea52903-bf7e-c0d6-769e-42323a511928}">
          <p14:sldIdLst>
            <p14:sldId id="264"/>
            <p14:sldId id="265"/>
            <p14:sldId id="266"/>
            <p14:sldId id="267"/>
            <p14:sldId id="268"/>
            <p14:sldId id="269"/>
            <p14:sldId id="270"/>
            <p14:sldId id="271"/>
          </p14:sldIdLst>
        </p14:section>
        <p14:section name="03 · Análisis de desempeño" id="{751a76bc-7ccb-7c6f-b5f1-ca846c1f0cd3}">
          <p14:sldIdLst>
            <p14:sldId id="272"/>
            <p14:sldId id="273"/>
            <p14:sldId id="274"/>
            <p14:sldId id="275"/>
            <p14:sldId id="276"/>
            <p14:sldId id="277"/>
            <p14:sldId id="278"/>
            <p14:sldId id="279"/>
          </p14:sldIdLst>
        </p14:section>
        <p14:section name="04 · Impacto y dashboard" id="{e08ad0ff-ba09-8107-e53b-f0ff652322c5}">
          <p14:sldIdLst>
            <p14:sldId id="280"/>
            <p14:sldId id="281"/>
            <p14:sldId id="282"/>
            <p14:sldId id="283"/>
            <p14:sldId id="284"/>
            <p14:sldId id="285"/>
            <p14:sldId id="286"/>
            <p14:sldId id="287"/>
            <p14:sldId id="288"/>
          </p14:sldIdLst>
        </p14:section>
        <p14:section name="05 · Monitoreo y recomendación" id="{5fd859a8-9dc9-b0ee-72b8-836f1c897aaa}">
          <p14:sldIdLst>
            <p14:sldId id="289"/>
            <p14:sldId id="290"/>
            <p14:sldId id="291"/>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MRR</c:v>
                </c:pt>
              </c:strCache>
            </c:strRef>
          </c:tx>
          <c:spPr>
            <a:solidFill>
              <a:schemeClr val="accent1"/>
            </a:solidFill>
            <a:ln w="9525" cap="flat">
              <a:solidFill>
                <a:srgbClr val="F9F9F9"/>
              </a:solidFill>
              <a:prstDash val="solid"/>
              <a:round/>
            </a:ln>
            <a:effectLst/>
          </c:spPr>
          <c:dPt>
            <c:idx val="0"/>
            <c:bubble3D val="0"/>
            <c:spPr>
              <a:solidFill>
                <a:srgbClr val="EB6834"/>
              </a:solidFill>
              <a:ln w="25400" cap="flat">
                <a:solidFill>
                  <a:srgbClr val="13294B"/>
                </a:solidFill>
                <a:prstDash val="solid"/>
                <a:round/>
              </a:ln>
              <a:effectLst/>
            </c:spPr>
          </c:dPt>
          <c:dPt>
            <c:idx val="1"/>
            <c:bubble3D val="0"/>
            <c:spPr>
              <a:solidFill>
                <a:srgbClr val="2E4B78"/>
              </a:solidFill>
              <a:ln w="25400" cap="flat">
                <a:solidFill>
                  <a:srgbClr val="13294B"/>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Perdido por churn</c:v>
                </c:pt>
                <c:pt idx="1">
                  <c:v>Retenido</c:v>
                </c:pt>
              </c:strCache>
            </c:strRef>
          </c:cat>
          <c:val>
            <c:numRef>
              <c:f>Sheet1!$B$2:$B$3</c:f>
              <c:numCache>
                <c:ptCount val="2"/>
                <c:pt idx="0">
                  <c:v>0.3050335155528213</c:v>
                </c:pt>
                <c:pt idx="1">
                  <c:v>0.6949664844471787</c:v>
                </c:pt>
              </c:numCache>
            </c:numRef>
          </c:val>
        </c:ser>
        <c:firstSliceAng val="0"/>
        <c:holeSize val="70"/>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Clientes</c:v>
                </c:pt>
              </c:strCache>
            </c:strRef>
          </c:tx>
          <c:spPr>
            <a:solidFill>
              <a:srgbClr val="EB6834"/>
            </a:solidFill>
            <a:effectLst/>
          </c:spPr>
          <c:invertIfNegative val="0"/>
          <c:dLbls>
            <c:numFmt formatCode="0.0%" sourceLinked="0"/>
            <c:txPr>
              <a:bodyPr/>
              <a:lstStyle/>
              <a:p>
                <a:pPr>
                  <a:defRPr b="0" i="0" strike="noStrike" sz="1200" u="none">
                    <a:solidFill>
                      <a:srgbClr val="1B1F24"/>
                    </a:solidFill>
                    <a:latin typeface="+mn-lt"/>
                  </a:defRPr>
                </a:pPr>
              </a:p>
            </c:txPr>
            <c:showLegendKey val="0"/>
            <c:showVal val="1"/>
            <c:showCatName val="0"/>
            <c:showSerName val="0"/>
            <c:showPercent val="0"/>
            <c:showBubbleSize val="0"/>
            <c:showLeaderLines val="0"/>
          </c:dLbls>
          <c:dPt>
            <c:idx val="0"/>
            <c:invertIfNegative val="0"/>
            <c:bubble3D val="0"/>
            <c:spPr>
              <a:solidFill>
                <a:srgbClr val="EB6834"/>
              </a:solidFill>
              <a:effectLst/>
            </c:spPr>
          </c:dPt>
          <c:dPt>
            <c:idx val="1"/>
            <c:invertIfNegative val="0"/>
            <c:bubble3D val="0"/>
            <c:spPr>
              <a:solidFill>
                <a:srgbClr val="A9B6C6"/>
              </a:solidFill>
              <a:effectLst/>
            </c:spPr>
          </c:dPt>
          <c:dPt>
            <c:idx val="2"/>
            <c:invertIfNegative val="0"/>
            <c:bubble3D val="0"/>
            <c:spPr>
              <a:solidFill>
                <a:srgbClr val="A9B6C6"/>
              </a:solidFill>
              <a:effectLst/>
            </c:spPr>
          </c:dPt>
          <c:cat>
            <c:multiLvlStrRef>
              <c:f>Sheet1!$A$2:$A$4</c:f>
              <c:multiLvlStrCache>
                <c:ptCount val="3"/>
                <c:lvl>
                  <c:pt idx="0">
                    <c:v>Mes a mes</c:v>
                  </c:pt>
                  <c:pt idx="1">
                    <c:v>Un año</c:v>
                  </c:pt>
                  <c:pt idx="2">
                    <c:v>Dos años</c:v>
                  </c:pt>
                </c:lvl>
              </c:multiLvlStrCache>
            </c:multiLvlStrRef>
          </c:cat>
          <c:val>
            <c:numRef>
              <c:f>Sheet1!$B$2:$B$4</c:f>
              <c:numCache>
                <c:formatCode>General</c:formatCode>
                <c:ptCount val="3"/>
                <c:pt idx="0">
                  <c:v>0.5501916796819537</c:v>
                </c:pt>
                <c:pt idx="1">
                  <c:v>0.20914383075394008</c:v>
                </c:pt>
                <c:pt idx="2">
                  <c:v>0.24066448956410622</c:v>
                </c:pt>
              </c:numCache>
            </c:numRef>
          </c:val>
        </c:ser>
        <c:dLbls>
          <c:numFmt formatCode="0.0%" sourceLinked="0"/>
          <c:txPr>
            <a:bodyPr/>
            <a:lstStyle/>
            <a:p>
              <a:pPr>
                <a:defRPr b="0" i="0" strike="noStrike" sz="1200" u="none">
                  <a:solidFill>
                    <a:srgbClr val="1B1F24"/>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5B6573"/>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B657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ARPU</c:v>
                </c:pt>
              </c:strCache>
            </c:strRef>
          </c:tx>
          <c:spPr>
            <a:solidFill>
              <a:srgbClr val="A9B6C6"/>
            </a:solidFill>
            <a:effectLst/>
          </c:spPr>
          <c:invertIfNegative val="0"/>
          <c:dLbls>
            <c:numFmt formatCode="&quot;USD &quot;0.00" sourceLinked="0"/>
            <c:txPr>
              <a:bodyPr/>
              <a:lstStyle/>
              <a:p>
                <a:pPr>
                  <a:defRPr b="0" i="0" strike="noStrike" sz="1200" u="none">
                    <a:solidFill>
                      <a:srgbClr val="1B1F24"/>
                    </a:solidFill>
                    <a:latin typeface="+mn-lt"/>
                  </a:defRPr>
                </a:pPr>
              </a:p>
            </c:txPr>
            <c:showLegendKey val="0"/>
            <c:showVal val="1"/>
            <c:showCatName val="0"/>
            <c:showSerName val="0"/>
            <c:showPercent val="0"/>
            <c:showBubbleSize val="0"/>
            <c:showLeaderLines val="0"/>
          </c:dLbls>
          <c:dPt>
            <c:idx val="0"/>
            <c:invertIfNegative val="0"/>
            <c:bubble3D val="0"/>
            <c:spPr>
              <a:solidFill>
                <a:srgbClr val="A9B6C6"/>
              </a:solidFill>
              <a:effectLst/>
            </c:spPr>
          </c:dPt>
          <c:dPt>
            <c:idx val="1"/>
            <c:invertIfNegative val="0"/>
            <c:bubble3D val="0"/>
            <c:spPr>
              <a:solidFill>
                <a:srgbClr val="EB6834"/>
              </a:solidFill>
              <a:effectLst/>
            </c:spPr>
          </c:dPt>
          <c:cat>
            <c:multiLvlStrRef>
              <c:f>Sheet1!$A$2:$A$3</c:f>
              <c:multiLvlStrCache>
                <c:ptCount val="2"/>
                <c:lvl>
                  <c:pt idx="0">
                    <c:v>Clientes activos</c:v>
                  </c:pt>
                  <c:pt idx="1">
                    <c:v>Clientes que abandonan</c:v>
                  </c:pt>
                </c:lvl>
              </c:multiLvlStrCache>
            </c:multiLvlStrRef>
          </c:cat>
          <c:val>
            <c:numRef>
              <c:f>Sheet1!$B$2:$B$3</c:f>
              <c:numCache>
                <c:formatCode>General</c:formatCode>
                <c:ptCount val="2"/>
                <c:pt idx="0">
                  <c:v>61.26512369540008</c:v>
                </c:pt>
                <c:pt idx="1">
                  <c:v>74.44133226324236</c:v>
                </c:pt>
              </c:numCache>
            </c:numRef>
          </c:val>
        </c:ser>
        <c:dLbls>
          <c:numFmt formatCode="&quot;USD &quot;0.00" sourceLinked="0"/>
          <c:txPr>
            <a:bodyPr/>
            <a:lstStyle/>
            <a:p>
              <a:pPr>
                <a:defRPr b="0" i="0" strike="noStrike" sz="1200" u="none">
                  <a:solidFill>
                    <a:srgbClr val="1B1F24"/>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5B6573"/>
                </a:solidFill>
                <a:latin typeface="+mn-lt"/>
              </a:defRPr>
            </a:pPr>
            <a:endParaRPr lang="en-US"/>
          </a:p>
        </c:txPr>
        <c:crossAx val="2094734552"/>
        <c:crosses val="autoZero"/>
        <c:auto val="1"/>
        <c:lblAlgn val="ctr"/>
        <c:noMultiLvlLbl val="1"/>
      </c:catAx>
      <c:valAx>
        <c:axId val="2094734552"/>
        <c:scaling>
          <c:orientation val="minMax"/>
          <c:max val="92"/>
          <c:min val="0"/>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B657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Revisiones</c:v>
                </c:pt>
              </c:strCache>
            </c:strRef>
          </c:tx>
          <c:spPr>
            <a:solidFill>
              <a:srgbClr val="C8312F"/>
            </a:solidFill>
            <a:effectLst/>
          </c:spPr>
          <c:invertIfNegative val="0"/>
          <c:dLbls>
            <c:numFmt formatCode="0" sourceLinked="0"/>
            <c:txPr>
              <a:bodyPr/>
              <a:lstStyle/>
              <a:p>
                <a:pPr>
                  <a:defRPr b="0" i="0" strike="noStrike" sz="1200" u="none">
                    <a:solidFill>
                      <a:srgbClr val="1B1F24"/>
                    </a:solidFill>
                    <a:latin typeface="+mn-lt"/>
                  </a:defRPr>
                </a:pPr>
              </a:p>
            </c:txPr>
            <c:showLegendKey val="0"/>
            <c:showVal val="1"/>
            <c:showCatName val="0"/>
            <c:showSerName val="0"/>
            <c:showPercent val="0"/>
            <c:showBubbleSize val="0"/>
            <c:showLeaderLines val="0"/>
          </c:dLbls>
          <c:dPt>
            <c:idx val="0"/>
            <c:invertIfNegative val="0"/>
            <c:bubble3D val="0"/>
            <c:spPr>
              <a:solidFill>
                <a:srgbClr val="C8312F"/>
              </a:solidFill>
              <a:effectLst/>
            </c:spPr>
          </c:dPt>
          <c:dPt>
            <c:idx val="1"/>
            <c:invertIfNegative val="0"/>
            <c:bubble3D val="0"/>
            <c:spPr>
              <a:solidFill>
                <a:srgbClr val="B07400"/>
              </a:solidFill>
              <a:effectLst/>
            </c:spPr>
          </c:dPt>
          <c:dPt>
            <c:idx val="2"/>
            <c:invertIfNegative val="0"/>
            <c:bubble3D val="0"/>
            <c:spPr>
              <a:solidFill>
                <a:srgbClr val="A9B6C6"/>
              </a:solidFill>
              <a:effectLst/>
            </c:spPr>
          </c:dPt>
          <c:cat>
            <c:multiLvlStrRef>
              <c:f>Sheet1!$A$2:$A$4</c:f>
              <c:multiLvlStrCache>
                <c:ptCount val="3"/>
                <c:lvl>
                  <c:pt idx="0">
                    <c:v>Alta</c:v>
                  </c:pt>
                  <c:pt idx="1">
                    <c:v>Media</c:v>
                  </c:pt>
                  <c:pt idx="2">
                    <c:v>Baja</c:v>
                  </c:pt>
                </c:lvl>
              </c:multiLvlStrCache>
            </c:multiLvlStrRef>
          </c:cat>
          <c:val>
            <c:numRef>
              <c:f>Sheet1!$B$2:$B$4</c:f>
              <c:numCache>
                <c:formatCode>General</c:formatCode>
                <c:ptCount val="3"/>
                <c:pt idx="0">
                  <c:v>3</c:v>
                </c:pt>
                <c:pt idx="1">
                  <c:v>2</c:v>
                </c:pt>
                <c:pt idx="2">
                  <c:v>6</c:v>
                </c:pt>
              </c:numCache>
            </c:numRef>
          </c:val>
        </c:ser>
        <c:dLbls>
          <c:numFmt formatCode="0" sourceLinked="0"/>
          <c:txPr>
            <a:bodyPr/>
            <a:lstStyle/>
            <a:p>
              <a:pPr>
                <a:defRPr b="0" i="0" strike="noStrike" sz="1200" u="none">
                  <a:solidFill>
                    <a:srgbClr val="1B1F24"/>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5B6573"/>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5B657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Tasa de churn</c:v>
                </c:pt>
              </c:strCache>
            </c:strRef>
          </c:tx>
          <c:spPr>
            <a:solidFill>
              <a:srgbClr val="2A78D6"/>
            </a:solidFill>
            <a:ln w="31750" cap="flat">
              <a:solidFill>
                <a:srgbClr val="2A78D6"/>
              </a:solidFill>
              <a:prstDash val="solid"/>
              <a:round/>
            </a:ln>
            <a:effectLst/>
          </c:spPr>
          <c:invertIfNegative val="0"/>
          <c:dLbls>
            <c:numFmt formatCode="#,##0" sourceLinked="0"/>
            <c:txPr>
              <a:bodyPr/>
              <a:lstStyle/>
              <a:p>
                <a:pPr>
                  <a:defRPr b="0" i="0" strike="noStrike" sz="1200" u="none">
                    <a:solidFill>
                      <a:srgbClr val="1B1F24"/>
                    </a:solidFill>
                    <a:latin typeface="+mn-lt"/>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Sheet1!$A$2:$A$73</c:f>
              <c:multiLvlStrCache>
                <c:ptCount val="72"/>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lvl>
              </c:multiLvlStrCache>
            </c:multiLvlStrRef>
          </c:cat>
          <c:val>
            <c:numRef>
              <c:f>Sheet1!$B$2:$B$73</c:f>
              <c:numCache>
                <c:formatCode>General</c:formatCode>
                <c:ptCount val="72"/>
                <c:pt idx="0">
                  <c:v>0.6199</c:v>
                </c:pt>
                <c:pt idx="1">
                  <c:v>0.5168</c:v>
                </c:pt>
                <c:pt idx="2">
                  <c:v>0.47</c:v>
                </c:pt>
                <c:pt idx="3">
                  <c:v>0.4716</c:v>
                </c:pt>
                <c:pt idx="4">
                  <c:v>0.4812</c:v>
                </c:pt>
                <c:pt idx="5">
                  <c:v>0.3636</c:v>
                </c:pt>
                <c:pt idx="6">
                  <c:v>0.3893</c:v>
                </c:pt>
                <c:pt idx="7">
                  <c:v>0.3415</c:v>
                </c:pt>
                <c:pt idx="8">
                  <c:v>0.3866</c:v>
                </c:pt>
                <c:pt idx="9">
                  <c:v>0.3879</c:v>
                </c:pt>
                <c:pt idx="10">
                  <c:v>0.3131</c:v>
                </c:pt>
                <c:pt idx="11">
                  <c:v>0.3248</c:v>
                </c:pt>
                <c:pt idx="12">
                  <c:v>0.3486</c:v>
                </c:pt>
                <c:pt idx="13">
                  <c:v>0.3158</c:v>
                </c:pt>
                <c:pt idx="14">
                  <c:v>0.3737</c:v>
                </c:pt>
                <c:pt idx="15">
                  <c:v>0.35</c:v>
                </c:pt>
                <c:pt idx="16">
                  <c:v>0.2989</c:v>
                </c:pt>
                <c:pt idx="17">
                  <c:v>0.2474</c:v>
                </c:pt>
                <c:pt idx="18">
                  <c:v>0.2603</c:v>
                </c:pt>
                <c:pt idx="19">
                  <c:v>0.2535</c:v>
                </c:pt>
                <c:pt idx="20">
                  <c:v>0.2698</c:v>
                </c:pt>
                <c:pt idx="21">
                  <c:v>0.3</c:v>
                </c:pt>
                <c:pt idx="22">
                  <c:v>0.1529</c:v>
                </c:pt>
                <c:pt idx="23">
                  <c:v>0.2447</c:v>
                </c:pt>
                <c:pt idx="24">
                  <c:v>0.2911</c:v>
                </c:pt>
                <c:pt idx="25">
                  <c:v>0.1899</c:v>
                </c:pt>
                <c:pt idx="26">
                  <c:v>0.1806</c:v>
                </c:pt>
                <c:pt idx="27">
                  <c:v>0.2105</c:v>
                </c:pt>
                <c:pt idx="28">
                  <c:v>0.2083</c:v>
                </c:pt>
                <c:pt idx="29">
                  <c:v>0.2222</c:v>
                </c:pt>
                <c:pt idx="30">
                  <c:v>0.2462</c:v>
                </c:pt>
                <c:pt idx="31">
                  <c:v>0.2754</c:v>
                </c:pt>
                <c:pt idx="32">
                  <c:v>0.2188</c:v>
                </c:pt>
                <c:pt idx="33">
                  <c:v>0.1846</c:v>
                </c:pt>
                <c:pt idx="34">
                  <c:v>0.1705</c:v>
                </c:pt>
                <c:pt idx="35">
                  <c:v>0.2</c:v>
                </c:pt>
                <c:pt idx="36">
                  <c:v>0.2308</c:v>
                </c:pt>
                <c:pt idx="37">
                  <c:v>0.2203</c:v>
                </c:pt>
                <c:pt idx="38">
                  <c:v>0.25</c:v>
                </c:pt>
                <c:pt idx="39">
                  <c:v>0.2031</c:v>
                </c:pt>
                <c:pt idx="40">
                  <c:v>0.2</c:v>
                </c:pt>
                <c:pt idx="41">
                  <c:v>0.2154</c:v>
                </c:pt>
                <c:pt idx="42">
                  <c:v>0.2308</c:v>
                </c:pt>
                <c:pt idx="43">
                  <c:v>0.1176</c:v>
                </c:pt>
                <c:pt idx="44">
                  <c:v>0.0984</c:v>
                </c:pt>
                <c:pt idx="45">
                  <c:v>0.1622</c:v>
                </c:pt>
                <c:pt idx="46">
                  <c:v>0.2059</c:v>
                </c:pt>
                <c:pt idx="47">
                  <c:v>0.1406</c:v>
                </c:pt>
                <c:pt idx="48">
                  <c:v>0.2273</c:v>
                </c:pt>
                <c:pt idx="49">
                  <c:v>0.1471</c:v>
                </c:pt>
                <c:pt idx="50">
                  <c:v>0.1176</c:v>
                </c:pt>
                <c:pt idx="51">
                  <c:v>0.1</c:v>
                </c:pt>
                <c:pt idx="52">
                  <c:v>0.2</c:v>
                </c:pt>
                <c:pt idx="53">
                  <c:v>0.1912</c:v>
                </c:pt>
                <c:pt idx="54">
                  <c:v>0.1406</c:v>
                </c:pt>
                <c:pt idx="55">
                  <c:v>0.125</c:v>
                </c:pt>
                <c:pt idx="56">
                  <c:v>0.1231</c:v>
                </c:pt>
                <c:pt idx="57">
                  <c:v>0.1642</c:v>
                </c:pt>
                <c:pt idx="58">
                  <c:v>0.1333</c:v>
                </c:pt>
                <c:pt idx="59">
                  <c:v>0.0789</c:v>
                </c:pt>
                <c:pt idx="60">
                  <c:v>0.1053</c:v>
                </c:pt>
                <c:pt idx="61">
                  <c:v>0.0714</c:v>
                </c:pt>
                <c:pt idx="62">
                  <c:v>0.0556</c:v>
                </c:pt>
                <c:pt idx="63">
                  <c:v>0.05</c:v>
                </c:pt>
                <c:pt idx="64">
                  <c:v>0.1184</c:v>
                </c:pt>
                <c:pt idx="65">
                  <c:v>0.1461</c:v>
                </c:pt>
                <c:pt idx="66">
                  <c:v>0.102</c:v>
                </c:pt>
                <c:pt idx="67">
                  <c:v>0.09</c:v>
                </c:pt>
                <c:pt idx="68">
                  <c:v>0.0842</c:v>
                </c:pt>
                <c:pt idx="69">
                  <c:v>0.0924</c:v>
                </c:pt>
                <c:pt idx="70">
                  <c:v>0.0353</c:v>
                </c:pt>
                <c:pt idx="71">
                  <c:v>0.0166</c:v>
                </c:pt>
              </c:numCache>
            </c:numRef>
          </c:val>
          <c:smooth val="0"/>
        </c:ser>
        <c:ser>
          <c:idx val="1"/>
          <c:order val="1"/>
          <c:tx>
            <c:strRef>
              <c:f>Sheet1!$C$1</c:f>
              <c:strCache>
                <c:ptCount val="1"/>
                <c:pt idx="0">
                  <c:v>Promedio del corte</c:v>
                </c:pt>
              </c:strCache>
            </c:strRef>
          </c:tx>
          <c:spPr>
            <a:solidFill>
              <a:srgbClr val="8E99A8"/>
            </a:solidFill>
            <a:ln w="31750" cap="flat">
              <a:solidFill>
                <a:srgbClr val="8E99A8"/>
              </a:solidFill>
              <a:prstDash val="solid"/>
              <a:round/>
            </a:ln>
            <a:effectLst/>
          </c:spPr>
          <c:invertIfNegative val="0"/>
          <c:dLbls>
            <c:numFmt formatCode="#,##0" sourceLinked="0"/>
            <c:txPr>
              <a:bodyPr/>
              <a:lstStyle/>
              <a:p>
                <a:pPr>
                  <a:defRPr b="0" i="0" strike="noStrike" sz="1200" u="none">
                    <a:solidFill>
                      <a:srgbClr val="1B1F24"/>
                    </a:solidFill>
                    <a:latin typeface="+mn-lt"/>
                  </a:defRPr>
                </a:pPr>
              </a:p>
            </c:txPr>
            <c:showLegendKey val="0"/>
            <c:showVal val="0"/>
            <c:showCatName val="0"/>
            <c:showSerName val="0"/>
            <c:showPercent val="0"/>
            <c:showBubbleSize val="0"/>
            <c:showLeaderLines val="0"/>
          </c:dLbls>
          <c:marker>
            <c:symbol val="none"/>
            <c:size val="6"/>
            <c:spPr>
              <a:solidFill>
                <a:srgbClr val="8E99A8"/>
              </a:solidFill>
              <a:ln w="9525" cap="flat">
                <a:solidFill>
                  <a:srgbClr val="8E99A8"/>
                </a:solidFill>
                <a:prstDash val="solid"/>
                <a:round/>
              </a:ln>
              <a:effectLst/>
            </c:spPr>
          </c:marker>
          <c:cat>
            <c:multiLvlStrRef>
              <c:f>Sheet1!$A$2:$A$73</c:f>
              <c:multiLvlStrCache>
                <c:ptCount val="72"/>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lvl>
              </c:multiLvlStrCache>
            </c:multiLvlStrRef>
          </c:cat>
          <c:val>
            <c:numRef>
              <c:f>Sheet1!$C$2:$C$73</c:f>
              <c:numCache>
                <c:formatCode>General</c:formatCode>
                <c:ptCount val="72"/>
                <c:pt idx="0">
                  <c:v>0.2653698707936959</c:v>
                </c:pt>
                <c:pt idx="1">
                  <c:v>0.2653698707936959</c:v>
                </c:pt>
                <c:pt idx="2">
                  <c:v>0.2653698707936959</c:v>
                </c:pt>
                <c:pt idx="3">
                  <c:v>0.2653698707936959</c:v>
                </c:pt>
                <c:pt idx="4">
                  <c:v>0.2653698707936959</c:v>
                </c:pt>
                <c:pt idx="5">
                  <c:v>0.2653698707936959</c:v>
                </c:pt>
                <c:pt idx="6">
                  <c:v>0.2653698707936959</c:v>
                </c:pt>
                <c:pt idx="7">
                  <c:v>0.2653698707936959</c:v>
                </c:pt>
                <c:pt idx="8">
                  <c:v>0.2653698707936959</c:v>
                </c:pt>
                <c:pt idx="9">
                  <c:v>0.2653698707936959</c:v>
                </c:pt>
                <c:pt idx="10">
                  <c:v>0.2653698707936959</c:v>
                </c:pt>
                <c:pt idx="11">
                  <c:v>0.2653698707936959</c:v>
                </c:pt>
                <c:pt idx="12">
                  <c:v>0.2653698707936959</c:v>
                </c:pt>
                <c:pt idx="13">
                  <c:v>0.2653698707936959</c:v>
                </c:pt>
                <c:pt idx="14">
                  <c:v>0.2653698707936959</c:v>
                </c:pt>
                <c:pt idx="15">
                  <c:v>0.2653698707936959</c:v>
                </c:pt>
                <c:pt idx="16">
                  <c:v>0.2653698707936959</c:v>
                </c:pt>
                <c:pt idx="17">
                  <c:v>0.2653698707936959</c:v>
                </c:pt>
                <c:pt idx="18">
                  <c:v>0.2653698707936959</c:v>
                </c:pt>
                <c:pt idx="19">
                  <c:v>0.2653698707936959</c:v>
                </c:pt>
                <c:pt idx="20">
                  <c:v>0.2653698707936959</c:v>
                </c:pt>
                <c:pt idx="21">
                  <c:v>0.2653698707936959</c:v>
                </c:pt>
                <c:pt idx="22">
                  <c:v>0.2653698707936959</c:v>
                </c:pt>
                <c:pt idx="23">
                  <c:v>0.2653698707936959</c:v>
                </c:pt>
                <c:pt idx="24">
                  <c:v>0.2653698707936959</c:v>
                </c:pt>
                <c:pt idx="25">
                  <c:v>0.2653698707936959</c:v>
                </c:pt>
                <c:pt idx="26">
                  <c:v>0.2653698707936959</c:v>
                </c:pt>
                <c:pt idx="27">
                  <c:v>0.2653698707936959</c:v>
                </c:pt>
                <c:pt idx="28">
                  <c:v>0.2653698707936959</c:v>
                </c:pt>
                <c:pt idx="29">
                  <c:v>0.2653698707936959</c:v>
                </c:pt>
                <c:pt idx="30">
                  <c:v>0.2653698707936959</c:v>
                </c:pt>
                <c:pt idx="31">
                  <c:v>0.2653698707936959</c:v>
                </c:pt>
                <c:pt idx="32">
                  <c:v>0.2653698707936959</c:v>
                </c:pt>
                <c:pt idx="33">
                  <c:v>0.2653698707936959</c:v>
                </c:pt>
                <c:pt idx="34">
                  <c:v>0.2653698707936959</c:v>
                </c:pt>
                <c:pt idx="35">
                  <c:v>0.2653698707936959</c:v>
                </c:pt>
                <c:pt idx="36">
                  <c:v>0.2653698707936959</c:v>
                </c:pt>
                <c:pt idx="37">
                  <c:v>0.2653698707936959</c:v>
                </c:pt>
                <c:pt idx="38">
                  <c:v>0.2653698707936959</c:v>
                </c:pt>
                <c:pt idx="39">
                  <c:v>0.2653698707936959</c:v>
                </c:pt>
                <c:pt idx="40">
                  <c:v>0.2653698707936959</c:v>
                </c:pt>
                <c:pt idx="41">
                  <c:v>0.2653698707936959</c:v>
                </c:pt>
                <c:pt idx="42">
                  <c:v>0.2653698707936959</c:v>
                </c:pt>
                <c:pt idx="43">
                  <c:v>0.2653698707936959</c:v>
                </c:pt>
                <c:pt idx="44">
                  <c:v>0.2653698707936959</c:v>
                </c:pt>
                <c:pt idx="45">
                  <c:v>0.2653698707936959</c:v>
                </c:pt>
                <c:pt idx="46">
                  <c:v>0.2653698707936959</c:v>
                </c:pt>
                <c:pt idx="47">
                  <c:v>0.2653698707936959</c:v>
                </c:pt>
                <c:pt idx="48">
                  <c:v>0.2653698707936959</c:v>
                </c:pt>
                <c:pt idx="49">
                  <c:v>0.2653698707936959</c:v>
                </c:pt>
                <c:pt idx="50">
                  <c:v>0.2653698707936959</c:v>
                </c:pt>
                <c:pt idx="51">
                  <c:v>0.2653698707936959</c:v>
                </c:pt>
                <c:pt idx="52">
                  <c:v>0.2653698707936959</c:v>
                </c:pt>
                <c:pt idx="53">
                  <c:v>0.2653698707936959</c:v>
                </c:pt>
                <c:pt idx="54">
                  <c:v>0.2653698707936959</c:v>
                </c:pt>
                <c:pt idx="55">
                  <c:v>0.2653698707936959</c:v>
                </c:pt>
                <c:pt idx="56">
                  <c:v>0.2653698707936959</c:v>
                </c:pt>
                <c:pt idx="57">
                  <c:v>0.2653698707936959</c:v>
                </c:pt>
                <c:pt idx="58">
                  <c:v>0.2653698707936959</c:v>
                </c:pt>
                <c:pt idx="59">
                  <c:v>0.2653698707936959</c:v>
                </c:pt>
                <c:pt idx="60">
                  <c:v>0.2653698707936959</c:v>
                </c:pt>
                <c:pt idx="61">
                  <c:v>0.2653698707936959</c:v>
                </c:pt>
                <c:pt idx="62">
                  <c:v>0.2653698707936959</c:v>
                </c:pt>
                <c:pt idx="63">
                  <c:v>0.2653698707936959</c:v>
                </c:pt>
                <c:pt idx="64">
                  <c:v>0.2653698707936959</c:v>
                </c:pt>
                <c:pt idx="65">
                  <c:v>0.2653698707936959</c:v>
                </c:pt>
                <c:pt idx="66">
                  <c:v>0.2653698707936959</c:v>
                </c:pt>
                <c:pt idx="67">
                  <c:v>0.2653698707936959</c:v>
                </c:pt>
                <c:pt idx="68">
                  <c:v>0.2653698707936959</c:v>
                </c:pt>
                <c:pt idx="69">
                  <c:v>0.2653698707936959</c:v>
                </c:pt>
                <c:pt idx="70">
                  <c:v>0.2653698707936959</c:v>
                </c:pt>
                <c:pt idx="71">
                  <c:v>0.2653698707936959</c:v>
                </c:pt>
              </c:numCache>
            </c:numRef>
          </c:val>
          <c:smooth val="0"/>
        </c:ser>
        <c:dLbls>
          <c:numFmt formatCode="#,##0" sourceLinked="0"/>
          <c:txPr>
            <a:bodyPr/>
            <a:lstStyle/>
            <a:p>
              <a:pPr>
                <a:defRPr b="0" i="0" strike="noStrike" sz="1200" u="none">
                  <a:solidFill>
                    <a:srgbClr val="1B1F24"/>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B6573"/>
                    </a:solidFill>
                    <a:latin typeface="Arial"/>
                  </a:defRPr>
                </a:pPr>
                <a:r>
                  <a:rPr sz="1200" b="0" i="0" u="none" strike="noStrike">
                    <a:solidFill>
                      <a:srgbClr val="5B6573"/>
                    </a:solidFill>
                    <a:latin typeface="Arial"/>
                  </a:rPr>
                  <a:t>Meses de antigüedad</a:t>
                </a:r>
              </a:p>
            </c:rich>
          </c:tx>
          <c:layout/>
          <c:overlay val="0"/>
        </c:title>
        <c:numFmt formatCode="General" sourceLinked="1"/>
        <c:majorTickMark val="out"/>
        <c:minorTickMark val="none"/>
        <c:tickLblPos val="low"/>
        <c:spPr>
          <a:ln w="12700" cap="flat">
            <a:noFill/>
            <a:prstDash val="solid"/>
            <a:round/>
          </a:ln>
        </c:spPr>
        <c:txPr>
          <a:bodyPr/>
          <a:lstStyle/>
          <a:p>
            <a:pPr>
              <a:defRPr sz="1100" b="0" i="0" u="none" strike="noStrike">
                <a:solidFill>
                  <a:srgbClr val="5B6573"/>
                </a:solidFill>
                <a:latin typeface="+mn-lt"/>
              </a:defRPr>
            </a:pPr>
            <a:endParaRPr lang="en-US"/>
          </a:p>
        </c:txPr>
        <c:crossAx val="2094734552"/>
        <c:crosses val="autoZero"/>
        <c:auto val="1"/>
        <c:lblAlgn val="ctr"/>
        <c:noMultiLvlLbl val="1"/>
        <c:tickLblSkip val="6"/>
      </c:catAx>
      <c:valAx>
        <c:axId val="2094734552"/>
        <c:scaling>
          <c:orientation val="minMax"/>
          <c:max val="0.7"/>
          <c:min val="0"/>
        </c:scaling>
        <c:delete val="0"/>
        <c:axPos val="l"/>
        <c:majorGridlines>
          <c:spPr>
            <a:ln w="9525" cap="flat">
              <a:solidFill>
                <a:srgbClr val="E6EAF0"/>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B6573"/>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Tasa de churn</c:v>
                </c:pt>
              </c:strCache>
            </c:strRef>
          </c:tx>
          <c:spPr>
            <a:solidFill>
              <a:srgbClr val="2A78D6"/>
            </a:solidFill>
            <a:effectLst/>
          </c:spPr>
          <c:invertIfNegative val="0"/>
          <c:dLbls>
            <c:numFmt formatCode="0.0%" sourceLinked="0"/>
            <c:txPr>
              <a:bodyPr/>
              <a:lstStyle/>
              <a:p>
                <a:pPr>
                  <a:defRPr b="0" i="0" strike="noStrike" sz="1200" u="none">
                    <a:solidFill>
                      <a:srgbClr val="1B1F24"/>
                    </a:solidFill>
                    <a:latin typeface="+mn-lt"/>
                  </a:defRPr>
                </a:pPr>
              </a:p>
            </c:txPr>
            <c:showLegendKey val="0"/>
            <c:showVal val="1"/>
            <c:showCatName val="0"/>
            <c:showSerName val="0"/>
            <c:showPercent val="0"/>
            <c:showBubbleSize val="0"/>
            <c:showLeaderLines val="0"/>
          </c:dLbls>
          <c:cat>
            <c:multiLvlStrRef>
              <c:f>Sheet1!$A$2:$A$6</c:f>
              <c:multiLvlStrCache>
                <c:ptCount val="5"/>
                <c:lvl>
                  <c:pt idx="0">
                    <c:v>0–6 m</c:v>
                  </c:pt>
                  <c:pt idx="1">
                    <c:v>7–12 m</c:v>
                  </c:pt>
                  <c:pt idx="2">
                    <c:v>13–24 m</c:v>
                  </c:pt>
                  <c:pt idx="3">
                    <c:v>25–48 m</c:v>
                  </c:pt>
                  <c:pt idx="4">
                    <c:v>49–72 m</c:v>
                  </c:pt>
                </c:lvl>
              </c:multiLvlStrCache>
            </c:multiLvlStrRef>
          </c:cat>
          <c:val>
            <c:numRef>
              <c:f>Sheet1!$B$2:$B$6</c:f>
              <c:numCache>
                <c:formatCode>General</c:formatCode>
                <c:ptCount val="5"/>
                <c:pt idx="0">
                  <c:v>0.5294</c:v>
                </c:pt>
                <c:pt idx="1">
                  <c:v>0.3589</c:v>
                </c:pt>
                <c:pt idx="2">
                  <c:v>0.2871</c:v>
                </c:pt>
                <c:pt idx="3">
                  <c:v>0.2039</c:v>
                </c:pt>
                <c:pt idx="4">
                  <c:v>0.0951</c:v>
                </c:pt>
              </c:numCache>
            </c:numRef>
          </c:val>
        </c:ser>
        <c:dLbls>
          <c:numFmt formatCode="0.0%" sourceLinked="0"/>
          <c:txPr>
            <a:bodyPr/>
            <a:lstStyle/>
            <a:p>
              <a:pPr>
                <a:defRPr b="0" i="0" strike="noStrike" sz="1200" u="none">
                  <a:solidFill>
                    <a:srgbClr val="1B1F24"/>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5B6573"/>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5B657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MRR retenido</c:v>
                </c:pt>
              </c:strCache>
            </c:strRef>
          </c:tx>
          <c:spPr>
            <a:solidFill>
              <a:srgbClr val="EB6834"/>
            </a:solidFill>
            <a:effectLst/>
          </c:spPr>
          <c:invertIfNegative val="0"/>
          <c:dLbls>
            <c:numFmt formatCode="0.0%" sourceLinked="0"/>
            <c:txPr>
              <a:bodyPr/>
              <a:lstStyle/>
              <a:p>
                <a:pPr>
                  <a:defRPr b="0" i="0" strike="noStrike" sz="1200" u="none">
                    <a:solidFill>
                      <a:srgbClr val="1B1F24"/>
                    </a:solidFill>
                    <a:latin typeface="+mn-lt"/>
                  </a:defRPr>
                </a:pPr>
              </a:p>
            </c:txPr>
            <c:showLegendKey val="0"/>
            <c:showVal val="1"/>
            <c:showCatName val="0"/>
            <c:showSerName val="0"/>
            <c:showPercent val="0"/>
            <c:showBubbleSize val="0"/>
            <c:showLeaderLines val="0"/>
          </c:dLbls>
          <c:dPt>
            <c:idx val="0"/>
            <c:invertIfNegative val="0"/>
            <c:bubble3D val="0"/>
            <c:spPr>
              <a:solidFill>
                <a:srgbClr val="EB6834"/>
              </a:solidFill>
              <a:effectLst/>
            </c:spPr>
          </c:dPt>
          <c:dPt>
            <c:idx val="1"/>
            <c:invertIfNegative val="0"/>
            <c:bubble3D val="0"/>
            <c:spPr>
              <a:solidFill>
                <a:srgbClr val="EB6834"/>
              </a:solidFill>
              <a:effectLst/>
            </c:spPr>
          </c:dPt>
          <c:dPt>
            <c:idx val="2"/>
            <c:invertIfNegative val="0"/>
            <c:bubble3D val="0"/>
            <c:spPr>
              <a:solidFill>
                <a:srgbClr val="EB6834"/>
              </a:solidFill>
              <a:effectLst/>
            </c:spPr>
          </c:dPt>
          <c:dPt>
            <c:idx val="3"/>
            <c:invertIfNegative val="0"/>
            <c:bubble3D val="0"/>
            <c:spPr>
              <a:solidFill>
                <a:srgbClr val="EB6834"/>
              </a:solidFill>
              <a:effectLst/>
            </c:spPr>
          </c:dPt>
          <c:dPt>
            <c:idx val="4"/>
            <c:invertIfNegative val="0"/>
            <c:bubble3D val="0"/>
            <c:spPr>
              <a:solidFill>
                <a:srgbClr val="2A78D6"/>
              </a:solidFill>
              <a:effectLst/>
            </c:spPr>
          </c:dPt>
          <c:cat>
            <c:multiLvlStrRef>
              <c:f>Sheet1!$A$2:$A$6</c:f>
              <c:multiLvlStrCache>
                <c:ptCount val="5"/>
                <c:lvl>
                  <c:pt idx="0">
                    <c:v>0–6 m</c:v>
                  </c:pt>
                  <c:pt idx="1">
                    <c:v>7–12 m</c:v>
                  </c:pt>
                  <c:pt idx="2">
                    <c:v>13–24 m</c:v>
                  </c:pt>
                  <c:pt idx="3">
                    <c:v>25–48 m</c:v>
                  </c:pt>
                  <c:pt idx="4">
                    <c:v>49–72 m</c:v>
                  </c:pt>
                </c:lvl>
              </c:multiLvlStrCache>
            </c:multiLvlStrRef>
          </c:cat>
          <c:val>
            <c:numRef>
              <c:f>Sheet1!$B$2:$B$6</c:f>
              <c:numCache>
                <c:formatCode>General</c:formatCode>
                <c:ptCount val="5"/>
                <c:pt idx="0">
                  <c:v>0.38449999999999995</c:v>
                </c:pt>
                <c:pt idx="1">
                  <c:v>0.5415</c:v>
                </c:pt>
                <c:pt idx="2">
                  <c:v>0.6326</c:v>
                </c:pt>
                <c:pt idx="3">
                  <c:v>0.7387</c:v>
                </c:pt>
                <c:pt idx="4">
                  <c:v>0.8814</c:v>
                </c:pt>
              </c:numCache>
            </c:numRef>
          </c:val>
        </c:ser>
        <c:dLbls>
          <c:numFmt formatCode="0.0%" sourceLinked="0"/>
          <c:txPr>
            <a:bodyPr/>
            <a:lstStyle/>
            <a:p>
              <a:pPr>
                <a:defRPr b="0" i="0" strike="noStrike" sz="1200" u="none">
                  <a:solidFill>
                    <a:srgbClr val="1B1F24"/>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5B6573"/>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5B657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de clientes</c:v>
                </c:pt>
              </c:strCache>
            </c:strRef>
          </c:tx>
          <c:spPr>
            <a:solidFill>
              <a:srgbClr val="A9B6C6"/>
            </a:solidFill>
            <a:effectLst/>
          </c:spPr>
          <c:invertIfNegative val="0"/>
          <c:dLbls>
            <c:numFmt formatCode="0%" sourceLinked="0"/>
            <c:txPr>
              <a:bodyPr/>
              <a:lstStyle/>
              <a:p>
                <a:pPr>
                  <a:defRPr b="0" i="0" strike="noStrike" sz="1200" u="none">
                    <a:solidFill>
                      <a:srgbClr val="1B1F24"/>
                    </a:solidFill>
                    <a:latin typeface="+mn-lt"/>
                  </a:defRPr>
                </a:pPr>
              </a:p>
            </c:txPr>
            <c:showLegendKey val="0"/>
            <c:showVal val="1"/>
            <c:showCatName val="0"/>
            <c:showSerName val="0"/>
            <c:showPercent val="0"/>
            <c:showBubbleSize val="0"/>
            <c:showLeaderLines val="0"/>
          </c:dLbls>
          <c:cat>
            <c:multiLvlStrRef>
              <c:f>Sheet1!$A$2:$A$7</c:f>
              <c:multiLvlStrCache>
                <c:ptCount val="6"/>
                <c:lvl>
                  <c:pt idx="0">
                    <c:v>Mes a mes · Fibra óptica</c:v>
                  </c:pt>
                  <c:pt idx="1">
                    <c:v>Mes a mes · DSL</c:v>
                  </c:pt>
                  <c:pt idx="2">
                    <c:v>Un año · Fibra óptica</c:v>
                  </c:pt>
                  <c:pt idx="3">
                    <c:v>Un año · DSL</c:v>
                  </c:pt>
                  <c:pt idx="4">
                    <c:v>Dos años · Fibra óptica</c:v>
                  </c:pt>
                  <c:pt idx="5">
                    <c:v>Resto (4 segmentos)</c:v>
                  </c:pt>
                </c:lvl>
              </c:multiLvlStrCache>
            </c:multiLvlStrRef>
          </c:cat>
          <c:val>
            <c:numRef>
              <c:f>Sheet1!$B$2:$B$7</c:f>
              <c:numCache>
                <c:formatCode>General</c:formatCode>
                <c:ptCount val="6"/>
                <c:pt idx="0">
                  <c:v>0.3021</c:v>
                </c:pt>
                <c:pt idx="1">
                  <c:v>0.1736</c:v>
                </c:pt>
                <c:pt idx="2">
                  <c:v>0.0765</c:v>
                </c:pt>
                <c:pt idx="3">
                  <c:v>0.0809</c:v>
                </c:pt>
                <c:pt idx="4">
                  <c:v>0.0609</c:v>
                </c:pt>
                <c:pt idx="5">
                  <c:v>0.3059</c:v>
                </c:pt>
              </c:numCache>
            </c:numRef>
          </c:val>
        </c:ser>
        <c:ser>
          <c:idx val="1"/>
          <c:order val="1"/>
          <c:tx>
            <c:strRef>
              <c:f>Sheet1!$C$1</c:f>
              <c:strCache>
                <c:ptCount val="1"/>
                <c:pt idx="0">
                  <c:v>% del MRR perdido</c:v>
                </c:pt>
              </c:strCache>
            </c:strRef>
          </c:tx>
          <c:spPr>
            <a:solidFill>
              <a:srgbClr val="EB6834"/>
            </a:solidFill>
            <a:effectLst/>
          </c:spPr>
          <c:invertIfNegative val="0"/>
          <c:dLbls>
            <c:numFmt formatCode="0%" sourceLinked="0"/>
            <c:txPr>
              <a:bodyPr/>
              <a:lstStyle/>
              <a:p>
                <a:pPr>
                  <a:defRPr b="0" i="0" strike="noStrike" sz="1200" u="none">
                    <a:solidFill>
                      <a:srgbClr val="1B1F24"/>
                    </a:solidFill>
                    <a:latin typeface="+mn-lt"/>
                  </a:defRPr>
                </a:pPr>
              </a:p>
            </c:txPr>
            <c:showLegendKey val="0"/>
            <c:showVal val="1"/>
            <c:showCatName val="0"/>
            <c:showSerName val="0"/>
            <c:showPercent val="0"/>
            <c:showBubbleSize val="0"/>
            <c:showLeaderLines val="0"/>
          </c:dLbls>
          <c:cat>
            <c:multiLvlStrRef>
              <c:f>Sheet1!$A$2:$A$7</c:f>
              <c:multiLvlStrCache>
                <c:ptCount val="6"/>
                <c:lvl>
                  <c:pt idx="0">
                    <c:v>Mes a mes · Fibra óptica</c:v>
                  </c:pt>
                  <c:pt idx="1">
                    <c:v>Mes a mes · DSL</c:v>
                  </c:pt>
                  <c:pt idx="2">
                    <c:v>Un año · Fibra óptica</c:v>
                  </c:pt>
                  <c:pt idx="3">
                    <c:v>Un año · DSL</c:v>
                  </c:pt>
                  <c:pt idx="4">
                    <c:v>Dos años · Fibra óptica</c:v>
                  </c:pt>
                  <c:pt idx="5">
                    <c:v>Resto (4 segmentos)</c:v>
                  </c:pt>
                </c:lvl>
              </c:multiLvlStrCache>
            </c:multiLvlStrRef>
          </c:cat>
          <c:val>
            <c:numRef>
              <c:f>Sheet1!$C$2:$C$7</c:f>
              <c:numCache>
                <c:formatCode>General</c:formatCode>
                <c:ptCount val="6"/>
                <c:pt idx="0">
                  <c:v>0.7222</c:v>
                </c:pt>
                <c:pt idx="1">
                  <c:v>0.132</c:v>
                </c:pt>
                <c:pt idx="2">
                  <c:v>0.076</c:v>
                </c:pt>
                <c:pt idx="3">
                  <c:v>0.0241</c:v>
                </c:pt>
                <c:pt idx="4">
                  <c:v>0.0233</c:v>
                </c:pt>
                <c:pt idx="5">
                  <c:v>0.022399999999999996</c:v>
                </c:pt>
              </c:numCache>
            </c:numRef>
          </c:val>
        </c:ser>
        <c:dLbls>
          <c:numFmt formatCode="0%" sourceLinked="0"/>
          <c:txPr>
            <a:bodyPr/>
            <a:lstStyle/>
            <a:p>
              <a:pPr>
                <a:defRPr b="0" i="0" strike="noStrike" sz="1200" u="none">
                  <a:solidFill>
                    <a:srgbClr val="1B1F24"/>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5B6573"/>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B6573"/>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1B1F2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Servicio de internet</c:v>
                </c:pt>
              </c:strCache>
            </c:strRef>
          </c:tx>
          <c:spPr>
            <a:solidFill>
              <a:srgbClr val="EB6834"/>
            </a:solidFill>
            <a:effectLst/>
          </c:spPr>
          <c:invertIfNegative val="0"/>
          <c:dLbls>
            <c:numFmt formatCode="0.0%" sourceLinked="0"/>
            <c:txPr>
              <a:bodyPr/>
              <a:lstStyle/>
              <a:p>
                <a:pPr>
                  <a:defRPr b="0" i="0" strike="noStrike" sz="1200" u="none">
                    <a:solidFill>
                      <a:srgbClr val="1B1F24"/>
                    </a:solidFill>
                    <a:latin typeface="+mn-lt"/>
                  </a:defRPr>
                </a:pPr>
              </a:p>
            </c:txPr>
            <c:showLegendKey val="0"/>
            <c:showVal val="1"/>
            <c:showCatName val="0"/>
            <c:showSerName val="0"/>
            <c:showPercent val="0"/>
            <c:showBubbleSize val="0"/>
            <c:showLeaderLines val="0"/>
          </c:dLbls>
          <c:dPt>
            <c:idx val="0"/>
            <c:invertIfNegative val="0"/>
            <c:bubble3D val="0"/>
            <c:spPr>
              <a:solidFill>
                <a:srgbClr val="EB6834"/>
              </a:solidFill>
              <a:effectLst/>
            </c:spPr>
          </c:dPt>
          <c:dPt>
            <c:idx val="1"/>
            <c:invertIfNegative val="0"/>
            <c:bubble3D val="0"/>
            <c:spPr>
              <a:solidFill>
                <a:srgbClr val="A9B6C6"/>
              </a:solidFill>
              <a:effectLst/>
            </c:spPr>
          </c:dPt>
          <c:dPt>
            <c:idx val="2"/>
            <c:invertIfNegative val="0"/>
            <c:bubble3D val="0"/>
            <c:spPr>
              <a:solidFill>
                <a:srgbClr val="A9B6C6"/>
              </a:solidFill>
              <a:effectLst/>
            </c:spPr>
          </c:dPt>
          <c:cat>
            <c:multiLvlStrRef>
              <c:f>Sheet1!$A$2:$A$4</c:f>
              <c:multiLvlStrCache>
                <c:ptCount val="3"/>
                <c:lvl>
                  <c:pt idx="0">
                    <c:v>Fibra óptica</c:v>
                  </c:pt>
                  <c:pt idx="1">
                    <c:v>DSL</c:v>
                  </c:pt>
                  <c:pt idx="2">
                    <c:v>Sin internet</c:v>
                  </c:pt>
                </c:lvl>
              </c:multiLvlStrCache>
            </c:multiLvlStrRef>
          </c:cat>
          <c:val>
            <c:numRef>
              <c:f>Sheet1!$B$2:$B$4</c:f>
              <c:numCache>
                <c:formatCode>General</c:formatCode>
                <c:ptCount val="3"/>
                <c:pt idx="0">
                  <c:v>0.4189</c:v>
                </c:pt>
                <c:pt idx="1">
                  <c:v>0.1896</c:v>
                </c:pt>
                <c:pt idx="2">
                  <c:v>0.074</c:v>
                </c:pt>
              </c:numCache>
            </c:numRef>
          </c:val>
        </c:ser>
        <c:dLbls>
          <c:numFmt formatCode="0.0%" sourceLinked="0"/>
          <c:txPr>
            <a:bodyPr/>
            <a:lstStyle/>
            <a:p>
              <a:pPr>
                <a:defRPr b="0" i="0" strike="noStrike" sz="1200" u="none">
                  <a:solidFill>
                    <a:srgbClr val="1B1F24"/>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B6573"/>
                </a:solidFill>
                <a:latin typeface="+mn-lt"/>
              </a:defRPr>
            </a:pPr>
            <a:endParaRPr lang="en-US"/>
          </a:p>
        </c:txPr>
        <c:crossAx val="2094734552"/>
        <c:crosses val="autoZero"/>
        <c:auto val="1"/>
        <c:lblAlgn val="ctr"/>
        <c:noMultiLvlLbl val="1"/>
      </c:catAx>
      <c:valAx>
        <c:axId val="2094734552"/>
        <c:scaling>
          <c:orientation val="minMax"/>
          <c:max val="0.55"/>
          <c:min val="0"/>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5B657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Método de pago</c:v>
                </c:pt>
              </c:strCache>
            </c:strRef>
          </c:tx>
          <c:spPr>
            <a:solidFill>
              <a:srgbClr val="EB6834"/>
            </a:solidFill>
            <a:effectLst/>
          </c:spPr>
          <c:invertIfNegative val="0"/>
          <c:dLbls>
            <c:numFmt formatCode="0.0%" sourceLinked="0"/>
            <c:txPr>
              <a:bodyPr/>
              <a:lstStyle/>
              <a:p>
                <a:pPr>
                  <a:defRPr b="0" i="0" strike="noStrike" sz="1200" u="none">
                    <a:solidFill>
                      <a:srgbClr val="1B1F24"/>
                    </a:solidFill>
                    <a:latin typeface="+mn-lt"/>
                  </a:defRPr>
                </a:pPr>
              </a:p>
            </c:txPr>
            <c:showLegendKey val="0"/>
            <c:showVal val="1"/>
            <c:showCatName val="0"/>
            <c:showSerName val="0"/>
            <c:showPercent val="0"/>
            <c:showBubbleSize val="0"/>
            <c:showLeaderLines val="0"/>
          </c:dLbls>
          <c:dPt>
            <c:idx val="0"/>
            <c:invertIfNegative val="0"/>
            <c:bubble3D val="0"/>
            <c:spPr>
              <a:solidFill>
                <a:srgbClr val="EB6834"/>
              </a:solidFill>
              <a:effectLst/>
            </c:spPr>
          </c:dPt>
          <c:dPt>
            <c:idx val="1"/>
            <c:invertIfNegative val="0"/>
            <c:bubble3D val="0"/>
            <c:spPr>
              <a:solidFill>
                <a:srgbClr val="A9B6C6"/>
              </a:solidFill>
              <a:effectLst/>
            </c:spPr>
          </c:dPt>
          <c:dPt>
            <c:idx val="2"/>
            <c:invertIfNegative val="0"/>
            <c:bubble3D val="0"/>
            <c:spPr>
              <a:solidFill>
                <a:srgbClr val="A9B6C6"/>
              </a:solidFill>
              <a:effectLst/>
            </c:spPr>
          </c:dPt>
          <c:dPt>
            <c:idx val="3"/>
            <c:invertIfNegative val="0"/>
            <c:bubble3D val="0"/>
            <c:spPr>
              <a:solidFill>
                <a:srgbClr val="A9B6C6"/>
              </a:solidFill>
              <a:effectLst/>
            </c:spPr>
          </c:dPt>
          <c:cat>
            <c:multiLvlStrRef>
              <c:f>Sheet1!$A$2:$A$5</c:f>
              <c:multiLvlStrCache>
                <c:ptCount val="4"/>
                <c:lvl>
                  <c:pt idx="0">
                    <c:v>Cheque electrónico</c:v>
                  </c:pt>
                  <c:pt idx="1">
                    <c:v>Cheque por correo</c:v>
                  </c:pt>
                  <c:pt idx="2">
                    <c:v>Transferencia (aut.)</c:v>
                  </c:pt>
                  <c:pt idx="3">
                    <c:v>Tarjeta (aut.)</c:v>
                  </c:pt>
                </c:lvl>
              </c:multiLvlStrCache>
            </c:multiLvlStrRef>
          </c:cat>
          <c:val>
            <c:numRef>
              <c:f>Sheet1!$B$2:$B$5</c:f>
              <c:numCache>
                <c:formatCode>General</c:formatCode>
                <c:ptCount val="4"/>
                <c:pt idx="0">
                  <c:v>0.4529</c:v>
                </c:pt>
                <c:pt idx="1">
                  <c:v>0.1911</c:v>
                </c:pt>
                <c:pt idx="2">
                  <c:v>0.1671</c:v>
                </c:pt>
                <c:pt idx="3">
                  <c:v>0.1524</c:v>
                </c:pt>
              </c:numCache>
            </c:numRef>
          </c:val>
        </c:ser>
        <c:dLbls>
          <c:numFmt formatCode="0.0%" sourceLinked="0"/>
          <c:txPr>
            <a:bodyPr/>
            <a:lstStyle/>
            <a:p>
              <a:pPr>
                <a:defRPr b="0" i="0" strike="noStrike" sz="1200" u="none">
                  <a:solidFill>
                    <a:srgbClr val="1B1F24"/>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B6573"/>
                </a:solidFill>
                <a:latin typeface="+mn-lt"/>
              </a:defRPr>
            </a:pPr>
            <a:endParaRPr lang="en-US"/>
          </a:p>
        </c:txPr>
        <c:crossAx val="2094734552"/>
        <c:crosses val="autoZero"/>
        <c:auto val="1"/>
        <c:lblAlgn val="ctr"/>
        <c:noMultiLvlLbl val="1"/>
      </c:catAx>
      <c:valAx>
        <c:axId val="2094734552"/>
        <c:scaling>
          <c:orientation val="minMax"/>
          <c:max val="0.55"/>
          <c:min val="0"/>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5B657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Protección (clientes con internet)</c:v>
                </c:pt>
              </c:strCache>
            </c:strRef>
          </c:tx>
          <c:spPr>
            <a:solidFill>
              <a:srgbClr val="EB6834"/>
            </a:solidFill>
            <a:effectLst/>
          </c:spPr>
          <c:invertIfNegative val="0"/>
          <c:dLbls>
            <c:numFmt formatCode="0.0%" sourceLinked="0"/>
            <c:txPr>
              <a:bodyPr/>
              <a:lstStyle/>
              <a:p>
                <a:pPr>
                  <a:defRPr b="0" i="0" strike="noStrike" sz="1200" u="none">
                    <a:solidFill>
                      <a:srgbClr val="1B1F24"/>
                    </a:solidFill>
                    <a:latin typeface="+mn-lt"/>
                  </a:defRPr>
                </a:pPr>
              </a:p>
            </c:txPr>
            <c:showLegendKey val="0"/>
            <c:showVal val="1"/>
            <c:showCatName val="0"/>
            <c:showSerName val="0"/>
            <c:showPercent val="0"/>
            <c:showBubbleSize val="0"/>
            <c:showLeaderLines val="0"/>
          </c:dLbls>
          <c:dPt>
            <c:idx val="0"/>
            <c:invertIfNegative val="0"/>
            <c:bubble3D val="0"/>
            <c:spPr>
              <a:solidFill>
                <a:srgbClr val="EB6834"/>
              </a:solidFill>
              <a:effectLst/>
            </c:spPr>
          </c:dPt>
          <c:dPt>
            <c:idx val="1"/>
            <c:invertIfNegative val="0"/>
            <c:bubble3D val="0"/>
            <c:spPr>
              <a:solidFill>
                <a:srgbClr val="A9B6C6"/>
              </a:solidFill>
              <a:effectLst/>
            </c:spPr>
          </c:dPt>
          <c:cat>
            <c:multiLvlStrRef>
              <c:f>Sheet1!$A$2:$A$3</c:f>
              <c:multiLvlStrCache>
                <c:ptCount val="2"/>
                <c:lvl>
                  <c:pt idx="0">
                    <c:v>Sin protección</c:v>
                  </c:pt>
                  <c:pt idx="1">
                    <c:v>Con protección</c:v>
                  </c:pt>
                </c:lvl>
              </c:multiLvlStrCache>
            </c:multiLvlStrRef>
          </c:cat>
          <c:val>
            <c:numRef>
              <c:f>Sheet1!$B$2:$B$3</c:f>
              <c:numCache>
                <c:formatCode>General</c:formatCode>
                <c:ptCount val="2"/>
                <c:pt idx="0">
                  <c:v>0.4896</c:v>
                </c:pt>
                <c:pt idx="1">
                  <c:v>0.1707</c:v>
                </c:pt>
              </c:numCache>
            </c:numRef>
          </c:val>
        </c:ser>
        <c:dLbls>
          <c:numFmt formatCode="0.0%" sourceLinked="0"/>
          <c:txPr>
            <a:bodyPr/>
            <a:lstStyle/>
            <a:p>
              <a:pPr>
                <a:defRPr b="0" i="0" strike="noStrike" sz="1200" u="none">
                  <a:solidFill>
                    <a:srgbClr val="1B1F24"/>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B6573"/>
                </a:solidFill>
                <a:latin typeface="+mn-lt"/>
              </a:defRPr>
            </a:pPr>
            <a:endParaRPr lang="en-US"/>
          </a:p>
        </c:txPr>
        <c:crossAx val="2094734552"/>
        <c:crosses val="autoZero"/>
        <c:auto val="1"/>
        <c:lblAlgn val="ctr"/>
        <c:noMultiLvlLbl val="1"/>
      </c:catAx>
      <c:valAx>
        <c:axId val="2094734552"/>
        <c:scaling>
          <c:orientation val="minMax"/>
          <c:max val="0.55"/>
          <c:min val="0"/>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5B657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Odds ratio</c:v>
                </c:pt>
              </c:strCache>
            </c:strRef>
          </c:tx>
          <c:spPr>
            <a:solidFill>
              <a:srgbClr val="EB6834"/>
            </a:solidFill>
            <a:effectLst/>
          </c:spPr>
          <c:invertIfNegative val="0"/>
          <c:dLbls>
            <c:numFmt formatCode="0.00" sourceLinked="0"/>
            <c:txPr>
              <a:bodyPr/>
              <a:lstStyle/>
              <a:p>
                <a:pPr>
                  <a:defRPr b="0" i="0" strike="noStrike" sz="1100" u="none">
                    <a:solidFill>
                      <a:srgbClr val="1B1F24"/>
                    </a:solidFill>
                    <a:latin typeface="+mn-lt"/>
                  </a:defRPr>
                </a:pPr>
              </a:p>
            </c:txPr>
            <c:showLegendKey val="0"/>
            <c:showVal val="1"/>
            <c:showCatName val="0"/>
            <c:showSerName val="0"/>
            <c:showPercent val="0"/>
            <c:showBubbleSize val="0"/>
            <c:showLeaderLines val="0"/>
          </c:dLbls>
          <c:dPt>
            <c:idx val="0"/>
            <c:invertIfNegative val="0"/>
            <c:bubble3D val="0"/>
            <c:spPr>
              <a:solidFill>
                <a:srgbClr val="EB6834"/>
              </a:solidFill>
              <a:effectLst/>
            </c:spPr>
          </c:dPt>
          <c:dPt>
            <c:idx val="1"/>
            <c:invertIfNegative val="0"/>
            <c:bubble3D val="0"/>
            <c:spPr>
              <a:solidFill>
                <a:srgbClr val="EB6834"/>
              </a:solidFill>
              <a:effectLst/>
            </c:spPr>
          </c:dPt>
          <c:dPt>
            <c:idx val="2"/>
            <c:invertIfNegative val="0"/>
            <c:bubble3D val="0"/>
            <c:spPr>
              <a:solidFill>
                <a:srgbClr val="EB6834"/>
              </a:solidFill>
              <a:effectLst/>
            </c:spPr>
          </c:dPt>
          <c:dPt>
            <c:idx val="3"/>
            <c:invertIfNegative val="0"/>
            <c:bubble3D val="0"/>
            <c:spPr>
              <a:solidFill>
                <a:srgbClr val="EB6834"/>
              </a:solidFill>
              <a:effectLst/>
            </c:spPr>
          </c:dPt>
          <c:dPt>
            <c:idx val="4"/>
            <c:invertIfNegative val="0"/>
            <c:bubble3D val="0"/>
            <c:spPr>
              <a:solidFill>
                <a:srgbClr val="EB6834"/>
              </a:solidFill>
              <a:effectLst/>
            </c:spPr>
          </c:dPt>
          <c:dPt>
            <c:idx val="5"/>
            <c:invertIfNegative val="0"/>
            <c:bubble3D val="0"/>
            <c:spPr>
              <a:solidFill>
                <a:srgbClr val="EB6834"/>
              </a:solidFill>
              <a:effectLst/>
            </c:spPr>
          </c:dPt>
          <c:dPt>
            <c:idx val="6"/>
            <c:invertIfNegative val="0"/>
            <c:bubble3D val="0"/>
            <c:spPr>
              <a:solidFill>
                <a:srgbClr val="EB6834"/>
              </a:solidFill>
              <a:effectLst/>
            </c:spPr>
          </c:dPt>
          <c:dPt>
            <c:idx val="7"/>
            <c:invertIfNegative val="0"/>
            <c:bubble3D val="0"/>
            <c:spPr>
              <a:solidFill>
                <a:srgbClr val="EB6834"/>
              </a:solidFill>
              <a:effectLst/>
            </c:spPr>
          </c:dPt>
          <c:dPt>
            <c:idx val="8"/>
            <c:invertIfNegative val="0"/>
            <c:bubble3D val="0"/>
            <c:spPr>
              <a:solidFill>
                <a:srgbClr val="EB6834"/>
              </a:solidFill>
              <a:effectLst/>
            </c:spPr>
          </c:dPt>
          <c:dPt>
            <c:idx val="9"/>
            <c:invertIfNegative val="0"/>
            <c:bubble3D val="0"/>
            <c:spPr>
              <a:solidFill>
                <a:srgbClr val="EB6834"/>
              </a:solidFill>
              <a:effectLst/>
            </c:spPr>
          </c:dPt>
          <c:dPt>
            <c:idx val="10"/>
            <c:invertIfNegative val="0"/>
            <c:bubble3D val="0"/>
            <c:spPr>
              <a:solidFill>
                <a:srgbClr val="EB6834"/>
              </a:solidFill>
              <a:effectLst/>
            </c:spPr>
          </c:dPt>
          <c:dPt>
            <c:idx val="11"/>
            <c:invertIfNegative val="0"/>
            <c:bubble3D val="0"/>
            <c:spPr>
              <a:solidFill>
                <a:srgbClr val="2A78D6"/>
              </a:solidFill>
              <a:effectLst/>
            </c:spPr>
          </c:dPt>
          <c:dPt>
            <c:idx val="12"/>
            <c:invertIfNegative val="0"/>
            <c:bubble3D val="0"/>
            <c:spPr>
              <a:solidFill>
                <a:srgbClr val="2A78D6"/>
              </a:solidFill>
              <a:effectLst/>
            </c:spPr>
          </c:dPt>
          <c:dPt>
            <c:idx val="13"/>
            <c:invertIfNegative val="0"/>
            <c:bubble3D val="0"/>
            <c:spPr>
              <a:solidFill>
                <a:srgbClr val="2A78D6"/>
              </a:solidFill>
              <a:effectLst/>
            </c:spPr>
          </c:dPt>
          <c:dPt>
            <c:idx val="14"/>
            <c:invertIfNegative val="0"/>
            <c:bubble3D val="0"/>
            <c:spPr>
              <a:solidFill>
                <a:srgbClr val="2A78D6"/>
              </a:solidFill>
              <a:effectLst/>
            </c:spPr>
          </c:dPt>
          <c:dPt>
            <c:idx val="15"/>
            <c:invertIfNegative val="0"/>
            <c:bubble3D val="0"/>
            <c:spPr>
              <a:solidFill>
                <a:srgbClr val="2A78D6"/>
              </a:solidFill>
              <a:effectLst/>
            </c:spPr>
          </c:dPt>
          <c:dPt>
            <c:idx val="16"/>
            <c:invertIfNegative val="0"/>
            <c:bubble3D val="0"/>
            <c:spPr>
              <a:solidFill>
                <a:srgbClr val="2A78D6"/>
              </a:solidFill>
              <a:effectLst/>
            </c:spPr>
          </c:dPt>
          <c:cat>
            <c:multiLvlStrRef>
              <c:f>Sheet1!$A$2:$A$18</c:f>
              <c:multiLvlStrCache>
                <c:ptCount val="17"/>
                <c:lvl>
                  <c:pt idx="0">
                    <c:v>Antigüedad 0–6 m</c:v>
                  </c:pt>
                  <c:pt idx="1">
                    <c:v>Antigüedad 7–12 m</c:v>
                  </c:pt>
                  <c:pt idx="2">
                    <c:v>Fibra óptica</c:v>
                  </c:pt>
                  <c:pt idx="3">
                    <c:v>Antigüedad 13–24 m</c:v>
                  </c:pt>
                  <c:pt idx="4">
                    <c:v>Antigüedad 25–48 m</c:v>
                  </c:pt>
                  <c:pt idx="5">
                    <c:v>Cheque electrónico</c:v>
                  </c:pt>
                  <c:pt idx="6">
                    <c:v>Factura electrónica</c:v>
                  </c:pt>
                  <c:pt idx="7">
                    <c:v>Streaming películas</c:v>
                  </c:pt>
                  <c:pt idx="8">
                    <c:v>Streaming TV</c:v>
                  </c:pt>
                  <c:pt idx="9">
                    <c:v>Líneas múltiples</c:v>
                  </c:pt>
                  <c:pt idx="10">
                    <c:v>Adulto mayor</c:v>
                  </c:pt>
                  <c:pt idx="11">
                    <c:v>Backup online</c:v>
                  </c:pt>
                  <c:pt idx="12">
                    <c:v>Soporte técnico</c:v>
                  </c:pt>
                  <c:pt idx="13">
                    <c:v>Seguridad online</c:v>
                  </c:pt>
                  <c:pt idx="14">
                    <c:v>Contrato un año</c:v>
                  </c:pt>
                  <c:pt idx="15">
                    <c:v>Sin internet</c:v>
                  </c:pt>
                  <c:pt idx="16">
                    <c:v>Contrato dos años</c:v>
                  </c:pt>
                </c:lvl>
              </c:multiLvlStrCache>
            </c:multiLvlStrRef>
          </c:cat>
          <c:val>
            <c:numRef>
              <c:f>Sheet1!$B$2:$B$18</c:f>
              <c:numCache>
                <c:formatCode>General</c:formatCode>
                <c:ptCount val="17"/>
                <c:pt idx="0">
                  <c:v>6.8988</c:v>
                </c:pt>
                <c:pt idx="1">
                  <c:v>2.9286</c:v>
                </c:pt>
                <c:pt idx="2">
                  <c:v>2.134</c:v>
                </c:pt>
                <c:pt idx="3">
                  <c:v>2.0902</c:v>
                </c:pt>
                <c:pt idx="4">
                  <c:v>1.4431</c:v>
                </c:pt>
                <c:pt idx="5">
                  <c:v>1.4211</c:v>
                </c:pt>
                <c:pt idx="6">
                  <c:v>1.4202</c:v>
                </c:pt>
                <c:pt idx="7">
                  <c:v>1.368</c:v>
                </c:pt>
                <c:pt idx="8">
                  <c:v>1.3393</c:v>
                </c:pt>
                <c:pt idx="9">
                  <c:v>1.288</c:v>
                </c:pt>
                <c:pt idx="10">
                  <c:v>1.2668</c:v>
                </c:pt>
                <c:pt idx="11">
                  <c:v>0.8518</c:v>
                </c:pt>
                <c:pt idx="12">
                  <c:v>0.7174</c:v>
                </c:pt>
                <c:pt idx="13">
                  <c:v>0.6949</c:v>
                </c:pt>
                <c:pt idx="14">
                  <c:v>0.4689</c:v>
                </c:pt>
                <c:pt idx="15">
                  <c:v>0.375</c:v>
                </c:pt>
                <c:pt idx="16">
                  <c:v>0.1751</c:v>
                </c:pt>
              </c:numCache>
            </c:numRef>
          </c:val>
        </c:ser>
        <c:dLbls>
          <c:numFmt formatCode="0.00" sourceLinked="0"/>
          <c:txPr>
            <a:bodyPr/>
            <a:lstStyle/>
            <a:p>
              <a:pPr>
                <a:defRPr b="0" i="0" strike="noStrike" sz="1100" u="none">
                  <a:solidFill>
                    <a:srgbClr val="1B1F24"/>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5B6573"/>
                </a:solidFill>
                <a:latin typeface="+mn-lt"/>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B657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de clientes activos</c:v>
                </c:pt>
              </c:strCache>
            </c:strRef>
          </c:tx>
          <c:spPr>
            <a:solidFill>
              <a:srgbClr val="A9B6C6"/>
            </a:solidFill>
            <a:effectLst/>
          </c:spPr>
          <c:invertIfNegative val="0"/>
          <c:dLbls>
            <c:numFmt formatCode="0%" sourceLinked="0"/>
            <c:txPr>
              <a:bodyPr/>
              <a:lstStyle/>
              <a:p>
                <a:pPr>
                  <a:defRPr b="0" i="0" strike="noStrike" sz="1200" u="none">
                    <a:solidFill>
                      <a:srgbClr val="1B1F24"/>
                    </a:solidFill>
                    <a:latin typeface="+mn-lt"/>
                  </a:defRPr>
                </a:pPr>
              </a:p>
            </c:txPr>
            <c:showLegendKey val="0"/>
            <c:showVal val="1"/>
            <c:showCatName val="0"/>
            <c:showSerName val="0"/>
            <c:showPercent val="0"/>
            <c:showBubbleSize val="0"/>
            <c:showLeaderLines val="0"/>
          </c:dLbls>
          <c:cat>
            <c:multiLvlStrRef>
              <c:f>Sheet1!$A$2:$A$4</c:f>
              <c:multiLvlStrCache>
                <c:ptCount val="3"/>
                <c:lvl>
                  <c:pt idx="0">
                    <c:v>Riesgo alto</c:v>
                  </c:pt>
                  <c:pt idx="1">
                    <c:v>Riesgo medio</c:v>
                  </c:pt>
                  <c:pt idx="2">
                    <c:v>Riesgo bajo</c:v>
                  </c:pt>
                </c:lvl>
              </c:multiLvlStrCache>
            </c:multiLvlStrRef>
          </c:cat>
          <c:val>
            <c:numRef>
              <c:f>Sheet1!$B$2:$B$4</c:f>
              <c:numCache>
                <c:formatCode>General</c:formatCode>
                <c:ptCount val="3"/>
                <c:pt idx="0">
                  <c:v>0.1585</c:v>
                </c:pt>
                <c:pt idx="1">
                  <c:v>0.1879</c:v>
                </c:pt>
                <c:pt idx="2">
                  <c:v>0.6537</c:v>
                </c:pt>
              </c:numCache>
            </c:numRef>
          </c:val>
        </c:ser>
        <c:ser>
          <c:idx val="1"/>
          <c:order val="1"/>
          <c:tx>
            <c:strRef>
              <c:f>Sheet1!$C$1</c:f>
              <c:strCache>
                <c:ptCount val="1"/>
                <c:pt idx="0">
                  <c:v>% del MRR en riesgo</c:v>
                </c:pt>
              </c:strCache>
            </c:strRef>
          </c:tx>
          <c:spPr>
            <a:solidFill>
              <a:srgbClr val="EB6834"/>
            </a:solidFill>
            <a:effectLst/>
          </c:spPr>
          <c:invertIfNegative val="0"/>
          <c:dLbls>
            <c:numFmt formatCode="0%" sourceLinked="0"/>
            <c:txPr>
              <a:bodyPr/>
              <a:lstStyle/>
              <a:p>
                <a:pPr>
                  <a:defRPr b="0" i="0" strike="noStrike" sz="1200" u="none">
                    <a:solidFill>
                      <a:srgbClr val="1B1F24"/>
                    </a:solidFill>
                    <a:latin typeface="+mn-lt"/>
                  </a:defRPr>
                </a:pPr>
              </a:p>
            </c:txPr>
            <c:showLegendKey val="0"/>
            <c:showVal val="1"/>
            <c:showCatName val="0"/>
            <c:showSerName val="0"/>
            <c:showPercent val="0"/>
            <c:showBubbleSize val="0"/>
            <c:showLeaderLines val="0"/>
          </c:dLbls>
          <c:cat>
            <c:multiLvlStrRef>
              <c:f>Sheet1!$A$2:$A$4</c:f>
              <c:multiLvlStrCache>
                <c:ptCount val="3"/>
                <c:lvl>
                  <c:pt idx="0">
                    <c:v>Riesgo alto</c:v>
                  </c:pt>
                  <c:pt idx="1">
                    <c:v>Riesgo medio</c:v>
                  </c:pt>
                  <c:pt idx="2">
                    <c:v>Riesgo bajo</c:v>
                  </c:pt>
                </c:lvl>
              </c:multiLvlStrCache>
            </c:multiLvlStrRef>
          </c:cat>
          <c:val>
            <c:numRef>
              <c:f>Sheet1!$C$2:$C$4</c:f>
              <c:numCache>
                <c:formatCode>General</c:formatCode>
                <c:ptCount val="3"/>
                <c:pt idx="0">
                  <c:v>0.5287</c:v>
                </c:pt>
                <c:pt idx="1">
                  <c:v>0.2774</c:v>
                </c:pt>
                <c:pt idx="2">
                  <c:v>0.194</c:v>
                </c:pt>
              </c:numCache>
            </c:numRef>
          </c:val>
        </c:ser>
        <c:dLbls>
          <c:numFmt formatCode="0%" sourceLinked="0"/>
          <c:txPr>
            <a:bodyPr/>
            <a:lstStyle/>
            <a:p>
              <a:pPr>
                <a:defRPr b="0" i="0" strike="noStrike" sz="1200" u="none">
                  <a:solidFill>
                    <a:srgbClr val="1B1F24"/>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5B6573"/>
                </a:solidFill>
                <a:latin typeface="+mn-lt"/>
              </a:defRPr>
            </a:pPr>
            <a:endParaRPr lang="en-US"/>
          </a:p>
        </c:txPr>
        <c:crossAx val="2094734552"/>
        <c:crosses val="autoZero"/>
        <c:auto val="1"/>
        <c:lblAlgn val="ctr"/>
        <c:noMultiLvlLbl val="1"/>
      </c:catAx>
      <c:valAx>
        <c:axId val="2094734552"/>
        <c:scaling>
          <c:orientation val="minMax"/>
          <c:max val="0.75"/>
          <c:min val="0"/>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5B6573"/>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1B1F2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Reducción (pp)</c:v>
                </c:pt>
              </c:strCache>
            </c:strRef>
          </c:tx>
          <c:spPr>
            <a:solidFill>
              <a:srgbClr val="2A78D6"/>
            </a:solidFill>
            <a:effectLst/>
          </c:spPr>
          <c:invertIfNegative val="0"/>
          <c:dLbls>
            <c:numFmt formatCode="&quot;−&quot;0.0&quot; pp&quot;" sourceLinked="0"/>
            <c:txPr>
              <a:bodyPr/>
              <a:lstStyle/>
              <a:p>
                <a:pPr>
                  <a:defRPr b="0" i="0" strike="noStrike" sz="1200" u="none">
                    <a:solidFill>
                      <a:srgbClr val="1B1F24"/>
                    </a:solidFill>
                    <a:latin typeface="+mn-lt"/>
                  </a:defRPr>
                </a:pPr>
              </a:p>
            </c:txPr>
            <c:showLegendKey val="0"/>
            <c:showVal val="1"/>
            <c:showCatName val="0"/>
            <c:showSerName val="0"/>
            <c:showPercent val="0"/>
            <c:showBubbleSize val="0"/>
            <c:showLeaderLines val="0"/>
          </c:dLbls>
          <c:cat>
            <c:multiLvlStrRef>
              <c:f>Sheet1!$A$2:$A$6</c:f>
              <c:multiLvlStrCache>
                <c:ptCount val="5"/>
                <c:lvl>
                  <c:pt idx="0">
                    <c:v>Seguridad online (mes a mes + fibra)</c:v>
                  </c:pt>
                  <c:pt idx="1">
                    <c:v>Soporte técnico (mes a mes + fibra)</c:v>
                  </c:pt>
                  <c:pt idx="2">
                    <c:v>Pago automático vs. cheque (mes a mes + fibra)</c:v>
                  </c:pt>
                  <c:pt idx="3">
                    <c:v>Protección (nuevos con internet)</c:v>
                  </c:pt>
                  <c:pt idx="4">
                    <c:v>Contrato anual vs. mes a mes (nuevos)</c:v>
                  </c:pt>
                </c:lvl>
              </c:multiLvlStrCache>
            </c:multiLvlStrRef>
          </c:cat>
          <c:val>
            <c:numRef>
              <c:f>Sheet1!$B$2:$B$6</c:f>
              <c:numCache>
                <c:formatCode>General</c:formatCode>
                <c:ptCount val="5"/>
                <c:pt idx="0">
                  <c:v>21.112</c:v>
                </c:pt>
                <c:pt idx="1">
                  <c:v>18.661</c:v>
                </c:pt>
                <c:pt idx="2">
                  <c:v>16.658</c:v>
                </c:pt>
                <c:pt idx="3">
                  <c:v>27.068</c:v>
                </c:pt>
                <c:pt idx="4">
                  <c:v>40.87</c:v>
                </c:pt>
              </c:numCache>
            </c:numRef>
          </c:val>
        </c:ser>
        <c:dLbls>
          <c:numFmt formatCode="&quot;−&quot;0.0&quot; pp&quot;" sourceLinked="0"/>
          <c:txPr>
            <a:bodyPr/>
            <a:lstStyle/>
            <a:p>
              <a:pPr>
                <a:defRPr b="0" i="0" strike="noStrike" sz="1200" u="none">
                  <a:solidFill>
                    <a:srgbClr val="1B1F24"/>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50" b="0" i="0" u="none" strike="noStrike">
                <a:solidFill>
                  <a:srgbClr val="5B6573"/>
                </a:solidFill>
                <a:latin typeface="+mn-lt"/>
              </a:defRPr>
            </a:pPr>
            <a:endParaRPr lang="en-US"/>
          </a:p>
        </c:txPr>
        <c:crossAx val="2094734552"/>
        <c:crosses val="autoZero"/>
        <c:auto val="1"/>
        <c:lblAlgn val="ctr"/>
        <c:noMultiLvlLbl val="1"/>
      </c:catAx>
      <c:valAx>
        <c:axId val="2094734552"/>
        <c:scaling>
          <c:orientation val="minMax"/>
          <c:max val="50"/>
          <c:min val="0"/>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B657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Conservador</c:v>
                </c:pt>
              </c:strCache>
            </c:strRef>
          </c:tx>
          <c:spPr>
            <a:solidFill>
              <a:srgbClr val="9EC5F4"/>
            </a:solidFill>
            <a:effectLst/>
          </c:spPr>
          <c:invertIfNegative val="0"/>
          <c:dLbls>
            <c:numFmt formatCode="+0%;&quot;−&quot;0%;0%" sourceLinked="0"/>
            <c:txPr>
              <a:bodyPr/>
              <a:lstStyle/>
              <a:p>
                <a:pPr>
                  <a:defRPr b="0" i="0" strike="noStrike" sz="1100" u="none">
                    <a:solidFill>
                      <a:srgbClr val="1B1F24"/>
                    </a:solidFill>
                    <a:latin typeface="+mn-lt"/>
                  </a:defRPr>
                </a:pPr>
              </a:p>
            </c:txPr>
            <c:showLegendKey val="0"/>
            <c:showVal val="1"/>
            <c:showCatName val="0"/>
            <c:showSerName val="0"/>
            <c:showPercent val="0"/>
            <c:showBubbleSize val="0"/>
            <c:showLeaderLines val="0"/>
          </c:dLbls>
          <c:cat>
            <c:multiLvlStrRef>
              <c:f>Sheet1!$A$2:$A$4</c:f>
              <c:multiLvlStrCache>
                <c:ptCount val="3"/>
                <c:lvl>
                  <c:pt idx="0">
                    <c:v>B · Descuento masivo</c:v>
                  </c:pt>
                  <c:pt idx="1">
                    <c:v>C · Sin focalizar</c:v>
                  </c:pt>
                  <c:pt idx="2">
                    <c:v>C · Focalizado (riesgo alto)</c:v>
                  </c:pt>
                </c:lvl>
              </c:multiLvlStrCache>
            </c:multiLvlStrRef>
          </c:cat>
          <c:val>
            <c:numRef>
              <c:f>Sheet1!$B$2:$B$4</c:f>
              <c:numCache>
                <c:formatCode>General</c:formatCode>
                <c:ptCount val="3"/>
                <c:pt idx="0">
                  <c:v>-0.8506</c:v>
                </c:pt>
                <c:pt idx="1">
                  <c:v>-0.7924</c:v>
                </c:pt>
                <c:pt idx="2">
                  <c:v>-0.4761</c:v>
                </c:pt>
              </c:numCache>
            </c:numRef>
          </c:val>
        </c:ser>
        <c:ser>
          <c:idx val="1"/>
          <c:order val="1"/>
          <c:tx>
            <c:strRef>
              <c:f>Sheet1!$C$1</c:f>
              <c:strCache>
                <c:ptCount val="1"/>
                <c:pt idx="0">
                  <c:v>Base</c:v>
                </c:pt>
              </c:strCache>
            </c:strRef>
          </c:tx>
          <c:spPr>
            <a:solidFill>
              <a:srgbClr val="2A78D6"/>
            </a:solidFill>
            <a:effectLst/>
          </c:spPr>
          <c:invertIfNegative val="0"/>
          <c:dLbls>
            <c:numFmt formatCode="+0%;&quot;−&quot;0%;0%" sourceLinked="0"/>
            <c:txPr>
              <a:bodyPr/>
              <a:lstStyle/>
              <a:p>
                <a:pPr>
                  <a:defRPr b="0" i="0" strike="noStrike" sz="1100" u="none">
                    <a:solidFill>
                      <a:srgbClr val="1B1F24"/>
                    </a:solidFill>
                    <a:latin typeface="+mn-lt"/>
                  </a:defRPr>
                </a:pPr>
              </a:p>
            </c:txPr>
            <c:showLegendKey val="0"/>
            <c:showVal val="1"/>
            <c:showCatName val="0"/>
            <c:showSerName val="0"/>
            <c:showPercent val="0"/>
            <c:showBubbleSize val="0"/>
            <c:showLeaderLines val="0"/>
          </c:dLbls>
          <c:cat>
            <c:multiLvlStrRef>
              <c:f>Sheet1!$A$2:$A$4</c:f>
              <c:multiLvlStrCache>
                <c:ptCount val="3"/>
                <c:lvl>
                  <c:pt idx="0">
                    <c:v>B · Descuento masivo</c:v>
                  </c:pt>
                  <c:pt idx="1">
                    <c:v>C · Sin focalizar</c:v>
                  </c:pt>
                  <c:pt idx="2">
                    <c:v>C · Focalizado (riesgo alto)</c:v>
                  </c:pt>
                </c:lvl>
              </c:multiLvlStrCache>
            </c:multiLvlStrRef>
          </c:cat>
          <c:val>
            <c:numRef>
              <c:f>Sheet1!$C$2:$C$4</c:f>
              <c:numCache>
                <c:formatCode>General</c:formatCode>
                <c:ptCount val="3"/>
                <c:pt idx="0">
                  <c:v>-0.3192</c:v>
                </c:pt>
                <c:pt idx="1">
                  <c:v>0.0033</c:v>
                </c:pt>
                <c:pt idx="2">
                  <c:v>1.7897</c:v>
                </c:pt>
              </c:numCache>
            </c:numRef>
          </c:val>
        </c:ser>
        <c:ser>
          <c:idx val="2"/>
          <c:order val="2"/>
          <c:tx>
            <c:strRef>
              <c:f>Sheet1!$D$1</c:f>
              <c:strCache>
                <c:ptCount val="1"/>
                <c:pt idx="0">
                  <c:v>Optimista</c:v>
                </c:pt>
              </c:strCache>
            </c:strRef>
          </c:tx>
          <c:spPr>
            <a:solidFill>
              <a:srgbClr val="13294B"/>
            </a:solidFill>
            <a:effectLst/>
          </c:spPr>
          <c:invertIfNegative val="0"/>
          <c:dLbls>
            <c:numFmt formatCode="+0%;&quot;−&quot;0%;0%" sourceLinked="0"/>
            <c:txPr>
              <a:bodyPr/>
              <a:lstStyle/>
              <a:p>
                <a:pPr>
                  <a:defRPr b="0" i="0" strike="noStrike" sz="1100" u="none">
                    <a:solidFill>
                      <a:srgbClr val="1B1F24"/>
                    </a:solidFill>
                    <a:latin typeface="+mn-lt"/>
                  </a:defRPr>
                </a:pPr>
              </a:p>
            </c:txPr>
            <c:showLegendKey val="0"/>
            <c:showVal val="1"/>
            <c:showCatName val="0"/>
            <c:showSerName val="0"/>
            <c:showPercent val="0"/>
            <c:showBubbleSize val="0"/>
            <c:showLeaderLines val="0"/>
          </c:dLbls>
          <c:cat>
            <c:multiLvlStrRef>
              <c:f>Sheet1!$A$2:$A$4</c:f>
              <c:multiLvlStrCache>
                <c:ptCount val="3"/>
                <c:lvl>
                  <c:pt idx="0">
                    <c:v>B · Descuento masivo</c:v>
                  </c:pt>
                  <c:pt idx="1">
                    <c:v>C · Sin focalizar</c:v>
                  </c:pt>
                  <c:pt idx="2">
                    <c:v>C · Focalizado (riesgo alto)</c:v>
                  </c:pt>
                </c:lvl>
              </c:multiLvlStrCache>
            </c:multiLvlStrRef>
          </c:cat>
          <c:val>
            <c:numRef>
              <c:f>Sheet1!$D$2:$D$4</c:f>
              <c:numCache>
                <c:formatCode>General</c:formatCode>
                <c:ptCount val="3"/>
                <c:pt idx="0">
                  <c:v>0.7736</c:v>
                </c:pt>
                <c:pt idx="1">
                  <c:v>2.0458</c:v>
                </c:pt>
                <c:pt idx="2">
                  <c:v>8.3869</c:v>
                </c:pt>
              </c:numCache>
            </c:numRef>
          </c:val>
        </c:ser>
        <c:dLbls>
          <c:numFmt formatCode="+0%;&quot;−&quot;0%;0%" sourceLinked="0"/>
          <c:txPr>
            <a:bodyPr/>
            <a:lstStyle/>
            <a:p>
              <a:pPr>
                <a:defRPr b="0" i="0" strike="noStrike" sz="1100" u="none">
                  <a:solidFill>
                    <a:srgbClr val="1B1F24"/>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5B6573"/>
                </a:solidFill>
                <a:latin typeface="+mn-lt"/>
              </a:defRPr>
            </a:pPr>
            <a:endParaRPr lang="en-US"/>
          </a:p>
        </c:txPr>
        <c:crossAx val="2094734552"/>
        <c:crosses val="autoZero"/>
        <c:auto val="1"/>
        <c:lblAlgn val="ctr"/>
        <c:noMultiLvlLbl val="1"/>
      </c:catAx>
      <c:valAx>
        <c:axId val="2094734552"/>
        <c:scaling>
          <c:orientation val="minMax"/>
          <c:max val="9"/>
          <c:min val="-2"/>
        </c:scaling>
        <c:delete val="0"/>
        <c:axPos val="l"/>
        <c:majorGridlines>
          <c:spPr>
            <a:ln w="9525" cap="flat">
              <a:solidFill>
                <a:srgbClr val="E6EAF0"/>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B6573"/>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200">
              <a:solidFill>
                <a:srgbClr val="1B1F2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6 meses</c:v>
                </c:pt>
              </c:strCache>
            </c:strRef>
          </c:tx>
          <c:spPr>
            <a:solidFill>
              <a:srgbClr val="86B6EF"/>
            </a:solidFill>
            <a:ln w="31750" cap="flat">
              <a:solidFill>
                <a:srgbClr val="86B6EF"/>
              </a:solidFill>
              <a:prstDash val="solid"/>
              <a:round/>
            </a:ln>
            <a:effectLst/>
          </c:spPr>
          <c:invertIfNegative val="0"/>
          <c:dLbls>
            <c:numFmt formatCode="#,##0" sourceLinked="0"/>
            <c:txPr>
              <a:bodyPr/>
              <a:lstStyle/>
              <a:p>
                <a:pPr>
                  <a:defRPr b="0" i="0" strike="noStrike" sz="1200" u="none">
                    <a:solidFill>
                      <a:srgbClr val="1B1F24"/>
                    </a:solidFill>
                    <a:latin typeface="+mn-lt"/>
                  </a:defRPr>
                </a:pPr>
              </a:p>
            </c:txPr>
            <c:showLegendKey val="0"/>
            <c:showVal val="0"/>
            <c:showCatName val="0"/>
            <c:showSerName val="0"/>
            <c:showPercent val="0"/>
            <c:showBubbleSize val="0"/>
            <c:showLeaderLines val="0"/>
          </c:dLbls>
          <c:marker>
            <c:symbol val="none"/>
            <c:size val="6"/>
            <c:spPr>
              <a:solidFill>
                <a:srgbClr val="86B6EF"/>
              </a:solidFill>
              <a:ln w="9525" cap="flat">
                <a:solidFill>
                  <a:srgbClr val="86B6EF"/>
                </a:solidFill>
                <a:prstDash val="solid"/>
                <a:round/>
              </a:ln>
              <a:effectLst/>
            </c:spPr>
          </c:marker>
          <c:cat>
            <c:multiLvlStrRef>
              <c:f>Sheet1!$A$2:$A$22</c:f>
              <c:multiLvlStrCache>
                <c:ptCount val="21"/>
                <c:lvl>
                  <c:pt idx="0">
                    <c:v>0 %</c:v>
                  </c:pt>
                  <c:pt idx="1">
                    <c:v>1 %</c:v>
                  </c:pt>
                  <c:pt idx="2">
                    <c:v>2 %</c:v>
                  </c:pt>
                  <c:pt idx="3">
                    <c:v>3 %</c:v>
                  </c:pt>
                  <c:pt idx="4">
                    <c:v>4 %</c:v>
                  </c:pt>
                  <c:pt idx="5">
                    <c:v>5 %</c:v>
                  </c:pt>
                  <c:pt idx="6">
                    <c:v>6 %</c:v>
                  </c:pt>
                  <c:pt idx="7">
                    <c:v>7 %</c:v>
                  </c:pt>
                  <c:pt idx="8">
                    <c:v>8 %</c:v>
                  </c:pt>
                  <c:pt idx="9">
                    <c:v>9 %</c:v>
                  </c:pt>
                  <c:pt idx="10">
                    <c:v>10 %</c:v>
                  </c:pt>
                  <c:pt idx="11">
                    <c:v>11 %</c:v>
                  </c:pt>
                  <c:pt idx="12">
                    <c:v>12 %</c:v>
                  </c:pt>
                  <c:pt idx="13">
                    <c:v>13 %</c:v>
                  </c:pt>
                  <c:pt idx="14">
                    <c:v>14 %</c:v>
                  </c:pt>
                  <c:pt idx="15">
                    <c:v>15 %</c:v>
                  </c:pt>
                  <c:pt idx="16">
                    <c:v>16 %</c:v>
                  </c:pt>
                  <c:pt idx="17">
                    <c:v>17 %</c:v>
                  </c:pt>
                  <c:pt idx="18">
                    <c:v>18 %</c:v>
                  </c:pt>
                  <c:pt idx="19">
                    <c:v>19 %</c:v>
                  </c:pt>
                  <c:pt idx="20">
                    <c:v>20 %</c:v>
                  </c:pt>
                </c:lvl>
              </c:multiLvlStrCache>
            </c:multiLvlStrRef>
          </c:cat>
          <c:val>
            <c:numRef>
              <c:f>Sheet1!$B$2:$B$22</c:f>
              <c:numCache>
                <c:formatCode>General</c:formatCode>
                <c:ptCount val="21"/>
                <c:pt idx="0">
                  <c:v>-1</c:v>
                </c:pt>
                <c:pt idx="1">
                  <c:v>-0.9008</c:v>
                </c:pt>
                <c:pt idx="2">
                  <c:v>-0.8015</c:v>
                </c:pt>
                <c:pt idx="3">
                  <c:v>-0.7023</c:v>
                </c:pt>
                <c:pt idx="4">
                  <c:v>-0.6031</c:v>
                </c:pt>
                <c:pt idx="5">
                  <c:v>-0.5038</c:v>
                </c:pt>
                <c:pt idx="6">
                  <c:v>-0.4046</c:v>
                </c:pt>
                <c:pt idx="7">
                  <c:v>-0.3053</c:v>
                </c:pt>
                <c:pt idx="8">
                  <c:v>-0.2061</c:v>
                </c:pt>
                <c:pt idx="9">
                  <c:v>-0.1069</c:v>
                </c:pt>
                <c:pt idx="10">
                  <c:v>-0.0076</c:v>
                </c:pt>
                <c:pt idx="11">
                  <c:v>0.0916</c:v>
                </c:pt>
                <c:pt idx="12">
                  <c:v>0.1908</c:v>
                </c:pt>
                <c:pt idx="13">
                  <c:v>0.2901</c:v>
                </c:pt>
                <c:pt idx="14">
                  <c:v>0.3893</c:v>
                </c:pt>
                <c:pt idx="15">
                  <c:v>0.4886</c:v>
                </c:pt>
                <c:pt idx="16">
                  <c:v>0.5878</c:v>
                </c:pt>
                <c:pt idx="17">
                  <c:v>0.687</c:v>
                </c:pt>
                <c:pt idx="18">
                  <c:v>0.7863</c:v>
                </c:pt>
                <c:pt idx="19">
                  <c:v>0.8855</c:v>
                </c:pt>
                <c:pt idx="20">
                  <c:v>0.9847</c:v>
                </c:pt>
              </c:numCache>
            </c:numRef>
          </c:val>
          <c:smooth val="0"/>
        </c:ser>
        <c:ser>
          <c:idx val="1"/>
          <c:order val="1"/>
          <c:tx>
            <c:strRef>
              <c:f>Sheet1!$C$1</c:f>
              <c:strCache>
                <c:ptCount val="1"/>
                <c:pt idx="0">
                  <c:v>12 meses</c:v>
                </c:pt>
              </c:strCache>
            </c:strRef>
          </c:tx>
          <c:spPr>
            <a:solidFill>
              <a:srgbClr val="2A78D6"/>
            </a:solidFill>
            <a:ln w="31750" cap="flat">
              <a:solidFill>
                <a:srgbClr val="2A78D6"/>
              </a:solidFill>
              <a:prstDash val="solid"/>
              <a:round/>
            </a:ln>
            <a:effectLst/>
          </c:spPr>
          <c:invertIfNegative val="0"/>
          <c:dLbls>
            <c:numFmt formatCode="#,##0" sourceLinked="0"/>
            <c:txPr>
              <a:bodyPr/>
              <a:lstStyle/>
              <a:p>
                <a:pPr>
                  <a:defRPr b="0" i="0" strike="noStrike" sz="1200" u="none">
                    <a:solidFill>
                      <a:srgbClr val="1B1F24"/>
                    </a:solidFill>
                    <a:latin typeface="+mn-lt"/>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Sheet1!$A$2:$A$22</c:f>
              <c:multiLvlStrCache>
                <c:ptCount val="21"/>
                <c:lvl>
                  <c:pt idx="0">
                    <c:v>0 %</c:v>
                  </c:pt>
                  <c:pt idx="1">
                    <c:v>1 %</c:v>
                  </c:pt>
                  <c:pt idx="2">
                    <c:v>2 %</c:v>
                  </c:pt>
                  <c:pt idx="3">
                    <c:v>3 %</c:v>
                  </c:pt>
                  <c:pt idx="4">
                    <c:v>4 %</c:v>
                  </c:pt>
                  <c:pt idx="5">
                    <c:v>5 %</c:v>
                  </c:pt>
                  <c:pt idx="6">
                    <c:v>6 %</c:v>
                  </c:pt>
                  <c:pt idx="7">
                    <c:v>7 %</c:v>
                  </c:pt>
                  <c:pt idx="8">
                    <c:v>8 %</c:v>
                  </c:pt>
                  <c:pt idx="9">
                    <c:v>9 %</c:v>
                  </c:pt>
                  <c:pt idx="10">
                    <c:v>10 %</c:v>
                  </c:pt>
                  <c:pt idx="11">
                    <c:v>11 %</c:v>
                  </c:pt>
                  <c:pt idx="12">
                    <c:v>12 %</c:v>
                  </c:pt>
                  <c:pt idx="13">
                    <c:v>13 %</c:v>
                  </c:pt>
                  <c:pt idx="14">
                    <c:v>14 %</c:v>
                  </c:pt>
                  <c:pt idx="15">
                    <c:v>15 %</c:v>
                  </c:pt>
                  <c:pt idx="16">
                    <c:v>16 %</c:v>
                  </c:pt>
                  <c:pt idx="17">
                    <c:v>17 %</c:v>
                  </c:pt>
                  <c:pt idx="18">
                    <c:v>18 %</c:v>
                  </c:pt>
                  <c:pt idx="19">
                    <c:v>19 %</c:v>
                  </c:pt>
                  <c:pt idx="20">
                    <c:v>20 %</c:v>
                  </c:pt>
                </c:lvl>
              </c:multiLvlStrCache>
            </c:multiLvlStrRef>
          </c:cat>
          <c:val>
            <c:numRef>
              <c:f>Sheet1!$C$2:$C$22</c:f>
              <c:numCache>
                <c:formatCode>General</c:formatCode>
                <c:ptCount val="21"/>
                <c:pt idx="0">
                  <c:v>-1</c:v>
                </c:pt>
                <c:pt idx="1">
                  <c:v>-0.8015</c:v>
                </c:pt>
                <c:pt idx="2">
                  <c:v>-0.6031</c:v>
                </c:pt>
                <c:pt idx="3">
                  <c:v>-0.4046</c:v>
                </c:pt>
                <c:pt idx="4">
                  <c:v>-0.2061</c:v>
                </c:pt>
                <c:pt idx="5">
                  <c:v>-0.0076</c:v>
                </c:pt>
                <c:pt idx="6">
                  <c:v>0.1908</c:v>
                </c:pt>
                <c:pt idx="7">
                  <c:v>0.3893</c:v>
                </c:pt>
                <c:pt idx="8">
                  <c:v>0.5878</c:v>
                </c:pt>
                <c:pt idx="9">
                  <c:v>0.7863</c:v>
                </c:pt>
                <c:pt idx="10">
                  <c:v>0.9847</c:v>
                </c:pt>
                <c:pt idx="11">
                  <c:v>1.1832</c:v>
                </c:pt>
                <c:pt idx="12">
                  <c:v>1.3817</c:v>
                </c:pt>
                <c:pt idx="13">
                  <c:v>1.5802</c:v>
                </c:pt>
                <c:pt idx="14">
                  <c:v>1.7786</c:v>
                </c:pt>
                <c:pt idx="15">
                  <c:v>1.9771</c:v>
                </c:pt>
                <c:pt idx="16">
                  <c:v>2.1756</c:v>
                </c:pt>
                <c:pt idx="17">
                  <c:v>2.3741</c:v>
                </c:pt>
                <c:pt idx="18">
                  <c:v>2.5725</c:v>
                </c:pt>
                <c:pt idx="19">
                  <c:v>2.771</c:v>
                </c:pt>
                <c:pt idx="20">
                  <c:v>2.9695</c:v>
                </c:pt>
              </c:numCache>
            </c:numRef>
          </c:val>
          <c:smooth val="0"/>
        </c:ser>
        <c:ser>
          <c:idx val="2"/>
          <c:order val="2"/>
          <c:tx>
            <c:strRef>
              <c:f>Sheet1!$D$1</c:f>
              <c:strCache>
                <c:ptCount val="1"/>
                <c:pt idx="0">
                  <c:v>18 meses</c:v>
                </c:pt>
              </c:strCache>
            </c:strRef>
          </c:tx>
          <c:spPr>
            <a:solidFill>
              <a:srgbClr val="13294B"/>
            </a:solidFill>
            <a:ln w="31750" cap="flat">
              <a:solidFill>
                <a:srgbClr val="13294B"/>
              </a:solidFill>
              <a:prstDash val="solid"/>
              <a:round/>
            </a:ln>
            <a:effectLst/>
          </c:spPr>
          <c:invertIfNegative val="0"/>
          <c:dLbls>
            <c:numFmt formatCode="#,##0" sourceLinked="0"/>
            <c:txPr>
              <a:bodyPr/>
              <a:lstStyle/>
              <a:p>
                <a:pPr>
                  <a:defRPr b="0" i="0" strike="noStrike" sz="1200" u="none">
                    <a:solidFill>
                      <a:srgbClr val="1B1F24"/>
                    </a:solidFill>
                    <a:latin typeface="+mn-lt"/>
                  </a:defRPr>
                </a:pPr>
              </a:p>
            </c:txPr>
            <c:showLegendKey val="0"/>
            <c:showVal val="0"/>
            <c:showCatName val="0"/>
            <c:showSerName val="0"/>
            <c:showPercent val="0"/>
            <c:showBubbleSize val="0"/>
            <c:showLeaderLines val="0"/>
          </c:dLbls>
          <c:marker>
            <c:symbol val="none"/>
            <c:size val="6"/>
            <c:spPr>
              <a:solidFill>
                <a:srgbClr val="13294B"/>
              </a:solidFill>
              <a:ln w="9525" cap="flat">
                <a:solidFill>
                  <a:srgbClr val="13294B"/>
                </a:solidFill>
                <a:prstDash val="solid"/>
                <a:round/>
              </a:ln>
              <a:effectLst/>
            </c:spPr>
          </c:marker>
          <c:cat>
            <c:multiLvlStrRef>
              <c:f>Sheet1!$A$2:$A$22</c:f>
              <c:multiLvlStrCache>
                <c:ptCount val="21"/>
                <c:lvl>
                  <c:pt idx="0">
                    <c:v>0 %</c:v>
                  </c:pt>
                  <c:pt idx="1">
                    <c:v>1 %</c:v>
                  </c:pt>
                  <c:pt idx="2">
                    <c:v>2 %</c:v>
                  </c:pt>
                  <c:pt idx="3">
                    <c:v>3 %</c:v>
                  </c:pt>
                  <c:pt idx="4">
                    <c:v>4 %</c:v>
                  </c:pt>
                  <c:pt idx="5">
                    <c:v>5 %</c:v>
                  </c:pt>
                  <c:pt idx="6">
                    <c:v>6 %</c:v>
                  </c:pt>
                  <c:pt idx="7">
                    <c:v>7 %</c:v>
                  </c:pt>
                  <c:pt idx="8">
                    <c:v>8 %</c:v>
                  </c:pt>
                  <c:pt idx="9">
                    <c:v>9 %</c:v>
                  </c:pt>
                  <c:pt idx="10">
                    <c:v>10 %</c:v>
                  </c:pt>
                  <c:pt idx="11">
                    <c:v>11 %</c:v>
                  </c:pt>
                  <c:pt idx="12">
                    <c:v>12 %</c:v>
                  </c:pt>
                  <c:pt idx="13">
                    <c:v>13 %</c:v>
                  </c:pt>
                  <c:pt idx="14">
                    <c:v>14 %</c:v>
                  </c:pt>
                  <c:pt idx="15">
                    <c:v>15 %</c:v>
                  </c:pt>
                  <c:pt idx="16">
                    <c:v>16 %</c:v>
                  </c:pt>
                  <c:pt idx="17">
                    <c:v>17 %</c:v>
                  </c:pt>
                  <c:pt idx="18">
                    <c:v>18 %</c:v>
                  </c:pt>
                  <c:pt idx="19">
                    <c:v>19 %</c:v>
                  </c:pt>
                  <c:pt idx="20">
                    <c:v>20 %</c:v>
                  </c:pt>
                </c:lvl>
              </c:multiLvlStrCache>
            </c:multiLvlStrRef>
          </c:cat>
          <c:val>
            <c:numRef>
              <c:f>Sheet1!$D$2:$D$22</c:f>
              <c:numCache>
                <c:formatCode>General</c:formatCode>
                <c:ptCount val="21"/>
                <c:pt idx="0">
                  <c:v>-1</c:v>
                </c:pt>
                <c:pt idx="1">
                  <c:v>-0.7023</c:v>
                </c:pt>
                <c:pt idx="2">
                  <c:v>-0.4046</c:v>
                </c:pt>
                <c:pt idx="3">
                  <c:v>-0.1069</c:v>
                </c:pt>
                <c:pt idx="4">
                  <c:v>0.1908</c:v>
                </c:pt>
                <c:pt idx="5">
                  <c:v>0.4886</c:v>
                </c:pt>
                <c:pt idx="6">
                  <c:v>0.7863</c:v>
                </c:pt>
                <c:pt idx="7">
                  <c:v>1.084</c:v>
                </c:pt>
                <c:pt idx="8">
                  <c:v>1.3817</c:v>
                </c:pt>
                <c:pt idx="9">
                  <c:v>1.6794</c:v>
                </c:pt>
                <c:pt idx="10">
                  <c:v>1.9771</c:v>
                </c:pt>
                <c:pt idx="11">
                  <c:v>2.2748</c:v>
                </c:pt>
                <c:pt idx="12">
                  <c:v>2.5725</c:v>
                </c:pt>
                <c:pt idx="13">
                  <c:v>2.8703</c:v>
                </c:pt>
                <c:pt idx="14">
                  <c:v>3.168</c:v>
                </c:pt>
                <c:pt idx="15">
                  <c:v>3.4657</c:v>
                </c:pt>
                <c:pt idx="16">
                  <c:v>3.7634</c:v>
                </c:pt>
                <c:pt idx="17">
                  <c:v>4.0611</c:v>
                </c:pt>
                <c:pt idx="18">
                  <c:v>4.3588</c:v>
                </c:pt>
                <c:pt idx="19">
                  <c:v>4.6565</c:v>
                </c:pt>
                <c:pt idx="20">
                  <c:v>4.9542</c:v>
                </c:pt>
              </c:numCache>
            </c:numRef>
          </c:val>
          <c:smooth val="0"/>
        </c:ser>
        <c:ser>
          <c:idx val="3"/>
          <c:order val="3"/>
          <c:tx>
            <c:strRef>
              <c:f>Sheet1!$E$1</c:f>
              <c:strCache>
                <c:ptCount val="1"/>
                <c:pt idx="0">
                  <c:v>Equilibrio (ROI = 0)</c:v>
                </c:pt>
              </c:strCache>
            </c:strRef>
          </c:tx>
          <c:spPr>
            <a:solidFill>
              <a:srgbClr val="8E99A8"/>
            </a:solidFill>
            <a:ln w="31750" cap="flat">
              <a:solidFill>
                <a:srgbClr val="8E99A8"/>
              </a:solidFill>
              <a:prstDash val="solid"/>
              <a:round/>
            </a:ln>
            <a:effectLst/>
          </c:spPr>
          <c:invertIfNegative val="0"/>
          <c:dLbls>
            <c:numFmt formatCode="#,##0" sourceLinked="0"/>
            <c:txPr>
              <a:bodyPr/>
              <a:lstStyle/>
              <a:p>
                <a:pPr>
                  <a:defRPr b="0" i="0" strike="noStrike" sz="1200" u="none">
                    <a:solidFill>
                      <a:srgbClr val="1B1F24"/>
                    </a:solidFill>
                    <a:latin typeface="+mn-lt"/>
                  </a:defRPr>
                </a:pPr>
              </a:p>
            </c:txPr>
            <c:showLegendKey val="0"/>
            <c:showVal val="0"/>
            <c:showCatName val="0"/>
            <c:showSerName val="0"/>
            <c:showPercent val="0"/>
            <c:showBubbleSize val="0"/>
            <c:showLeaderLines val="0"/>
          </c:dLbls>
          <c:marker>
            <c:symbol val="none"/>
            <c:size val="6"/>
            <c:spPr>
              <a:solidFill>
                <a:srgbClr val="8E99A8"/>
              </a:solidFill>
              <a:ln w="9525" cap="flat">
                <a:solidFill>
                  <a:srgbClr val="8E99A8"/>
                </a:solidFill>
                <a:prstDash val="solid"/>
                <a:round/>
              </a:ln>
              <a:effectLst/>
            </c:spPr>
          </c:marker>
          <c:cat>
            <c:multiLvlStrRef>
              <c:f>Sheet1!$A$2:$A$22</c:f>
              <c:multiLvlStrCache>
                <c:ptCount val="21"/>
                <c:lvl>
                  <c:pt idx="0">
                    <c:v>0 %</c:v>
                  </c:pt>
                  <c:pt idx="1">
                    <c:v>1 %</c:v>
                  </c:pt>
                  <c:pt idx="2">
                    <c:v>2 %</c:v>
                  </c:pt>
                  <c:pt idx="3">
                    <c:v>3 %</c:v>
                  </c:pt>
                  <c:pt idx="4">
                    <c:v>4 %</c:v>
                  </c:pt>
                  <c:pt idx="5">
                    <c:v>5 %</c:v>
                  </c:pt>
                  <c:pt idx="6">
                    <c:v>6 %</c:v>
                  </c:pt>
                  <c:pt idx="7">
                    <c:v>7 %</c:v>
                  </c:pt>
                  <c:pt idx="8">
                    <c:v>8 %</c:v>
                  </c:pt>
                  <c:pt idx="9">
                    <c:v>9 %</c:v>
                  </c:pt>
                  <c:pt idx="10">
                    <c:v>10 %</c:v>
                  </c:pt>
                  <c:pt idx="11">
                    <c:v>11 %</c:v>
                  </c:pt>
                  <c:pt idx="12">
                    <c:v>12 %</c:v>
                  </c:pt>
                  <c:pt idx="13">
                    <c:v>13 %</c:v>
                  </c:pt>
                  <c:pt idx="14">
                    <c:v>14 %</c:v>
                  </c:pt>
                  <c:pt idx="15">
                    <c:v>15 %</c:v>
                  </c:pt>
                  <c:pt idx="16">
                    <c:v>16 %</c:v>
                  </c:pt>
                  <c:pt idx="17">
                    <c:v>17 %</c:v>
                  </c:pt>
                  <c:pt idx="18">
                    <c:v>18 %</c:v>
                  </c:pt>
                  <c:pt idx="19">
                    <c:v>19 %</c:v>
                  </c:pt>
                  <c:pt idx="20">
                    <c:v>20 %</c:v>
                  </c:pt>
                </c:lvl>
              </c:multiLvlStrCache>
            </c:multiLvlStrRef>
          </c:cat>
          <c:val>
            <c:numRef>
              <c:f>Sheet1!$E$2:$E$22</c:f>
              <c:numCache>
                <c:formatCode>General</c:formatCode>
                <c:ptCount val="2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numCache>
            </c:numRef>
          </c:val>
          <c:smooth val="0"/>
        </c:ser>
        <c:dLbls>
          <c:numFmt formatCode="#,##0" sourceLinked="0"/>
          <c:txPr>
            <a:bodyPr/>
            <a:lstStyle/>
            <a:p>
              <a:pPr>
                <a:defRPr b="0" i="0" strike="noStrike" sz="1200" u="none">
                  <a:solidFill>
                    <a:srgbClr val="1B1F24"/>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5B6573"/>
                </a:solidFill>
                <a:latin typeface="+mn-lt"/>
              </a:defRPr>
            </a:pPr>
            <a:endParaRPr lang="en-US"/>
          </a:p>
        </c:txPr>
        <c:crossAx val="2094734552"/>
        <c:crosses val="autoZero"/>
        <c:auto val="1"/>
        <c:lblAlgn val="ctr"/>
        <c:noMultiLvlLbl val="1"/>
        <c:tickLblSkip val="5"/>
      </c:catAx>
      <c:valAx>
        <c:axId val="2094734552"/>
        <c:scaling>
          <c:orientation val="minMax"/>
          <c:max val="5"/>
          <c:min val="-1"/>
        </c:scaling>
        <c:delete val="0"/>
        <c:axPos val="l"/>
        <c:majorGridlines>
          <c:spPr>
            <a:ln w="9525" cap="flat">
              <a:solidFill>
                <a:srgbClr val="E6EAF0"/>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B6573"/>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200">
              <a:solidFill>
                <a:srgbClr val="1B1F24"/>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[Oscar · 30 s] Buenos días. Somos DataForge Consulting. Telco nos contrató porque está perdiendo clientes, pero sobre todo porque está perdiendo ingreso: casi una tercera parte del ingreso recurrente mensual se va con los clientes que abandonan. En los próximos minutos les mostraremos el sistema de decisión que construimos, no solo un tablero: desde la formulación del problema hasta la recomendación.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[Oscar · 45 s] La presentación sigue la misma línea de tiempo con la que construimos el proyecto. Yo presento el problema y la decisión; Claudia, el sistema de métricas y la tabla analítica; Paula, el análisis de desempeño y la priorización; Daniel, la medición de impacto con escenarios y el dashboard con sus tres vistas. Al final retomo para las reglas de monitoreo y la recomendación ejecutiva. Tiempo estimado: unos 27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[Oscar · 10 s] Empecemos por el problema de negocio y la decisión que el sistema debe apoyar.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[Oscar · 45 s] Telco es una operadora de telefonía e internet residencial; los datos provienen del caso público de IBM, por lo que la compañía es ficticia. En el corte analizado tiene 7.043 clientes y un ingreso recurrente mensual de unos 456 mil dólares. Como supuesto del caso, la Gerencia de Retención reacciona con ofertas genéricas de descuento: no prioriza a quién contactar, no distingue qué palanca usar con cada perfil y no mide el retorno. Además, el 55 % de la base está en contrato mes a mes, que es la relación más fácil de terminar.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[Oscar · 50 s] El problema en cifras: el 26,5 % de los clientes abandonó en el período, es decir, 1.869 de 7.043. Esos clientes pagaban 139 mil dólares al mes, el 30,5 % del MRR. El punto clave está a la izquierda: quienes se van pagan en promedio 74,44 dólares, frente a 61,27 de quienes se quedan. Por eso el problema no es solo cuántos clientes se van, sino cuánto valor se va, y eso define nuestra métrica principal.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[Oscar · 45 s] Siguiendo el marco Data-to-Decision de la primera sesión, reformulamos el encargo. La versión débil sería «queremos un dashboard de churn». La versión orientada a decisión dice quién decide, qué decide, cada cuánto y con qué restricción. Nuestra pregunta es esta: qué segmentos de clientes activos debe priorizar la Gerencia de Retención este mes, con qué palanca y con qué retorno esperado, para reducir el MRR perdido sin deteriorar el ARPU. Es una decisión táctica mensual, con un componente operativo semanal y un KPI estratégico que revisa el Comité cada trimestre.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[Oscar · 1 min] Este es el Decision Canvas resumido; la versión completa está en el informe. El usuario es la Gerencia de Retención, con el Comité Directivo como audiencia ejecutiva. El objetivo es bajar el MRR perdido del 30,5 % a 25 % o menos en dos trimestres, sin que el ARPU caiga más de 3 %. El criterio de éxito combina el resultado, la evidencia causal del piloto y el retorno. Y dejamos explícitos los riesgos de interpretación desde el inicio: un corte sin fechas, una ventana de churn ambigua y efectos que son observacionales.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[Oscar · 50 s] Frente a esa decisión evaluamos cuatro alternativas. A es no intervenir, nuestra línea base. B es la práctica actual llevada al extremo: un descuento del 10 % a los 2.220 clientes activos mes a mes. C es un programa focalizado: solo clientes de riesgo alto y, a cada uno, la palanca que corresponde a su perfil. D es revisar la propuesta de valor de la fibra, que los datos señalan pero no permiten diagnosticar. Todas se comparan con los mismos criterios: ROI, MRR retenido y efecto sobre el ARPU. Con esto le paso la palabra a Claudia, que presentará cómo medimos todo 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[Claudia · 10 s] Gracias, Oscar. Ahora pasamos de la decisión a las métricas que la soportan y a los datos que las alimentan.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[Claudia · 50 s] Elegimos como North Star el porcentaje de MRR retenido: uno menos el MRR de quienes abandonan sobre el MRR total. Hoy vale 69,5 % y la meta es 75 %, una brecha de 5,5 puntos. La elegimos por tres razones: pondera por valor, se descompone en drivers que la Gerencia puede mover y la entiende toda la organización. Descartamos el número de clientes, porque crece con adquisición; el porcentaje de contratos a plazo, porque se puede inflar con descuentos, y la tasa de churn sola, porque no distingue entre perder un cliente de 20 dólares y uno de 110.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[Claudia · 50 s] El árbol muestra cómo se descompone la North Star. El MRR retenido depende del MRR total y del MRR perdido; este último es el número de clientes que abandonan por su ARPU, es decir, la tasa de churn por el valor de quienes se van. La tasa de churn, a su vez, se explica por cinco drivers: la mezcla contractual, el ciclo de vida, la propuesta de valor de la fibra, la adopción de protección y la fricción de pago. Debajo de cada driver está la palanca y el área responsable. A la izquierda, las métricas de balance: el ARPU, el costo por cliente salvado y el ROI, para no comprar retención con descuentos.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[Claudia · 50 s] Con el árbol definimos el sistema de KPIs en cuatro niveles. Los estratégicos los revisa el Comité: el MRR retenido, la tasa de churn, el MRR perdido y el porcentaje de contratos a plazo. Los operativos se mueven en semanas: el churn temprano, el pago automático, la adopción de protección y el MRR activo en riesgo alto. Los diagnósticos explican el porqué. Y los de balance evitan que optimicemos una métrica a costa de otra: si el ARPU cae más de 3 % o el costo por cliente salvado supera 200 dólares, la acción se revisa. Cada KPI tiene meta, frecuencia y dueño.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[Claudia · 40 s] Para que las métricas no sean decorativas, cada una tiene una ficha técnica con los campos de la Plantilla 2. Aquí está la de la North Star: tipo, fórmula con numerador y denominador, unidad y granularidad, ventana, fuente, frecuencia, meta con semáforo, dirección deseada, métricas de balance, dueño y riesgos de interpretación. El diccionario completo tiene nueve métricas críticas; está en el anexo del informe y en la última página del dashboard, y sale de la misma tabla que usa Power BI, así que no hay dos versiones de la misma definición.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[Claudia · 50 s] La base es el dataset Telco Customer Churn de IBM: siete mil cuarenta y tres clientes y veintiuna variables en un solo corte. La convertimos en una tabla analítica en cinco pasos: auditoría con once revisiones, diez reglas de limpieza documentadas, la tabla df_analitico con una fila por cliente y treinta y tres columnas, y un modelo estrella para Power BI. La unidad de análisis es el cliente en el corte y la llave es customer_id. Como no hay fecha calendario, el eje temporal es la antigüedad del cliente, de 0 a 72 meses. Todo corre desde el notebook, que se detiene si alguna validación falla.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[Claudia · 50 s] La auditoría siguió la Plantilla 3: nulos, duplicados, tipos, fechas, categorías, rangos, llaves y reglas de negocio. Encontramos tres hallazgos de severidad alta. Once valores vacíos en cargo total, todos de clientes con antigüedad cero, que imputamos con cero y marcamos con una bandera. La ausencia de fecha calendario, que nos obliga a usar el ciclo de vida como eje temporal. Y el más importante, que no es un nulo: con una tasa de churn mensual de 26,5 % casi ningún cliente llegaría a cuatro años, pero en la base son el 31,8 %. Por eso reportamos el churn como tasa del período de corte y no lo anualizamos.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[Claudia · 40 s] En Power BI respetamos la regla de la sesión ocho: primero el modelo, después la visualización. La tabla de hechos tiene una fila por cliente y se relaciona con siete dimensiones mediante relaciones uno a muchos con filtro simple. Las tablas de escenarios, supuestos, drivers, diccionario y plan de monitoreo están desconectadas y alimentan el simulador y las definiciones. Las 76 medidas viven en una tabla de medidas, organizadas por carpetas, y sus cifras cuadran con el notebook. Con esto le paso la palabra a Paula para el análisis.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[Paula · 10 s] Gracias, Claudia. Con la tabla analítica lista, veamos qué dice la evidencia sobre dónde y cuándo se pierde el valor.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[Paula · 50 s] Como el dataset no tiene fechas, construimos la evolución temporal sobre el ciclo de vida del cliente: la tasa de churn según los meses de antigüedad. La línea azul muestra que el primer mes concentra el mayor riesgo, 62 %, y que la tasa cae casi de forma continua; la línea gris es el promedio del corte, 26,5 %. Entre 0 y 6 meses el churn es 52,9 % y después de 49 meses baja a 9,5 %. Una advertencia: los clientes antiguos son sobrevivientes, así que la curva describe tasas condicionales y no la trayectoria de una cohorte de altas.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[Paula · 40 s] Para ver la evolución de los KPIs y no solo del churn, calculamos la North Star y la tasa de churn por etapa del ciclo de vida. En los primeros seis meses el MRR retenido es apenas 38,4 %; solo la etapa de más de cuatro años supera la meta de 75 %. La lectura de negocio es clara: el problema está en la etapa temprana, y es allí donde una palanca de onboarding tiene más espacio para mover la North Star.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[Paula · 50 s] Este es el análisis de cohortes por antigüedad cruzado con el contrato. La pregunta era si la caída del churn con la antigüedad se debe solo a que los clientes antiguos tienen contratos más largos. La respuesta es no: dentro del contrato mes a mes el churn baja de 55 % a 26 %, y lo mismo ocurre en los otros contratos. Lo que muestra: la caída se da dentro de cada contrato. Lo que significa: los primeros meses son la ventana crítica por sí mismos. Lo que implica: el onboarding temprano es una palanca independiente de la migración de contrato.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[Paula · 40 s] El análisis de contribución cruza contrato e internet. Cada par de barras compara el peso del segmento en la base, en gris, con su peso en el MRR perdido, en naranja. El segmento mes a mes con fibra óptica es el 30 % de los clientes pero explica el 72 % del MRR perdido. Junto con mes a mes DSL suman el 85 %. Esto nos dice dónde concentrar la intervención; los demás segmentos aportan poco a la pérdida.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[Paula · 40 s] La segmentación bruta confirma tres grupos de alto riesgo. En naranja, los grupos que superan el promedio del corte. La fibra óptica abandona 41,9 % frente a 19 % de DSL. Quienes pagan con cheque electrónico, 45,3 %, el triple que los pagos automáticos. Y entre los clientes con internet, quienes no tienen seguridad ni soporte técnico abandonan 49 %, frente a 17 % de quienes sí. Todos los grupos tienen más de 1.500 clientes y sus intervalos de confianza no se solapan con el promedio.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[Paula · 50 s] La segmentación bruta puede confundir efectos, así que ajustamos un modelo logístico con todos los factores a la vez. Un odds ratio mayor que uno aumenta el riesgo; menor que uno lo reduce. Los primeros seis meses multiplican las odds por casi siete frente a quienes llevan más de cuatro años. La fibra mantiene un odds ratio de 2,1 aun ajustada, lo que apunta a un problema de propuesta de valor. El cheque electrónico aumenta el riesgo y la seguridad online y el soporte técnico lo reducen. Pareja y dependientes dejan de ser significativos. El mismo modelo, validado fuera de muestra con AUC 0,85, nos da el score de riesgo.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[Paula · 50 s] Con el score, cada cliente activo tiene una probabilidad de churn estimada fuera de muestra. Definimos tres niveles. Los de riesgo alto, con score de 40 % o más, son 820 clientes: el 16 % de los activos, pero el 53 % del MRR que esperamos perder. Luego priorizamos segmentos: P1 combina churn de 40 % o más y al menos 5 % del MRR en riesgo. Son tres segmentos, todos mes a mes, con 1.175 clientes activos y el 62 % del MRR en riesgo. Aquí termina el diagnóstico; Daniel presentará cuánto vale intervenir.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[Daniel · 10 s] Gracias, Paula. Sabemos dónde está el problema; ahora la pregunta es cuánto vale intervenir y cómo se usa el sistema cada 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[Daniel · 40 s] Como no podemos lanzar la campaña, el impacto se estima con escenarios, pero los supuestos no son arbitrarios. Comparamos clientes dentro de estratos homogéneos: por ejemplo, entre clientes mes a mes con fibra, quienes tienen seguridad online abandonan 21 puntos menos. Estas brechas son observacionales: quien elige protección o pago automático puede ser un cliente distinto. Por eso los supuestos de reducción atribuible del escenario base son mucho menores que las brechas: entre 10 % y 35 % de reducción del riesgo.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[Daniel · 40 s] Esta es la tabla de supuestos, con tres escenarios: conservador, base y optimista. Para cada palanca definimos el incentivo y su costo, la tasa de aceptación y la reducción atribuible. Además variamos el margen de contribución y el horizonte durante el cual el cliente salvado sigue pagando. El valor esperado de cada cliente es su probabilidad de churn por la aceptación, por la reducción, por el cargo mensual, por el margen y por el horizonte. El costo es el contacto más la aceptación por el incentivo. Todo esto está en el dashboard, de modo que la Gerencia puede cambiar un supuesto y ver el efecto.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[Daniel · 50 s] Este es el resultado central de la medición de impacto. El descuento masivo pierde dinero en el escenario base, −32 %, porque subsidia a miles de clientes que no se iban a ir. El programa sin focalizar apenas recupera su costo. El programa focalizado en riesgo alto da +179 % en el escenario base, con un costo de USD 184 por cliente salvado, frente a USD 677 del descuento masivo. Pero ninguna alternativa resiste el escenario conservador: el focalizado cae a −48 %. Por eso no recomendamos escalar de inmediato, sino validar con un piloto.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[Daniel · 50 s] El análisis de sensibilidad responde qué pasaría si la reducción atribuible fuera distinta. Con un horizonte de 12 meses, el programa focalizado es rentable si la reducción supera 5,0 %; con 6 meses, 10,1 %. Es una meta modesta y verificable. El piloto asigna al azar a los clientes de riesgo alto: la mitad recibe su palanca y la otra mitad es el grupo control, y la métrica primaria es el churn a 90 días. Con un solo corte de esta muestra el efecto esperado, 3,4 pp, es menor que el mínimo detectable, 9,7 pp, así que el piloto acumula cohortes mensuales.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[Daniel · 45 s] El dashboard tiene las tres vistas que pide el enunciado, más un simulador y una página de definiciones. La vista ejecutiva es para el Comité: seis KPIs con semáforo, la curva del ciclo de vida, la composición del MRR perdido y una lectura ejecutiva. Con ella tomamos tres decisiones: la North Star está por debajo de la meta, así que el Comité asigna presupuesto a retención focalizada; el 87 % de la pérdida está en mes a mes, así que la lista del mes se arma con ese segmento; y el churn temprano está en rojo, así que se activa el onboarding.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[Daniel · 45 s] La vista diagnóstica es para la Gerencia y para Analítica. Muestra la matriz de cohortes por antigüedad y contrato, el churn por método de pago y por protección, los odds ratios y los segmentos en un gráfico de dispersión. Un clic en cualquier barra filtra las demás. De aquí salen las palancas: el cheque electrónico triplica el churn, así que Facturación lanza el incentivo de pago automático; la falta de protección casi lo triplica, así que Producto ofrece el bundle; y la fibra mantiene el riesgo alto aun ajustada, lo que justifica investigar su propuesta de valor.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[Daniel · 45 s] La vista de monitoreo y acción es la que usa la Gerencia de Retención cada mes. Arriba, los clientes y el MRR de riesgo alto, el ROI focalizado y el costo por cliente salvado. Al centro, la tabla de priorización con la palanca dominante de cada segmento y el ROI por palanca, que cambia según el escenario elegido. Abajo, el plan de monitoreo con umbrales y responsables. Las acciones: contactar esta semana a los segmentos P1; usar onboarding, protección y pago automático, que son rentables, y limitar la migración con descuento, que pierde dinero; y aplicar la regla de decisión del 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[Daniel · 50 s] Como no podemos lanzar la campaña real, construimos un simulador de escenarios en Power BI, tal como lo sugirió la profesora. Se elige la alternativa, el escenario y, si se quiere, una reducción atribuible y un horizonte distintos; también se pueden apagar segmentos con los filtros de contrato e internet. Las tarjetas, el ROI por alternativa, la curva de sensibilidad y la tabla por palanca se recalculan, y una lectura automática resume el resultado. Por ejemplo, en el escenario conservador el ROI focalizado cae a −48 %; la alternativa B pierde dinero, y el punto de equilibrio está en 5,0 %. Si hay tiempo, lo mostramos en vivo. Le devuelvo la palabra a Oscar para el cierre.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[Oscar · 50 s] Para que el sistema sirva mes a mes, cada métrica tiene una regla, siguiendo la Plantilla 4: un umbral verde, amarillo y rojo, una interpretación y la acción que se ejecuta si la métrica sale del umbral, con su responsable. Por ejemplo, si la North Star cae por debajo de 69,5 %, el Comité revisa presupuesto y palancas; si el ARPU baja más de 3 %, se suspende el descuento de migración; y si el uplift del piloto a 90 días es significativo y supera el punto de equilibrio, se escala a toda la población elegible. Los umbrales se fijaron sobre el corte inicial y se recalibran con cada corte nuevo.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[Oscar · 50 s] Nuestra recomendación es concreta. Hoy, aprobar el piloto del programa focalizado sobre los 820 clientes de riesgo alto, empezando por las tres palancas de bajo costo, y no aprobar el descuento masivo. Escalar solo si se cumplen tres condiciones: un uplift a 90 días significativo y superior al punto de equilibrio, un ARPU que no caiga más de 3 % y un costo por cliente salvado menor a 200 dólares. Y un plan de 90 días: en el primer mes, la lista P1 y la aleatorización; durante tres meses, la ejecución con monitoreo semanal; y en el tercer mes, la lectura del piloto con el Comité.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[Oscar · 40 s] Reconocemos los límites del análisis. Hay un solo corte sin fechas, así que no hay tendencia mensual real; el churn está sobrerrepresentado, por lo que comparamos segmentos y no anualizamos; los efectos son observacionales, y por eso el piloto; los costos y la aceptación son supuestos, y por eso los escenarios y la sensibilidad; y existe el riesgo de comprar retención con descuentos, que controlamos con el ARPU y el ROI como métricas de balance. Los próximos pasos atienden cada uno de estos puntos.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[Oscar · 15 s] Cerramos con la idea que guía el curso: la meta no es reportar datos, sino ayudar a decidir mejor. Muchas gracias; quedamos atentos a sus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13294B"/>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SOR">
    <p:bg>
      <p:bgPr>
        <a:solidFill>
          <a:srgbClr val="13294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331720"/>
            <a:ext cx="10515600" cy="1005840"/>
          </a:xfrm>
          <a:prstGeom prst="rect">
            <a:avLst/>
          </a:prstGeom>
          <a:noFill/>
          <a:ln/>
        </p:spPr>
        <p:txBody>
          <a:bodyPr wrap="square" rtlCol="0"/>
          <a:lstStyle>
            <a:lvl1pPr algn="l" indent="0" marL="0">
              <a:buNone/>
              <a:defRPr lang="en-US" sz="40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822960" y="3429000"/>
            <a:ext cx="10515600" cy="548640"/>
          </a:xfrm>
          <a:prstGeom prst="rect">
            <a:avLst/>
          </a:prstGeom>
          <a:noFill/>
          <a:ln/>
        </p:spPr>
        <p:txBody>
          <a:bodyPr wrap="square" rtlCol="0"/>
          <a:lstStyle>
            <a:lvl1pPr algn="l" indent="0" marL="0">
              <a:buNone/>
              <a:defRPr lang="en-US" sz="2000" dirty="0">
                <a:solidFill>
                  <a:srgbClr val="C3D2E6"/>
                </a:solidFill>
                <a:latin typeface="Calibri" pitchFamily="34" charset="0"/>
                <a:ea typeface="Calibri" pitchFamily="34" charset="-122"/>
                <a:cs typeface="Calibri" pitchFamily="34" charset="-120"/>
              </a:defRPr>
            </a:lvl1pPr>
          </a:lstStyle>
          <a:p>
            <a:pPr algn="l" indent="0" marL="0">
              <a:buNone/>
            </a:pPr>
            <a:endParaRPr lang="en-US" sz="2000" dirty="0"/>
          </a:p>
        </p:txBody>
      </p:sp>
      <p:sp>
        <p:nvSpPr>
          <p:cNvPr id="4" name="Text 0"/>
          <p:cNvSpPr/>
          <p:nvPr/>
        </p:nvSpPr>
        <p:spPr>
          <a:xfrm>
            <a:off x="822960" y="6355080"/>
            <a:ext cx="7315200" cy="274320"/>
          </a:xfrm>
          <a:prstGeom prst="rect">
            <a:avLst/>
          </a:prstGeom>
          <a:noFill/>
          <a:ln/>
        </p:spPr>
        <p:txBody>
          <a:bodyPr wrap="square" lIns="0" tIns="0" rIns="0" bIns="0" rtlCol="0" anchor="ctr"/>
          <a:lstStyle/>
          <a:p>
            <a:pPr indent="0" marL="0">
              <a:buNone/>
            </a:pPr>
            <a:r>
              <a:rPr lang="en-US" sz="900" dirty="0">
                <a:solidFill>
                  <a:srgbClr val="8FA3BF"/>
                </a:solidFill>
                <a:latin typeface="Calibri" pitchFamily="34" charset="0"/>
                <a:ea typeface="Calibri" pitchFamily="34" charset="-122"/>
                <a:cs typeface="Calibri" pitchFamily="34" charset="-120"/>
              </a:rPr>
              <a:t>DataForge Consulting · Proyecto final DIBA · Caso Telco</a:t>
            </a:r>
            <a:endParaRPr lang="en-US" sz="9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FA3B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91672" cy="841248"/>
          </a:xfrm>
          <a:prstGeom prst="rect">
            <a:avLst/>
          </a:prstGeom>
          <a:noFill/>
          <a:ln/>
        </p:spPr>
        <p:txBody>
          <a:bodyPr wrap="square" rtlCol="0"/>
          <a:lstStyle>
            <a:lvl1pPr algn="l" indent="0" marL="0">
              <a:buNone/>
              <a:defRPr lang="en-US" sz="2400" b="1" dirty="0">
                <a:solidFill>
                  <a:srgbClr val="13294B"/>
                </a:solidFill>
                <a:latin typeface="Cambria" pitchFamily="34" charset="0"/>
                <a:ea typeface="Cambria" pitchFamily="34" charset="-122"/>
                <a:cs typeface="Cambria" pitchFamily="34" charset="-120"/>
              </a:defRPr>
            </a:lvl1pPr>
          </a:lstStyle>
          <a:p>
            <a:pPr algn="l" indent="0" marL="0">
              <a:buNone/>
            </a:pPr>
            <a:endParaRPr lang="en-US" sz="2400" dirty="0"/>
          </a:p>
        </p:txBody>
      </p:sp>
      <p:sp>
        <p:nvSpPr>
          <p:cNvPr id="3" name="Text 0"/>
          <p:cNvSpPr/>
          <p:nvPr/>
        </p:nvSpPr>
        <p:spPr>
          <a:xfrm>
            <a:off x="548640" y="6446520"/>
            <a:ext cx="7315200" cy="256032"/>
          </a:xfrm>
          <a:prstGeom prst="rect">
            <a:avLst/>
          </a:prstGeom>
          <a:noFill/>
          <a:ln/>
        </p:spPr>
        <p:txBody>
          <a:bodyPr wrap="square" lIns="0" tIns="0" rIns="0" bIns="0" rtlCol="0" anchor="ctr"/>
          <a:lstStyle/>
          <a:p>
            <a:pPr indent="0" marL="0">
              <a:buNone/>
            </a:pPr>
            <a:r>
              <a:rPr lang="en-US" sz="900" dirty="0">
                <a:solidFill>
                  <a:srgbClr val="5B6573"/>
                </a:solidFill>
                <a:latin typeface="Calibri" pitchFamily="34" charset="0"/>
                <a:ea typeface="Calibri" pitchFamily="34" charset="-122"/>
                <a:cs typeface="Calibri" pitchFamily="34" charset="-120"/>
              </a:rPr>
              <a:t>DataForge Consulting · Proyecto final DIBA · Caso Telco</a:t>
            </a:r>
            <a:endParaRPr lang="en-US" sz="900" dirty="0"/>
          </a:p>
        </p:txBody>
      </p:sp>
      <p:sp>
        <p:nvSpPr>
          <p:cNvPr id="25" name="Slide Number Placeholder 0"/>
          <p:cNvSpPr>
            <a:spLocks noGrp="1"/>
          </p:cNvSpPr>
          <p:nvPr>
            <p:ph type="sldNum" sz="quarter" idx="4294967295"/>
          </p:nvPr>
        </p:nvSpPr>
        <p:spPr>
          <a:xfrm>
            <a:off x="11091672"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5B6573"/>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IERRE">
    <p:bg>
      <p:bgPr>
        <a:solidFill>
          <a:srgbClr val="13294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FA3B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charts/chart3.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charts/chart5.xml"/><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charts/chart6.xml"/><Relationship Id="rId2" Type="http://schemas.openxmlformats.org/officeDocument/2006/relationships/chart" Target="../charts/chart7.xml"/><Relationship Id="rId3" Type="http://schemas.openxmlformats.org/officeDocument/2006/relationships/slideLayout" Target="../slideLayouts/slideLayout4.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charts/chart8.xml"/><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charts/chart9.xml"/><Relationship Id="rId2" Type="http://schemas.openxmlformats.org/officeDocument/2006/relationships/chart" Target="../charts/chart10.xml"/><Relationship Id="rId3" Type="http://schemas.openxmlformats.org/officeDocument/2006/relationships/chart" Target="../charts/chart11.xml"/><Relationship Id="rId4" Type="http://schemas.openxmlformats.org/officeDocument/2006/relationships/slideLayout" Target="../slideLayouts/slideLayout4.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charts/chart12.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charts/chart13.xml"/><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charts/chart14.xml"/><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charts/chart15.xml"/><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charts/chart16.xml"/><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4.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4.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548640"/>
            <a:ext cx="5486400" cy="320040"/>
          </a:xfrm>
          <a:prstGeom prst="rect">
            <a:avLst/>
          </a:prstGeom>
          <a:noFill/>
          <a:ln/>
        </p:spPr>
        <p:txBody>
          <a:bodyPr wrap="square" lIns="0" tIns="0" rIns="0" bIns="0" rtlCol="0" anchor="ctr"/>
          <a:lstStyle/>
          <a:p>
            <a:pPr indent="0" marL="0">
              <a:buNone/>
            </a:pPr>
            <a:r>
              <a:rPr lang="en-US" sz="1400" b="1" spc="300" kern="0" dirty="0">
                <a:solidFill>
                  <a:srgbClr val="FFFFFF"/>
                </a:solidFill>
                <a:latin typeface="Calibri" pitchFamily="34" charset="0"/>
                <a:ea typeface="Calibri" pitchFamily="34" charset="-122"/>
                <a:cs typeface="Calibri" pitchFamily="34" charset="-120"/>
              </a:rPr>
              <a:t>DATAFORGE CONSULTING</a:t>
            </a:r>
            <a:endParaRPr lang="en-US" sz="1400" dirty="0"/>
          </a:p>
        </p:txBody>
      </p:sp>
      <p:sp>
        <p:nvSpPr>
          <p:cNvPr id="3" name="Text 1"/>
          <p:cNvSpPr txBox="1"/>
          <p:nvPr/>
        </p:nvSpPr>
        <p:spPr>
          <a:xfrm>
            <a:off x="731520" y="868680"/>
            <a:ext cx="5486400" cy="274320"/>
          </a:xfrm>
          <a:prstGeom prst="rect">
            <a:avLst/>
          </a:prstGeom>
          <a:noFill/>
          <a:ln/>
        </p:spPr>
        <p:txBody>
          <a:bodyPr wrap="square" lIns="0" tIns="0" rIns="0" bIns="0" rtlCol="0" anchor="ctr"/>
          <a:lstStyle/>
          <a:p>
            <a:pPr indent="0" marL="0">
              <a:buNone/>
            </a:pPr>
            <a:r>
              <a:rPr lang="en-US" sz="1200" dirty="0">
                <a:solidFill>
                  <a:srgbClr val="C3D2E6"/>
                </a:solidFill>
                <a:latin typeface="Calibri" pitchFamily="34" charset="0"/>
                <a:ea typeface="Calibri" pitchFamily="34" charset="-122"/>
                <a:cs typeface="Calibri" pitchFamily="34" charset="-120"/>
              </a:rPr>
              <a:t>Analítica para decidir mejor</a:t>
            </a:r>
            <a:endParaRPr lang="en-US" sz="1200" dirty="0"/>
          </a:p>
        </p:txBody>
      </p:sp>
      <p:sp>
        <p:nvSpPr>
          <p:cNvPr id="4" name="Text 2"/>
          <p:cNvSpPr txBox="1"/>
          <p:nvPr/>
        </p:nvSpPr>
        <p:spPr>
          <a:xfrm>
            <a:off x="731520" y="1691640"/>
            <a:ext cx="6766560" cy="137160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Retener valor, no solo clientes</a:t>
            </a:r>
            <a:endParaRPr lang="en-US" sz="4400" dirty="0"/>
          </a:p>
        </p:txBody>
      </p:sp>
      <p:sp>
        <p:nvSpPr>
          <p:cNvPr id="5" name="Text 3"/>
          <p:cNvSpPr txBox="1"/>
          <p:nvPr/>
        </p:nvSpPr>
        <p:spPr>
          <a:xfrm>
            <a:off x="731520" y="3154680"/>
            <a:ext cx="6583680" cy="731520"/>
          </a:xfrm>
          <a:prstGeom prst="rect">
            <a:avLst/>
          </a:prstGeom>
          <a:noFill/>
          <a:ln/>
        </p:spPr>
        <p:txBody>
          <a:bodyPr wrap="square" lIns="0" tIns="0" rIns="0" bIns="0" rtlCol="0" anchor="t"/>
          <a:lstStyle/>
          <a:p>
            <a:pPr indent="0" marL="0">
              <a:buNone/>
            </a:pPr>
            <a:r>
              <a:rPr lang="en-US" sz="2000" dirty="0">
                <a:solidFill>
                  <a:srgbClr val="C3D2E6"/>
                </a:solidFill>
                <a:latin typeface="Calibri" pitchFamily="34" charset="0"/>
                <a:ea typeface="Calibri" pitchFamily="34" charset="-122"/>
                <a:cs typeface="Calibri" pitchFamily="34" charset="-120"/>
              </a:rPr>
              <a:t>Sistema de Decision Intelligence para la retención de clientes · Caso Telco</a:t>
            </a:r>
            <a:endParaRPr lang="en-US" sz="2000" dirty="0"/>
          </a:p>
        </p:txBody>
      </p:sp>
      <p:sp>
        <p:nvSpPr>
          <p:cNvPr id="6" name="Text 4"/>
          <p:cNvSpPr txBox="1"/>
          <p:nvPr/>
        </p:nvSpPr>
        <p:spPr>
          <a:xfrm>
            <a:off x="731520" y="4251960"/>
            <a:ext cx="5486400" cy="274320"/>
          </a:xfrm>
          <a:prstGeom prst="rect">
            <a:avLst/>
          </a:prstGeom>
          <a:noFill/>
          <a:ln/>
        </p:spPr>
        <p:txBody>
          <a:bodyPr wrap="square" lIns="0" tIns="0" rIns="0" bIns="0" rtlCol="0" anchor="ctr"/>
          <a:lstStyle/>
          <a:p>
            <a:pPr indent="0" marL="0">
              <a:buNone/>
            </a:pPr>
            <a:r>
              <a:rPr lang="en-US" sz="1100" b="1" spc="200" kern="0" dirty="0">
                <a:solidFill>
                  <a:srgbClr val="EB6834"/>
                </a:solidFill>
                <a:latin typeface="Calibri" pitchFamily="34" charset="0"/>
                <a:ea typeface="Calibri" pitchFamily="34" charset="-122"/>
                <a:cs typeface="Calibri" pitchFamily="34" charset="-120"/>
              </a:rPr>
              <a:t>EQUIPO CONSULTOR</a:t>
            </a:r>
            <a:endParaRPr lang="en-US" sz="1100" dirty="0"/>
          </a:p>
        </p:txBody>
      </p:sp>
      <p:sp>
        <p:nvSpPr>
          <p:cNvPr id="7" name="Text 5"/>
          <p:cNvSpPr txBox="1"/>
          <p:nvPr/>
        </p:nvSpPr>
        <p:spPr>
          <a:xfrm>
            <a:off x="731520" y="4553712"/>
            <a:ext cx="6949440" cy="64008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Oscar Santiago Merino Suárez  ·  Claudia Rocío Rodríguez Ortiz</a:t>
            </a:r>
            <a:endParaRPr lang="en-US" sz="1500" dirty="0"/>
          </a:p>
          <a:p>
            <a:pPr indent="0" marL="0">
              <a:buNone/>
            </a:pPr>
            <a:r>
              <a:rPr lang="en-US" sz="1500" dirty="0">
                <a:solidFill>
                  <a:srgbClr val="FFFFFF"/>
                </a:solidFill>
                <a:latin typeface="Calibri" pitchFamily="34" charset="0"/>
                <a:ea typeface="Calibri" pitchFamily="34" charset="-122"/>
                <a:cs typeface="Calibri" pitchFamily="34" charset="-120"/>
              </a:rPr>
              <a:t>Paula Andrea Gacha García  ·  Daniel Felipe Pérez Pineda</a:t>
            </a:r>
            <a:endParaRPr lang="en-US" sz="1500" dirty="0"/>
          </a:p>
        </p:txBody>
      </p:sp>
      <p:sp>
        <p:nvSpPr>
          <p:cNvPr id="8" name="Text 6"/>
          <p:cNvSpPr txBox="1"/>
          <p:nvPr/>
        </p:nvSpPr>
        <p:spPr>
          <a:xfrm>
            <a:off x="731520" y="5760720"/>
            <a:ext cx="8229600" cy="548640"/>
          </a:xfrm>
          <a:prstGeom prst="rect">
            <a:avLst/>
          </a:prstGeom>
          <a:noFill/>
          <a:ln/>
        </p:spPr>
        <p:txBody>
          <a:bodyPr wrap="square" lIns="0" tIns="0" rIns="0" bIns="0" rtlCol="0" anchor="t"/>
          <a:lstStyle/>
          <a:p>
            <a:pPr indent="0" marL="0">
              <a:buNone/>
            </a:pPr>
            <a:r>
              <a:rPr lang="en-US" sz="1100" dirty="0">
                <a:solidFill>
                  <a:srgbClr val="8FA3BF"/>
                </a:solidFill>
                <a:latin typeface="Calibri" pitchFamily="34" charset="0"/>
                <a:ea typeface="Calibri" pitchFamily="34" charset="-122"/>
                <a:cs typeface="Calibri" pitchFamily="34" charset="-120"/>
              </a:rPr>
              <a:t>Decision Intelligence &amp; Business Analytics</a:t>
            </a:r>
            <a:endParaRPr lang="en-US" sz="1100" dirty="0"/>
          </a:p>
          <a:p>
            <a:pPr indent="0" marL="0">
              <a:buNone/>
            </a:pPr>
            <a:r>
              <a:rPr lang="en-US" sz="1100" dirty="0">
                <a:solidFill>
                  <a:srgbClr val="8FA3BF"/>
                </a:solidFill>
                <a:latin typeface="Calibri" pitchFamily="34" charset="0"/>
                <a:ea typeface="Calibri" pitchFamily="34" charset="-122"/>
                <a:cs typeface="Calibri" pitchFamily="34" charset="-120"/>
              </a:rPr>
              <a:t>Escuela Colombiana de Ingeniería Julio Garavito · Docente: Juliana De Mier Medellín · Noviembre de 2026</a:t>
            </a:r>
            <a:endParaRPr lang="en-US" sz="1100" dirty="0"/>
          </a:p>
        </p:txBody>
      </p:sp>
      <p:graphicFrame>
        <p:nvGraphicFramePr>
          <p:cNvPr id="9" name="Chart 0" descr=""/>
          <p:cNvGraphicFramePr/>
          <p:nvPr/>
        </p:nvGraphicFramePr>
        <p:xfrm>
          <a:off x="7818120" y="1325880"/>
          <a:ext cx="3840480" cy="384048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8503920" y="2788920"/>
            <a:ext cx="2468880" cy="914400"/>
          </a:xfrm>
          <a:prstGeom prst="rect">
            <a:avLst/>
          </a:prstGeom>
          <a:noFill/>
          <a:ln/>
        </p:spPr>
        <p:txBody>
          <a:bodyPr wrap="square" lIns="0" tIns="0" rIns="0" bIns="0" rtlCol="0" anchor="ctr"/>
          <a:lstStyle/>
          <a:p>
            <a:pPr algn="ctr" indent="0" marL="0">
              <a:buNone/>
            </a:pPr>
            <a:r>
              <a:rPr lang="en-US" sz="3600" b="1" dirty="0">
                <a:solidFill>
                  <a:srgbClr val="FFFFFF"/>
                </a:solidFill>
                <a:latin typeface="Cambria" pitchFamily="34" charset="0"/>
                <a:ea typeface="Cambria" pitchFamily="34" charset="-122"/>
                <a:cs typeface="Cambria" pitchFamily="34" charset="-120"/>
              </a:rPr>
              <a:t>30,5 %</a:t>
            </a:r>
            <a:endParaRPr lang="en-US" sz="3600" dirty="0"/>
          </a:p>
          <a:p>
            <a:pPr algn="ctr" indent="0" marL="0">
              <a:buNone/>
            </a:pPr>
            <a:r>
              <a:rPr lang="en-US" sz="1300" dirty="0">
                <a:solidFill>
                  <a:srgbClr val="C3D2E6"/>
                </a:solidFill>
                <a:latin typeface="Calibri" pitchFamily="34" charset="0"/>
                <a:ea typeface="Calibri" pitchFamily="34" charset="-122"/>
                <a:cs typeface="Calibri" pitchFamily="34" charset="-120"/>
              </a:rPr>
              <a:t>del MRR se pierde por churn</a:t>
            </a:r>
            <a:endParaRPr 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64592"/>
            <a:ext cx="11091672" cy="256032"/>
          </a:xfrm>
          <a:prstGeom prst="rect">
            <a:avLst/>
          </a:prstGeom>
          <a:noFill/>
          <a:ln/>
        </p:spPr>
        <p:txBody>
          <a:bodyPr wrap="square" lIns="0" tIns="0" rIns="0" bIns="0" rtlCol="0" anchor="ctr"/>
          <a:lstStyle/>
          <a:p>
            <a:pPr indent="0" marL="0">
              <a:buNone/>
            </a:pPr>
            <a:r>
              <a:rPr lang="en-US" sz="1100" b="1" spc="50" kern="0" dirty="0">
                <a:solidFill>
                  <a:srgbClr val="2A78D6"/>
                </a:solidFill>
                <a:latin typeface="Calibri" pitchFamily="34" charset="0"/>
                <a:ea typeface="Calibri" pitchFamily="34" charset="-122"/>
                <a:cs typeface="Calibri" pitchFamily="34" charset="-120"/>
              </a:rPr>
              <a:t>01 · PROBLEMA Y DECISIÓN</a:t>
            </a:r>
            <a:pPr indent="0" marL="0">
              <a:buNone/>
            </a:pPr>
            <a:endParaRPr lang="en-US" sz="1100" dirty="0"/>
          </a:p>
        </p:txBody>
      </p:sp>
      <p:sp>
        <p:nvSpPr>
          <p:cNvPr id="3" name="Text 0"/>
          <p:cNvSpPr/>
          <p:nvPr>
            <p:ph idx="100" type="title" hasCustomPrompt="1"/>
          </p:nvPr>
        </p:nvSpPr>
        <p:spPr>
          <a:xfrm>
            <a:off x="548640" y="457200"/>
            <a:ext cx="11091672" cy="841248"/>
          </a:xfrm>
          <a:prstGeom prst="rect">
            <a:avLst/>
          </a:prstGeom>
          <a:noFill/>
          <a:ln/>
        </p:spPr>
        <p:txBody>
          <a:bodyPr wrap="square" lIns="0" tIns="0" rIns="0" bIns="0" rtlCol="0" anchor="t"/>
          <a:lstStyle/>
          <a:p>
            <a:pPr algn="l" indent="0" marL="0">
              <a:buNone/>
            </a:pPr>
            <a:r>
              <a:rPr lang="en-US" sz="2400" b="1" dirty="0">
                <a:solidFill>
                  <a:srgbClr val="13294B"/>
                </a:solidFill>
                <a:latin typeface="Cambria" pitchFamily="34" charset="0"/>
                <a:ea typeface="Cambria" pitchFamily="34" charset="-122"/>
                <a:cs typeface="Cambria" pitchFamily="34" charset="-120"/>
              </a:rPr>
              <a:t>Cómo construimos el sistema: del problema a la recomendación</a:t>
            </a:r>
            <a:endParaRPr lang="en-US" sz="2400" dirty="0"/>
          </a:p>
        </p:txBody>
      </p:sp>
      <p:sp>
        <p:nvSpPr>
          <p:cNvPr id="5" name="Shape 2"/>
          <p:cNvSpPr/>
          <p:nvPr/>
        </p:nvSpPr>
        <p:spPr>
          <a:xfrm>
            <a:off x="1143000" y="1965960"/>
            <a:ext cx="10241280" cy="0"/>
          </a:xfrm>
          <a:prstGeom prst="line">
            <a:avLst/>
          </a:prstGeom>
          <a:noFill/>
          <a:ln w="25400">
            <a:solidFill>
              <a:srgbClr val="DDE3EA"/>
            </a:solidFill>
            <a:prstDash val="solid"/>
          </a:ln>
        </p:spPr>
        <p:txBody>
          <a:bodyPr/>
          <a:p/>
        </p:txBody>
      </p:sp>
      <p:sp>
        <p:nvSpPr>
          <p:cNvPr id="6" name="Shape 3"/>
          <p:cNvSpPr/>
          <p:nvPr/>
        </p:nvSpPr>
        <p:spPr>
          <a:xfrm>
            <a:off x="868680" y="1691640"/>
            <a:ext cx="548640" cy="548640"/>
          </a:xfrm>
          <a:prstGeom prst="ellipse">
            <a:avLst/>
          </a:prstGeom>
          <a:solidFill>
            <a:srgbClr val="13294B"/>
          </a:solidFill>
          <a:ln w="12700">
            <a:solidFill>
              <a:srgbClr val="13294B"/>
            </a:solidFill>
            <a:prstDash val="solid"/>
          </a:ln>
        </p:spPr>
        <p:txBody>
          <a:bodyPr/>
          <a:p/>
        </p:txBody>
      </p:sp>
      <p:sp>
        <p:nvSpPr>
          <p:cNvPr id="7" name="Text 4"/>
          <p:cNvSpPr txBox="1"/>
          <p:nvPr/>
        </p:nvSpPr>
        <p:spPr>
          <a:xfrm>
            <a:off x="868680" y="1691640"/>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txBox="1"/>
          <p:nvPr/>
        </p:nvSpPr>
        <p:spPr>
          <a:xfrm>
            <a:off x="457200" y="2331720"/>
            <a:ext cx="1371600" cy="548640"/>
          </a:xfrm>
          <a:prstGeom prst="rect">
            <a:avLst/>
          </a:prstGeom>
          <a:noFill/>
          <a:ln/>
        </p:spPr>
        <p:txBody>
          <a:bodyPr wrap="square" lIns="0" tIns="0" rIns="0" bIns="0" rtlCol="0" anchor="t"/>
          <a:lstStyle/>
          <a:p>
            <a:pPr algn="ctr" indent="0" marL="0">
              <a:buNone/>
            </a:pPr>
            <a:r>
              <a:rPr lang="en-US" sz="1300" b="1" dirty="0">
                <a:solidFill>
                  <a:srgbClr val="1B1F24"/>
                </a:solidFill>
                <a:latin typeface="Calibri" pitchFamily="34" charset="0"/>
                <a:ea typeface="Calibri" pitchFamily="34" charset="-122"/>
                <a:cs typeface="Calibri" pitchFamily="34" charset="-120"/>
              </a:rPr>
              <a:t>Problema</a:t>
            </a:r>
            <a:endParaRPr lang="en-US" sz="1300" dirty="0"/>
          </a:p>
        </p:txBody>
      </p:sp>
      <p:sp>
        <p:nvSpPr>
          <p:cNvPr id="9" name="Shape 6"/>
          <p:cNvSpPr/>
          <p:nvPr/>
        </p:nvSpPr>
        <p:spPr>
          <a:xfrm>
            <a:off x="2331720" y="1691640"/>
            <a:ext cx="548640" cy="548640"/>
          </a:xfrm>
          <a:prstGeom prst="ellipse">
            <a:avLst/>
          </a:prstGeom>
          <a:solidFill>
            <a:srgbClr val="13294B"/>
          </a:solidFill>
          <a:ln w="12700">
            <a:solidFill>
              <a:srgbClr val="13294B"/>
            </a:solidFill>
            <a:prstDash val="solid"/>
          </a:ln>
        </p:spPr>
        <p:txBody>
          <a:bodyPr/>
          <a:p/>
        </p:txBody>
      </p:sp>
      <p:sp>
        <p:nvSpPr>
          <p:cNvPr id="10" name="Text 7"/>
          <p:cNvSpPr txBox="1"/>
          <p:nvPr/>
        </p:nvSpPr>
        <p:spPr>
          <a:xfrm>
            <a:off x="2331720" y="1691640"/>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8"/>
          <p:cNvSpPr txBox="1"/>
          <p:nvPr/>
        </p:nvSpPr>
        <p:spPr>
          <a:xfrm>
            <a:off x="1920240" y="2331720"/>
            <a:ext cx="1371600" cy="548640"/>
          </a:xfrm>
          <a:prstGeom prst="rect">
            <a:avLst/>
          </a:prstGeom>
          <a:noFill/>
          <a:ln/>
        </p:spPr>
        <p:txBody>
          <a:bodyPr wrap="square" lIns="0" tIns="0" rIns="0" bIns="0" rtlCol="0" anchor="t"/>
          <a:lstStyle/>
          <a:p>
            <a:pPr algn="ctr" indent="0" marL="0">
              <a:buNone/>
            </a:pPr>
            <a:r>
              <a:rPr lang="en-US" sz="1300" b="1" dirty="0">
                <a:solidFill>
                  <a:srgbClr val="1B1F24"/>
                </a:solidFill>
                <a:latin typeface="Calibri" pitchFamily="34" charset="0"/>
                <a:ea typeface="Calibri" pitchFamily="34" charset="-122"/>
                <a:cs typeface="Calibri" pitchFamily="34" charset="-120"/>
              </a:rPr>
              <a:t>Decisión</a:t>
            </a:r>
            <a:endParaRPr lang="en-US" sz="1300" dirty="0"/>
          </a:p>
        </p:txBody>
      </p:sp>
      <p:sp>
        <p:nvSpPr>
          <p:cNvPr id="12" name="Shape 9"/>
          <p:cNvSpPr/>
          <p:nvPr/>
        </p:nvSpPr>
        <p:spPr>
          <a:xfrm>
            <a:off x="3794760" y="1691640"/>
            <a:ext cx="548640" cy="548640"/>
          </a:xfrm>
          <a:prstGeom prst="ellipse">
            <a:avLst/>
          </a:prstGeom>
          <a:solidFill>
            <a:srgbClr val="2A78D6"/>
          </a:solidFill>
          <a:ln w="12700">
            <a:solidFill>
              <a:srgbClr val="2A78D6"/>
            </a:solidFill>
            <a:prstDash val="solid"/>
          </a:ln>
        </p:spPr>
        <p:txBody>
          <a:bodyPr/>
          <a:p/>
        </p:txBody>
      </p:sp>
      <p:sp>
        <p:nvSpPr>
          <p:cNvPr id="13" name="Text 10"/>
          <p:cNvSpPr txBox="1"/>
          <p:nvPr/>
        </p:nvSpPr>
        <p:spPr>
          <a:xfrm>
            <a:off x="3794760" y="1691640"/>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1"/>
          <p:cNvSpPr txBox="1"/>
          <p:nvPr/>
        </p:nvSpPr>
        <p:spPr>
          <a:xfrm>
            <a:off x="3383280" y="2331720"/>
            <a:ext cx="1371600" cy="548640"/>
          </a:xfrm>
          <a:prstGeom prst="rect">
            <a:avLst/>
          </a:prstGeom>
          <a:noFill/>
          <a:ln/>
        </p:spPr>
        <p:txBody>
          <a:bodyPr wrap="square" lIns="0" tIns="0" rIns="0" bIns="0" rtlCol="0" anchor="t"/>
          <a:lstStyle/>
          <a:p>
            <a:pPr algn="ctr" indent="0" marL="0">
              <a:buNone/>
            </a:pPr>
            <a:r>
              <a:rPr lang="en-US" sz="1300" b="1" dirty="0">
                <a:solidFill>
                  <a:srgbClr val="1B1F24"/>
                </a:solidFill>
                <a:latin typeface="Calibri" pitchFamily="34" charset="0"/>
                <a:ea typeface="Calibri" pitchFamily="34" charset="-122"/>
                <a:cs typeface="Calibri" pitchFamily="34" charset="-120"/>
              </a:rPr>
              <a:t>Métricas</a:t>
            </a:r>
            <a:endParaRPr lang="en-US" sz="1300" dirty="0"/>
          </a:p>
        </p:txBody>
      </p:sp>
      <p:sp>
        <p:nvSpPr>
          <p:cNvPr id="15" name="Shape 12"/>
          <p:cNvSpPr/>
          <p:nvPr/>
        </p:nvSpPr>
        <p:spPr>
          <a:xfrm>
            <a:off x="5257800" y="1691640"/>
            <a:ext cx="548640" cy="548640"/>
          </a:xfrm>
          <a:prstGeom prst="ellipse">
            <a:avLst/>
          </a:prstGeom>
          <a:solidFill>
            <a:srgbClr val="2A78D6"/>
          </a:solidFill>
          <a:ln w="12700">
            <a:solidFill>
              <a:srgbClr val="2A78D6"/>
            </a:solidFill>
            <a:prstDash val="solid"/>
          </a:ln>
        </p:spPr>
        <p:txBody>
          <a:bodyPr/>
          <a:p/>
        </p:txBody>
      </p:sp>
      <p:sp>
        <p:nvSpPr>
          <p:cNvPr id="16" name="Text 13"/>
          <p:cNvSpPr txBox="1"/>
          <p:nvPr/>
        </p:nvSpPr>
        <p:spPr>
          <a:xfrm>
            <a:off x="5257800" y="1691640"/>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4"/>
          <p:cNvSpPr txBox="1"/>
          <p:nvPr/>
        </p:nvSpPr>
        <p:spPr>
          <a:xfrm>
            <a:off x="4846320" y="2331720"/>
            <a:ext cx="1371600" cy="548640"/>
          </a:xfrm>
          <a:prstGeom prst="rect">
            <a:avLst/>
          </a:prstGeom>
          <a:noFill/>
          <a:ln/>
        </p:spPr>
        <p:txBody>
          <a:bodyPr wrap="square" lIns="0" tIns="0" rIns="0" bIns="0" rtlCol="0" anchor="t"/>
          <a:lstStyle/>
          <a:p>
            <a:pPr algn="ctr" indent="0" marL="0">
              <a:buNone/>
            </a:pPr>
            <a:r>
              <a:rPr lang="en-US" sz="1300" b="1" dirty="0">
                <a:solidFill>
                  <a:srgbClr val="1B1F24"/>
                </a:solidFill>
                <a:latin typeface="Calibri" pitchFamily="34" charset="0"/>
                <a:ea typeface="Calibri" pitchFamily="34" charset="-122"/>
                <a:cs typeface="Calibri" pitchFamily="34" charset="-120"/>
              </a:rPr>
              <a:t>Datos</a:t>
            </a:r>
            <a:endParaRPr lang="en-US" sz="1300" dirty="0"/>
          </a:p>
        </p:txBody>
      </p:sp>
      <p:sp>
        <p:nvSpPr>
          <p:cNvPr id="18" name="Shape 15"/>
          <p:cNvSpPr/>
          <p:nvPr/>
        </p:nvSpPr>
        <p:spPr>
          <a:xfrm>
            <a:off x="6720840" y="1691640"/>
            <a:ext cx="548640" cy="548640"/>
          </a:xfrm>
          <a:prstGeom prst="ellipse">
            <a:avLst/>
          </a:prstGeom>
          <a:solidFill>
            <a:srgbClr val="1BAF7A"/>
          </a:solidFill>
          <a:ln w="12700">
            <a:solidFill>
              <a:srgbClr val="1BAF7A"/>
            </a:solidFill>
            <a:prstDash val="solid"/>
          </a:ln>
        </p:spPr>
        <p:txBody>
          <a:bodyPr/>
          <a:p/>
        </p:txBody>
      </p:sp>
      <p:sp>
        <p:nvSpPr>
          <p:cNvPr id="19" name="Text 16"/>
          <p:cNvSpPr txBox="1"/>
          <p:nvPr/>
        </p:nvSpPr>
        <p:spPr>
          <a:xfrm>
            <a:off x="6720840" y="1691640"/>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7"/>
          <p:cNvSpPr txBox="1"/>
          <p:nvPr/>
        </p:nvSpPr>
        <p:spPr>
          <a:xfrm>
            <a:off x="6309360" y="2331720"/>
            <a:ext cx="1371600" cy="548640"/>
          </a:xfrm>
          <a:prstGeom prst="rect">
            <a:avLst/>
          </a:prstGeom>
          <a:noFill/>
          <a:ln/>
        </p:spPr>
        <p:txBody>
          <a:bodyPr wrap="square" lIns="0" tIns="0" rIns="0" bIns="0" rtlCol="0" anchor="t"/>
          <a:lstStyle/>
          <a:p>
            <a:pPr algn="ctr" indent="0" marL="0">
              <a:buNone/>
            </a:pPr>
            <a:r>
              <a:rPr lang="en-US" sz="1300" b="1" dirty="0">
                <a:solidFill>
                  <a:srgbClr val="1B1F24"/>
                </a:solidFill>
                <a:latin typeface="Calibri" pitchFamily="34" charset="0"/>
                <a:ea typeface="Calibri" pitchFamily="34" charset="-122"/>
                <a:cs typeface="Calibri" pitchFamily="34" charset="-120"/>
              </a:rPr>
              <a:t>Análisis</a:t>
            </a:r>
            <a:endParaRPr lang="en-US" sz="1300" dirty="0"/>
          </a:p>
        </p:txBody>
      </p:sp>
      <p:sp>
        <p:nvSpPr>
          <p:cNvPr id="21" name="Shape 18"/>
          <p:cNvSpPr/>
          <p:nvPr/>
        </p:nvSpPr>
        <p:spPr>
          <a:xfrm>
            <a:off x="8183880" y="1691640"/>
            <a:ext cx="548640" cy="548640"/>
          </a:xfrm>
          <a:prstGeom prst="ellipse">
            <a:avLst/>
          </a:prstGeom>
          <a:solidFill>
            <a:srgbClr val="EB6834"/>
          </a:solidFill>
          <a:ln w="12700">
            <a:solidFill>
              <a:srgbClr val="EB6834"/>
            </a:solidFill>
            <a:prstDash val="solid"/>
          </a:ln>
        </p:spPr>
        <p:txBody>
          <a:bodyPr/>
          <a:p/>
        </p:txBody>
      </p:sp>
      <p:sp>
        <p:nvSpPr>
          <p:cNvPr id="22" name="Text 19"/>
          <p:cNvSpPr txBox="1"/>
          <p:nvPr/>
        </p:nvSpPr>
        <p:spPr>
          <a:xfrm>
            <a:off x="8183880" y="1691640"/>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3" name="Text 20"/>
          <p:cNvSpPr txBox="1"/>
          <p:nvPr/>
        </p:nvSpPr>
        <p:spPr>
          <a:xfrm>
            <a:off x="7772400" y="2331720"/>
            <a:ext cx="1371600" cy="548640"/>
          </a:xfrm>
          <a:prstGeom prst="rect">
            <a:avLst/>
          </a:prstGeom>
          <a:noFill/>
          <a:ln/>
        </p:spPr>
        <p:txBody>
          <a:bodyPr wrap="square" lIns="0" tIns="0" rIns="0" bIns="0" rtlCol="0" anchor="t"/>
          <a:lstStyle/>
          <a:p>
            <a:pPr algn="ctr" indent="0" marL="0">
              <a:buNone/>
            </a:pPr>
            <a:r>
              <a:rPr lang="en-US" sz="1300" b="1" dirty="0">
                <a:solidFill>
                  <a:srgbClr val="1B1F24"/>
                </a:solidFill>
                <a:latin typeface="Calibri" pitchFamily="34" charset="0"/>
                <a:ea typeface="Calibri" pitchFamily="34" charset="-122"/>
                <a:cs typeface="Calibri" pitchFamily="34" charset="-120"/>
              </a:rPr>
              <a:t>Impacto</a:t>
            </a:r>
            <a:endParaRPr lang="en-US" sz="1300" dirty="0"/>
          </a:p>
        </p:txBody>
      </p:sp>
      <p:sp>
        <p:nvSpPr>
          <p:cNvPr id="24" name="Shape 21"/>
          <p:cNvSpPr/>
          <p:nvPr/>
        </p:nvSpPr>
        <p:spPr>
          <a:xfrm>
            <a:off x="9646920" y="1691640"/>
            <a:ext cx="548640" cy="548640"/>
          </a:xfrm>
          <a:prstGeom prst="ellipse">
            <a:avLst/>
          </a:prstGeom>
          <a:solidFill>
            <a:srgbClr val="EB6834"/>
          </a:solidFill>
          <a:ln w="12700">
            <a:solidFill>
              <a:srgbClr val="EB6834"/>
            </a:solidFill>
            <a:prstDash val="solid"/>
          </a:ln>
        </p:spPr>
        <p:txBody>
          <a:bodyPr/>
          <a:p/>
        </p:txBody>
      </p:sp>
      <p:sp>
        <p:nvSpPr>
          <p:cNvPr id="25" name="Text 22"/>
          <p:cNvSpPr txBox="1"/>
          <p:nvPr/>
        </p:nvSpPr>
        <p:spPr>
          <a:xfrm>
            <a:off x="9646920" y="1691640"/>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26" name="Text 23"/>
          <p:cNvSpPr txBox="1"/>
          <p:nvPr/>
        </p:nvSpPr>
        <p:spPr>
          <a:xfrm>
            <a:off x="9235440" y="2331720"/>
            <a:ext cx="1371600" cy="548640"/>
          </a:xfrm>
          <a:prstGeom prst="rect">
            <a:avLst/>
          </a:prstGeom>
          <a:noFill/>
          <a:ln/>
        </p:spPr>
        <p:txBody>
          <a:bodyPr wrap="square" lIns="0" tIns="0" rIns="0" bIns="0" rtlCol="0" anchor="t"/>
          <a:lstStyle/>
          <a:p>
            <a:pPr algn="ctr" indent="0" marL="0">
              <a:buNone/>
            </a:pPr>
            <a:r>
              <a:rPr lang="en-US" sz="1300" b="1" dirty="0">
                <a:solidFill>
                  <a:srgbClr val="1B1F24"/>
                </a:solidFill>
                <a:latin typeface="Calibri" pitchFamily="34" charset="0"/>
                <a:ea typeface="Calibri" pitchFamily="34" charset="-122"/>
                <a:cs typeface="Calibri" pitchFamily="34" charset="-120"/>
              </a:rPr>
              <a:t>Dashboard</a:t>
            </a:r>
            <a:endParaRPr lang="en-US" sz="1300" dirty="0"/>
          </a:p>
        </p:txBody>
      </p:sp>
      <p:sp>
        <p:nvSpPr>
          <p:cNvPr id="27" name="Shape 24"/>
          <p:cNvSpPr/>
          <p:nvPr/>
        </p:nvSpPr>
        <p:spPr>
          <a:xfrm>
            <a:off x="11109960" y="1691640"/>
            <a:ext cx="548640" cy="548640"/>
          </a:xfrm>
          <a:prstGeom prst="ellipse">
            <a:avLst/>
          </a:prstGeom>
          <a:solidFill>
            <a:srgbClr val="13294B"/>
          </a:solidFill>
          <a:ln w="12700">
            <a:solidFill>
              <a:srgbClr val="13294B"/>
            </a:solidFill>
            <a:prstDash val="solid"/>
          </a:ln>
        </p:spPr>
        <p:txBody>
          <a:bodyPr/>
          <a:p/>
        </p:txBody>
      </p:sp>
      <p:sp>
        <p:nvSpPr>
          <p:cNvPr id="28" name="Text 25"/>
          <p:cNvSpPr txBox="1"/>
          <p:nvPr/>
        </p:nvSpPr>
        <p:spPr>
          <a:xfrm>
            <a:off x="11109960" y="1691640"/>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29" name="Text 26"/>
          <p:cNvSpPr txBox="1"/>
          <p:nvPr/>
        </p:nvSpPr>
        <p:spPr>
          <a:xfrm>
            <a:off x="10698480" y="2331720"/>
            <a:ext cx="1371600" cy="548640"/>
          </a:xfrm>
          <a:prstGeom prst="rect">
            <a:avLst/>
          </a:prstGeom>
          <a:noFill/>
          <a:ln/>
        </p:spPr>
        <p:txBody>
          <a:bodyPr wrap="square" lIns="0" tIns="0" rIns="0" bIns="0" rtlCol="0" anchor="t"/>
          <a:lstStyle/>
          <a:p>
            <a:pPr algn="ctr" indent="0" marL="0">
              <a:buNone/>
            </a:pPr>
            <a:r>
              <a:rPr lang="en-US" sz="1300" b="1" dirty="0">
                <a:solidFill>
                  <a:srgbClr val="1B1F24"/>
                </a:solidFill>
                <a:latin typeface="Calibri" pitchFamily="34" charset="0"/>
                <a:ea typeface="Calibri" pitchFamily="34" charset="-122"/>
                <a:cs typeface="Calibri" pitchFamily="34" charset="-120"/>
              </a:rPr>
              <a:t>Monitoreo y recomendación</a:t>
            </a:r>
            <a:endParaRPr lang="en-US" sz="1300" dirty="0"/>
          </a:p>
        </p:txBody>
      </p:sp>
      <p:sp>
        <p:nvSpPr>
          <p:cNvPr id="30" name="Shape 27"/>
          <p:cNvSpPr/>
          <p:nvPr/>
        </p:nvSpPr>
        <p:spPr>
          <a:xfrm>
            <a:off x="548640" y="2971800"/>
            <a:ext cx="2651760" cy="2514600"/>
          </a:xfrm>
          <a:prstGeom prst="roundRect">
            <a:avLst>
              <a:gd name="adj" fmla="val 2909"/>
            </a:avLst>
          </a:prstGeom>
          <a:solidFill>
            <a:srgbClr val="F3F5F8"/>
          </a:solidFill>
          <a:ln w="12700">
            <a:solidFill>
              <a:srgbClr val="F3F5F8"/>
            </a:solidFill>
            <a:prstDash val="solid"/>
          </a:ln>
        </p:spPr>
        <p:txBody>
          <a:bodyPr/>
          <a:p/>
        </p:txBody>
      </p:sp>
      <p:sp>
        <p:nvSpPr>
          <p:cNvPr id="31" name="Shape 28"/>
          <p:cNvSpPr/>
          <p:nvPr/>
        </p:nvSpPr>
        <p:spPr>
          <a:xfrm>
            <a:off x="749808" y="3200400"/>
            <a:ext cx="219456" cy="219456"/>
          </a:xfrm>
          <a:prstGeom prst="ellipse">
            <a:avLst/>
          </a:prstGeom>
          <a:solidFill>
            <a:srgbClr val="13294B"/>
          </a:solidFill>
          <a:ln w="12700">
            <a:solidFill>
              <a:srgbClr val="13294B"/>
            </a:solidFill>
            <a:prstDash val="solid"/>
          </a:ln>
        </p:spPr>
        <p:txBody>
          <a:bodyPr/>
          <a:p/>
        </p:txBody>
      </p:sp>
      <p:sp>
        <p:nvSpPr>
          <p:cNvPr id="32" name="Text 29"/>
          <p:cNvSpPr txBox="1"/>
          <p:nvPr/>
        </p:nvSpPr>
        <p:spPr>
          <a:xfrm>
            <a:off x="1060704" y="3136392"/>
            <a:ext cx="2011680" cy="365760"/>
          </a:xfrm>
          <a:prstGeom prst="rect">
            <a:avLst/>
          </a:prstGeom>
          <a:noFill/>
          <a:ln/>
        </p:spPr>
        <p:txBody>
          <a:bodyPr wrap="square" lIns="0" tIns="0" rIns="0" bIns="0" rtlCol="0" anchor="ctr"/>
          <a:lstStyle/>
          <a:p>
            <a:pPr indent="0" marL="0">
              <a:buNone/>
            </a:pPr>
            <a:r>
              <a:rPr lang="en-US" sz="1500" b="1" dirty="0">
                <a:solidFill>
                  <a:srgbClr val="13294B"/>
                </a:solidFill>
                <a:latin typeface="Calibri" pitchFamily="34" charset="0"/>
                <a:ea typeface="Calibri" pitchFamily="34" charset="-122"/>
                <a:cs typeface="Calibri" pitchFamily="34" charset="-120"/>
              </a:rPr>
              <a:t>Oscar Santiago Merino</a:t>
            </a:r>
            <a:endParaRPr lang="en-US" sz="1500" dirty="0"/>
          </a:p>
        </p:txBody>
      </p:sp>
      <p:sp>
        <p:nvSpPr>
          <p:cNvPr id="33" name="Text 30"/>
          <p:cNvSpPr txBox="1"/>
          <p:nvPr/>
        </p:nvSpPr>
        <p:spPr>
          <a:xfrm>
            <a:off x="749808" y="3630168"/>
            <a:ext cx="2249424" cy="1188720"/>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Contexto, problema, pregunta de decisión, Decision Canvas y alternativas</a:t>
            </a:r>
            <a:endParaRPr lang="en-US" sz="1400" dirty="0"/>
          </a:p>
        </p:txBody>
      </p:sp>
      <p:sp>
        <p:nvSpPr>
          <p:cNvPr id="34" name="Text 31"/>
          <p:cNvSpPr txBox="1"/>
          <p:nvPr/>
        </p:nvSpPr>
        <p:spPr>
          <a:xfrm>
            <a:off x="749808" y="4983480"/>
            <a:ext cx="2249424" cy="320040"/>
          </a:xfrm>
          <a:prstGeom prst="rect">
            <a:avLst/>
          </a:prstGeom>
          <a:noFill/>
          <a:ln/>
        </p:spPr>
        <p:txBody>
          <a:bodyPr wrap="square" lIns="0" tIns="0" rIns="0" bIns="0" rtlCol="0" anchor="ctr"/>
          <a:lstStyle/>
          <a:p>
            <a:pPr indent="0" marL="0">
              <a:buNone/>
            </a:pPr>
            <a:r>
              <a:rPr lang="en-US" sz="1200" b="1" dirty="0">
                <a:solidFill>
                  <a:srgbClr val="5B6573"/>
                </a:solidFill>
                <a:latin typeface="Calibri" pitchFamily="34" charset="0"/>
                <a:ea typeface="Calibri" pitchFamily="34" charset="-122"/>
                <a:cs typeface="Calibri" pitchFamily="34" charset="-120"/>
              </a:rPr>
              <a:t>Diapositivas 1–8 · 6 min</a:t>
            </a:r>
            <a:endParaRPr lang="en-US" sz="1200" dirty="0"/>
          </a:p>
        </p:txBody>
      </p:sp>
      <p:sp>
        <p:nvSpPr>
          <p:cNvPr id="35" name="Shape 32"/>
          <p:cNvSpPr/>
          <p:nvPr/>
        </p:nvSpPr>
        <p:spPr>
          <a:xfrm>
            <a:off x="3364992" y="2971800"/>
            <a:ext cx="2651760" cy="2514600"/>
          </a:xfrm>
          <a:prstGeom prst="roundRect">
            <a:avLst>
              <a:gd name="adj" fmla="val 2909"/>
            </a:avLst>
          </a:prstGeom>
          <a:solidFill>
            <a:srgbClr val="F3F5F8"/>
          </a:solidFill>
          <a:ln w="12700">
            <a:solidFill>
              <a:srgbClr val="F3F5F8"/>
            </a:solidFill>
            <a:prstDash val="solid"/>
          </a:ln>
        </p:spPr>
        <p:txBody>
          <a:bodyPr/>
          <a:p/>
        </p:txBody>
      </p:sp>
      <p:sp>
        <p:nvSpPr>
          <p:cNvPr id="36" name="Shape 33"/>
          <p:cNvSpPr/>
          <p:nvPr/>
        </p:nvSpPr>
        <p:spPr>
          <a:xfrm>
            <a:off x="3566160" y="3200400"/>
            <a:ext cx="219456" cy="219456"/>
          </a:xfrm>
          <a:prstGeom prst="ellipse">
            <a:avLst/>
          </a:prstGeom>
          <a:solidFill>
            <a:srgbClr val="2A78D6"/>
          </a:solidFill>
          <a:ln w="12700">
            <a:solidFill>
              <a:srgbClr val="2A78D6"/>
            </a:solidFill>
            <a:prstDash val="solid"/>
          </a:ln>
        </p:spPr>
        <p:txBody>
          <a:bodyPr/>
          <a:p/>
        </p:txBody>
      </p:sp>
      <p:sp>
        <p:nvSpPr>
          <p:cNvPr id="37" name="Text 34"/>
          <p:cNvSpPr txBox="1"/>
          <p:nvPr/>
        </p:nvSpPr>
        <p:spPr>
          <a:xfrm>
            <a:off x="3877056" y="3136392"/>
            <a:ext cx="2011680" cy="365760"/>
          </a:xfrm>
          <a:prstGeom prst="rect">
            <a:avLst/>
          </a:prstGeom>
          <a:noFill/>
          <a:ln/>
        </p:spPr>
        <p:txBody>
          <a:bodyPr wrap="square" lIns="0" tIns="0" rIns="0" bIns="0" rtlCol="0" anchor="ctr"/>
          <a:lstStyle/>
          <a:p>
            <a:pPr indent="0" marL="0">
              <a:buNone/>
            </a:pPr>
            <a:r>
              <a:rPr lang="en-US" sz="1500" b="1" dirty="0">
                <a:solidFill>
                  <a:srgbClr val="13294B"/>
                </a:solidFill>
                <a:latin typeface="Calibri" pitchFamily="34" charset="0"/>
                <a:ea typeface="Calibri" pitchFamily="34" charset="-122"/>
                <a:cs typeface="Calibri" pitchFamily="34" charset="-120"/>
              </a:rPr>
              <a:t>Claudia Rocío Rodríguez</a:t>
            </a:r>
            <a:endParaRPr lang="en-US" sz="1500" dirty="0"/>
          </a:p>
        </p:txBody>
      </p:sp>
      <p:sp>
        <p:nvSpPr>
          <p:cNvPr id="38" name="Text 35"/>
          <p:cNvSpPr txBox="1"/>
          <p:nvPr/>
        </p:nvSpPr>
        <p:spPr>
          <a:xfrm>
            <a:off x="3566160" y="3630168"/>
            <a:ext cx="2249424" cy="1188720"/>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North Star, árbol de métricas, KPIs, diccionario, tabla analítica y calidad</a:t>
            </a:r>
            <a:endParaRPr lang="en-US" sz="1400" dirty="0"/>
          </a:p>
        </p:txBody>
      </p:sp>
      <p:sp>
        <p:nvSpPr>
          <p:cNvPr id="39" name="Text 36"/>
          <p:cNvSpPr txBox="1"/>
          <p:nvPr/>
        </p:nvSpPr>
        <p:spPr>
          <a:xfrm>
            <a:off x="3566160" y="4983480"/>
            <a:ext cx="2249424" cy="320040"/>
          </a:xfrm>
          <a:prstGeom prst="rect">
            <a:avLst/>
          </a:prstGeom>
          <a:noFill/>
          <a:ln/>
        </p:spPr>
        <p:txBody>
          <a:bodyPr wrap="square" lIns="0" tIns="0" rIns="0" bIns="0" rtlCol="0" anchor="ctr"/>
          <a:lstStyle/>
          <a:p>
            <a:pPr indent="0" marL="0">
              <a:buNone/>
            </a:pPr>
            <a:r>
              <a:rPr lang="en-US" sz="1200" b="1" dirty="0">
                <a:solidFill>
                  <a:srgbClr val="5B6573"/>
                </a:solidFill>
                <a:latin typeface="Calibri" pitchFamily="34" charset="0"/>
                <a:ea typeface="Calibri" pitchFamily="34" charset="-122"/>
                <a:cs typeface="Calibri" pitchFamily="34" charset="-120"/>
              </a:rPr>
              <a:t>Diapositivas 9–16 · 6 min</a:t>
            </a:r>
            <a:endParaRPr lang="en-US" sz="1200" dirty="0"/>
          </a:p>
        </p:txBody>
      </p:sp>
      <p:sp>
        <p:nvSpPr>
          <p:cNvPr id="40" name="Shape 37"/>
          <p:cNvSpPr/>
          <p:nvPr/>
        </p:nvSpPr>
        <p:spPr>
          <a:xfrm>
            <a:off x="6181344" y="2971800"/>
            <a:ext cx="2651760" cy="2514600"/>
          </a:xfrm>
          <a:prstGeom prst="roundRect">
            <a:avLst>
              <a:gd name="adj" fmla="val 2909"/>
            </a:avLst>
          </a:prstGeom>
          <a:solidFill>
            <a:srgbClr val="F3F5F8"/>
          </a:solidFill>
          <a:ln w="12700">
            <a:solidFill>
              <a:srgbClr val="F3F5F8"/>
            </a:solidFill>
            <a:prstDash val="solid"/>
          </a:ln>
        </p:spPr>
        <p:txBody>
          <a:bodyPr/>
          <a:p/>
        </p:txBody>
      </p:sp>
      <p:sp>
        <p:nvSpPr>
          <p:cNvPr id="41" name="Shape 38"/>
          <p:cNvSpPr/>
          <p:nvPr/>
        </p:nvSpPr>
        <p:spPr>
          <a:xfrm>
            <a:off x="6382512" y="3200400"/>
            <a:ext cx="219456" cy="219456"/>
          </a:xfrm>
          <a:prstGeom prst="ellipse">
            <a:avLst/>
          </a:prstGeom>
          <a:solidFill>
            <a:srgbClr val="1BAF7A"/>
          </a:solidFill>
          <a:ln w="12700">
            <a:solidFill>
              <a:srgbClr val="1BAF7A"/>
            </a:solidFill>
            <a:prstDash val="solid"/>
          </a:ln>
        </p:spPr>
        <p:txBody>
          <a:bodyPr/>
          <a:p/>
        </p:txBody>
      </p:sp>
      <p:sp>
        <p:nvSpPr>
          <p:cNvPr id="42" name="Text 39"/>
          <p:cNvSpPr txBox="1"/>
          <p:nvPr/>
        </p:nvSpPr>
        <p:spPr>
          <a:xfrm>
            <a:off x="6693408" y="3136392"/>
            <a:ext cx="2011680" cy="365760"/>
          </a:xfrm>
          <a:prstGeom prst="rect">
            <a:avLst/>
          </a:prstGeom>
          <a:noFill/>
          <a:ln/>
        </p:spPr>
        <p:txBody>
          <a:bodyPr wrap="square" lIns="0" tIns="0" rIns="0" bIns="0" rtlCol="0" anchor="ctr"/>
          <a:lstStyle/>
          <a:p>
            <a:pPr indent="0" marL="0">
              <a:buNone/>
            </a:pPr>
            <a:r>
              <a:rPr lang="en-US" sz="1500" b="1" dirty="0">
                <a:solidFill>
                  <a:srgbClr val="13294B"/>
                </a:solidFill>
                <a:latin typeface="Calibri" pitchFamily="34" charset="0"/>
                <a:ea typeface="Calibri" pitchFamily="34" charset="-122"/>
                <a:cs typeface="Calibri" pitchFamily="34" charset="-120"/>
              </a:rPr>
              <a:t>Paula Andrea Gacha</a:t>
            </a:r>
            <a:endParaRPr lang="en-US" sz="1500" dirty="0"/>
          </a:p>
        </p:txBody>
      </p:sp>
      <p:sp>
        <p:nvSpPr>
          <p:cNvPr id="43" name="Text 40"/>
          <p:cNvSpPr txBox="1"/>
          <p:nvPr/>
        </p:nvSpPr>
        <p:spPr>
          <a:xfrm>
            <a:off x="6382512" y="3630168"/>
            <a:ext cx="2249424" cy="1188720"/>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Ciclo de vida, cohortes, contribución, drivers y priorización de segmentos</a:t>
            </a:r>
            <a:endParaRPr lang="en-US" sz="1400" dirty="0"/>
          </a:p>
        </p:txBody>
      </p:sp>
      <p:sp>
        <p:nvSpPr>
          <p:cNvPr id="44" name="Text 41"/>
          <p:cNvSpPr txBox="1"/>
          <p:nvPr/>
        </p:nvSpPr>
        <p:spPr>
          <a:xfrm>
            <a:off x="6382512" y="4983480"/>
            <a:ext cx="2249424" cy="320040"/>
          </a:xfrm>
          <a:prstGeom prst="rect">
            <a:avLst/>
          </a:prstGeom>
          <a:noFill/>
          <a:ln/>
        </p:spPr>
        <p:txBody>
          <a:bodyPr wrap="square" lIns="0" tIns="0" rIns="0" bIns="0" rtlCol="0" anchor="ctr"/>
          <a:lstStyle/>
          <a:p>
            <a:pPr indent="0" marL="0">
              <a:buNone/>
            </a:pPr>
            <a:r>
              <a:rPr lang="en-US" sz="1200" b="1" dirty="0">
                <a:solidFill>
                  <a:srgbClr val="5B6573"/>
                </a:solidFill>
                <a:latin typeface="Calibri" pitchFamily="34" charset="0"/>
                <a:ea typeface="Calibri" pitchFamily="34" charset="-122"/>
                <a:cs typeface="Calibri" pitchFamily="34" charset="-120"/>
              </a:rPr>
              <a:t>Diapositivas 17–24 · 6 min</a:t>
            </a:r>
            <a:endParaRPr lang="en-US" sz="1200" dirty="0"/>
          </a:p>
        </p:txBody>
      </p:sp>
      <p:sp>
        <p:nvSpPr>
          <p:cNvPr id="45" name="Shape 42"/>
          <p:cNvSpPr/>
          <p:nvPr/>
        </p:nvSpPr>
        <p:spPr>
          <a:xfrm>
            <a:off x="8997696" y="2971800"/>
            <a:ext cx="2651760" cy="2514600"/>
          </a:xfrm>
          <a:prstGeom prst="roundRect">
            <a:avLst>
              <a:gd name="adj" fmla="val 2909"/>
            </a:avLst>
          </a:prstGeom>
          <a:solidFill>
            <a:srgbClr val="F3F5F8"/>
          </a:solidFill>
          <a:ln w="12700">
            <a:solidFill>
              <a:srgbClr val="F3F5F8"/>
            </a:solidFill>
            <a:prstDash val="solid"/>
          </a:ln>
        </p:spPr>
        <p:txBody>
          <a:bodyPr/>
          <a:p/>
        </p:txBody>
      </p:sp>
      <p:sp>
        <p:nvSpPr>
          <p:cNvPr id="46" name="Shape 43"/>
          <p:cNvSpPr/>
          <p:nvPr/>
        </p:nvSpPr>
        <p:spPr>
          <a:xfrm>
            <a:off x="9198864" y="3200400"/>
            <a:ext cx="219456" cy="219456"/>
          </a:xfrm>
          <a:prstGeom prst="ellipse">
            <a:avLst/>
          </a:prstGeom>
          <a:solidFill>
            <a:srgbClr val="EB6834"/>
          </a:solidFill>
          <a:ln w="12700">
            <a:solidFill>
              <a:srgbClr val="EB6834"/>
            </a:solidFill>
            <a:prstDash val="solid"/>
          </a:ln>
        </p:spPr>
        <p:txBody>
          <a:bodyPr/>
          <a:p/>
        </p:txBody>
      </p:sp>
      <p:sp>
        <p:nvSpPr>
          <p:cNvPr id="47" name="Text 44"/>
          <p:cNvSpPr txBox="1"/>
          <p:nvPr/>
        </p:nvSpPr>
        <p:spPr>
          <a:xfrm>
            <a:off x="9509760" y="3136392"/>
            <a:ext cx="2011680" cy="365760"/>
          </a:xfrm>
          <a:prstGeom prst="rect">
            <a:avLst/>
          </a:prstGeom>
          <a:noFill/>
          <a:ln/>
        </p:spPr>
        <p:txBody>
          <a:bodyPr wrap="square" lIns="0" tIns="0" rIns="0" bIns="0" rtlCol="0" anchor="ctr"/>
          <a:lstStyle/>
          <a:p>
            <a:pPr indent="0" marL="0">
              <a:buNone/>
            </a:pPr>
            <a:r>
              <a:rPr lang="en-US" sz="1500" b="1" dirty="0">
                <a:solidFill>
                  <a:srgbClr val="13294B"/>
                </a:solidFill>
                <a:latin typeface="Calibri" pitchFamily="34" charset="0"/>
                <a:ea typeface="Calibri" pitchFamily="34" charset="-122"/>
                <a:cs typeface="Calibri" pitchFamily="34" charset="-120"/>
              </a:rPr>
              <a:t>Daniel Felipe Pérez</a:t>
            </a:r>
            <a:endParaRPr lang="en-US" sz="1500" dirty="0"/>
          </a:p>
        </p:txBody>
      </p:sp>
      <p:sp>
        <p:nvSpPr>
          <p:cNvPr id="48" name="Text 45"/>
          <p:cNvSpPr txBox="1"/>
          <p:nvPr/>
        </p:nvSpPr>
        <p:spPr>
          <a:xfrm>
            <a:off x="9198864" y="3630168"/>
            <a:ext cx="2249424" cy="1188720"/>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Supuestos, ROI por escenarios, sensibilidad, piloto y dashboard</a:t>
            </a:r>
            <a:endParaRPr lang="en-US" sz="1400" dirty="0"/>
          </a:p>
        </p:txBody>
      </p:sp>
      <p:sp>
        <p:nvSpPr>
          <p:cNvPr id="49" name="Text 46"/>
          <p:cNvSpPr txBox="1"/>
          <p:nvPr/>
        </p:nvSpPr>
        <p:spPr>
          <a:xfrm>
            <a:off x="9198864" y="4983480"/>
            <a:ext cx="2249424" cy="320040"/>
          </a:xfrm>
          <a:prstGeom prst="rect">
            <a:avLst/>
          </a:prstGeom>
          <a:noFill/>
          <a:ln/>
        </p:spPr>
        <p:txBody>
          <a:bodyPr wrap="square" lIns="0" tIns="0" rIns="0" bIns="0" rtlCol="0" anchor="ctr"/>
          <a:lstStyle/>
          <a:p>
            <a:pPr indent="0" marL="0">
              <a:buNone/>
            </a:pPr>
            <a:r>
              <a:rPr lang="en-US" sz="1200" b="1" dirty="0">
                <a:solidFill>
                  <a:srgbClr val="5B6573"/>
                </a:solidFill>
                <a:latin typeface="Calibri" pitchFamily="34" charset="0"/>
                <a:ea typeface="Calibri" pitchFamily="34" charset="-122"/>
                <a:cs typeface="Calibri" pitchFamily="34" charset="-120"/>
              </a:rPr>
              <a:t>Diapositivas 25–33 · 6,5 min</a:t>
            </a:r>
            <a:endParaRPr lang="en-US" sz="1200" dirty="0"/>
          </a:p>
        </p:txBody>
      </p:sp>
      <p:sp>
        <p:nvSpPr>
          <p:cNvPr id="50" name="Text 47"/>
          <p:cNvSpPr txBox="1"/>
          <p:nvPr/>
        </p:nvSpPr>
        <p:spPr>
          <a:xfrm>
            <a:off x="548640" y="5760720"/>
            <a:ext cx="11091672" cy="310896"/>
          </a:xfrm>
          <a:prstGeom prst="rect">
            <a:avLst/>
          </a:prstGeom>
          <a:noFill/>
          <a:ln/>
        </p:spPr>
        <p:txBody>
          <a:bodyPr wrap="square" lIns="0" tIns="0" rIns="0" bIns="0" rtlCol="0" anchor="t"/>
          <a:lstStyle/>
          <a:p>
            <a:pPr indent="0" marL="0">
              <a:buNone/>
            </a:pPr>
            <a:r>
              <a:rPr lang="en-US" sz="1100" i="1" dirty="0">
                <a:solidFill>
                  <a:srgbClr val="5B6573"/>
                </a:solidFill>
                <a:latin typeface="Calibri" pitchFamily="34" charset="0"/>
                <a:ea typeface="Calibri" pitchFamily="34" charset="-122"/>
                <a:cs typeface="Calibri" pitchFamily="34" charset="-120"/>
              </a:rPr>
              <a:t>Cierre (diapositivas 34–37): Oscar retoma con las reglas de monitoreo, la recomendación, los riesgos y las preguntas · 2,5 min.</a:t>
            </a:r>
            <a:endParaRPr lang="en-US" sz="1100" dirty="0"/>
          </a:p>
        </p:txBody>
      </p:sp>
      <p:sp>
        <p:nvSpPr>
          <p:cNvPr id="25" name="Slide Number Placeholder 0"/>
          <p:cNvSpPr>
            <a:spLocks noGrp="1"/>
          </p:cNvSpPr>
          <p:nvPr>
            <p:ph type="sldNum" sz="quarter" idx="4294967295"/>
          </p:nvPr>
        </p:nvSpPr>
        <p:spPr>
          <a:xfrm>
            <a:off x="11091672"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5B657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822960" y="1234440"/>
            <a:ext cx="2743200" cy="914400"/>
          </a:xfrm>
          <a:prstGeom prst="rect">
            <a:avLst/>
          </a:prstGeom>
          <a:noFill/>
          <a:ln/>
        </p:spPr>
        <p:txBody>
          <a:bodyPr wrap="square" lIns="0" tIns="0" rIns="0" bIns="0" rtlCol="0" anchor="ctr"/>
          <a:lstStyle/>
          <a:p>
            <a:pPr indent="0" marL="0">
              <a:buNone/>
            </a:pPr>
            <a:r>
              <a:rPr lang="en-US" sz="6000" b="1" dirty="0">
                <a:solidFill>
                  <a:srgbClr val="EB6834"/>
                </a:solidFill>
                <a:latin typeface="Cambria" pitchFamily="34" charset="0"/>
                <a:ea typeface="Cambria" pitchFamily="34" charset="-122"/>
                <a:cs typeface="Cambria" pitchFamily="34" charset="-120"/>
              </a:rPr>
              <a:t>01</a:t>
            </a:r>
            <a:endParaRPr lang="en-US" sz="6000" dirty="0"/>
          </a:p>
        </p:txBody>
      </p:sp>
      <p:sp>
        <p:nvSpPr>
          <p:cNvPr id="3" name="Text 0"/>
          <p:cNvSpPr/>
          <p:nvPr>
            <p:ph idx="100" type="title" hasCustomPrompt="1"/>
          </p:nvPr>
        </p:nvSpPr>
        <p:spPr>
          <a:xfrm>
            <a:off x="822960" y="2331720"/>
            <a:ext cx="10515600" cy="1005840"/>
          </a:xfrm>
          <a:prstGeom prst="rect">
            <a:avLst/>
          </a:prstGeom>
          <a:noFill/>
          <a:ln/>
        </p:spPr>
        <p:txBody>
          <a:bodyPr wrap="square" lIns="0" tIns="0" rIns="0" bIns="0" rtlCol="0" anchor="t"/>
          <a:lstStyle/>
          <a:p>
            <a:pPr algn="l" indent="0" marL="0">
              <a:buNone/>
            </a:pPr>
            <a:r>
              <a:rPr lang="en-US" sz="4000" b="1" dirty="0">
                <a:solidFill>
                  <a:srgbClr val="FFFFFF"/>
                </a:solidFill>
                <a:latin typeface="Cambria" pitchFamily="34" charset="0"/>
                <a:ea typeface="Cambria" pitchFamily="34" charset="-122"/>
                <a:cs typeface="Cambria" pitchFamily="34" charset="-120"/>
              </a:rPr>
              <a:t>Problema y decisión</a:t>
            </a:r>
            <a:endParaRPr lang="en-US" sz="4000" dirty="0"/>
          </a:p>
        </p:txBody>
      </p:sp>
      <p:sp>
        <p:nvSpPr>
          <p:cNvPr id="4" name="Text 0"/>
          <p:cNvSpPr/>
          <p:nvPr>
            <p:ph idx="101" type="body" hasCustomPrompt="1"/>
          </p:nvPr>
        </p:nvSpPr>
        <p:spPr>
          <a:xfrm>
            <a:off x="822960" y="3429000"/>
            <a:ext cx="10515600" cy="548640"/>
          </a:xfrm>
          <a:prstGeom prst="rect">
            <a:avLst/>
          </a:prstGeom>
          <a:noFill/>
          <a:ln/>
        </p:spPr>
        <p:txBody>
          <a:bodyPr wrap="square" lIns="0" tIns="0" rIns="0" bIns="0" rtlCol="0" anchor="t"/>
          <a:lstStyle/>
          <a:p>
            <a:pPr algn="l" indent="0" marL="0">
              <a:buNone/>
            </a:pPr>
            <a:r>
              <a:rPr lang="en-US" sz="2000" dirty="0">
                <a:solidFill>
                  <a:srgbClr val="C3D2E6"/>
                </a:solidFill>
                <a:latin typeface="Calibri" pitchFamily="34" charset="0"/>
                <a:ea typeface="Calibri" pitchFamily="34" charset="-122"/>
                <a:cs typeface="Calibri" pitchFamily="34" charset="-120"/>
              </a:rPr>
              <a:t>Presenta: Oscar Santiago Merino Suárez</a:t>
            </a:r>
            <a:endParaRPr lang="en-US" sz="2000" dirty="0"/>
          </a:p>
        </p:txBody>
      </p:sp>
      <p:sp>
        <p:nvSpPr>
          <p:cNvPr id="5" name="Text 3"/>
          <p:cNvSpPr txBox="1"/>
          <p:nvPr/>
        </p:nvSpPr>
        <p:spPr>
          <a:xfrm>
            <a:off x="822960" y="4343400"/>
            <a:ext cx="10515600" cy="45720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Contexto · Problema en cifras · Pregunta de decisión · Decision Canvas · Alternativas de acción</a:t>
            </a:r>
            <a:endParaRPr 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FA3B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164592"/>
            <a:ext cx="11091672" cy="256032"/>
          </a:xfrm>
          <a:prstGeom prst="rect">
            <a:avLst/>
          </a:prstGeom>
          <a:noFill/>
          <a:ln/>
        </p:spPr>
        <p:txBody>
          <a:bodyPr wrap="square" lIns="0" tIns="0" rIns="0" bIns="0" rtlCol="0" anchor="ctr"/>
          <a:lstStyle/>
          <a:p>
            <a:pPr indent="0" marL="0">
              <a:buNone/>
            </a:pPr>
            <a:r>
              <a:rPr lang="en-US" sz="1100" b="1" spc="50" kern="0" dirty="0">
                <a:solidFill>
                  <a:srgbClr val="2A78D6"/>
                </a:solidFill>
                <a:latin typeface="Calibri" pitchFamily="34" charset="0"/>
                <a:ea typeface="Calibri" pitchFamily="34" charset="-122"/>
                <a:cs typeface="Calibri" pitchFamily="34" charset="-120"/>
              </a:rPr>
              <a:t>01 · PROBLEMA Y DECISIÓN</a:t>
            </a:r>
            <a:pPr indent="0" marL="0">
              <a:buNone/>
            </a:pPr>
            <a:endParaRPr lang="en-US" sz="1100" dirty="0"/>
          </a:p>
        </p:txBody>
      </p:sp>
      <p:sp>
        <p:nvSpPr>
          <p:cNvPr id="3" name="Text 0"/>
          <p:cNvSpPr/>
          <p:nvPr>
            <p:ph idx="100" type="title" hasCustomPrompt="1"/>
          </p:nvPr>
        </p:nvSpPr>
        <p:spPr>
          <a:xfrm>
            <a:off x="548640" y="457200"/>
            <a:ext cx="11091672" cy="841248"/>
          </a:xfrm>
          <a:prstGeom prst="rect">
            <a:avLst/>
          </a:prstGeom>
          <a:noFill/>
          <a:ln/>
        </p:spPr>
        <p:txBody>
          <a:bodyPr wrap="square" lIns="0" tIns="0" rIns="0" bIns="0" rtlCol="0" anchor="t"/>
          <a:lstStyle/>
          <a:p>
            <a:pPr algn="l" indent="0" marL="0">
              <a:buNone/>
            </a:pPr>
            <a:r>
              <a:rPr lang="en-US" sz="2400" b="1" dirty="0">
                <a:solidFill>
                  <a:srgbClr val="13294B"/>
                </a:solidFill>
                <a:latin typeface="Cambria" pitchFamily="34" charset="0"/>
                <a:ea typeface="Cambria" pitchFamily="34" charset="-122"/>
                <a:cs typeface="Cambria" pitchFamily="34" charset="-120"/>
              </a:rPr>
              <a:t>Telco vive de suscripciones mensuales y hoy retiene con descuentos genéricos</a:t>
            </a:r>
            <a:endParaRPr lang="en-US" sz="2400" dirty="0"/>
          </a:p>
        </p:txBody>
      </p:sp>
      <p:sp>
        <p:nvSpPr>
          <p:cNvPr id="5" name="Text 2"/>
          <p:cNvSpPr txBox="1"/>
          <p:nvPr/>
        </p:nvSpPr>
        <p:spPr>
          <a:xfrm>
            <a:off x="548640" y="1417320"/>
            <a:ext cx="5120640" cy="2926080"/>
          </a:xfrm>
          <a:prstGeom prst="rect">
            <a:avLst/>
          </a:prstGeom>
          <a:noFill/>
          <a:ln/>
        </p:spPr>
        <p:txBody>
          <a:bodyPr wrap="square" lIns="0" tIns="0" rIns="0" bIns="0" rtlCol="0" anchor="t"/>
          <a:lstStyle/>
          <a:p>
            <a:pPr indent="0" marL="0">
              <a:spcAft>
                <a:spcPts val="1000"/>
              </a:spcAft>
              <a:buNone/>
            </a:pPr>
            <a:r>
              <a:rPr lang="en-US" sz="1400" b="1" dirty="0">
                <a:solidFill>
                  <a:srgbClr val="13294B"/>
                </a:solidFill>
                <a:latin typeface="Calibri" pitchFamily="34" charset="0"/>
                <a:ea typeface="Calibri" pitchFamily="34" charset="-122"/>
                <a:cs typeface="Calibri" pitchFamily="34" charset="-120"/>
              </a:rPr>
              <a:t>Quién es Telco. </a:t>
            </a:r>
            <a:pPr indent="0" marL="0">
              <a:spcAft>
                <a:spcPts val="1000"/>
              </a:spcAft>
              <a:buNone/>
            </a:pPr>
            <a:r>
              <a:rPr lang="en-US" sz="1400" dirty="0">
                <a:solidFill>
                  <a:srgbClr val="1B1F24"/>
                </a:solidFill>
                <a:latin typeface="Calibri" pitchFamily="34" charset="0"/>
                <a:ea typeface="Calibri" pitchFamily="34" charset="-122"/>
                <a:cs typeface="Calibri" pitchFamily="34" charset="-120"/>
              </a:rPr>
              <a:t>Operadora de telefonía e internet residencial con ingresos por suscripción mensual. Caso público de IBM (compañía ficticia).</a:t>
            </a:r>
            <a:endParaRPr lang="en-US" sz="1400" dirty="0"/>
          </a:p>
          <a:p>
            <a:pPr indent="0" marL="0">
              <a:spcAft>
                <a:spcPts val="1000"/>
              </a:spcAft>
              <a:buNone/>
            </a:pPr>
            <a:r>
              <a:rPr lang="en-US" sz="1400" b="1" dirty="0">
                <a:solidFill>
                  <a:srgbClr val="13294B"/>
                </a:solidFill>
                <a:latin typeface="Calibri" pitchFamily="34" charset="0"/>
                <a:ea typeface="Calibri" pitchFamily="34" charset="-122"/>
                <a:cs typeface="Calibri" pitchFamily="34" charset="-120"/>
              </a:rPr>
              <a:t>Cómo retiene hoy. </a:t>
            </a:r>
            <a:pPr indent="0" marL="0">
              <a:spcAft>
                <a:spcPts val="1000"/>
              </a:spcAft>
              <a:buNone/>
            </a:pPr>
            <a:r>
              <a:rPr lang="en-US" sz="1400" dirty="0">
                <a:solidFill>
                  <a:srgbClr val="1B1F24"/>
                </a:solidFill>
                <a:latin typeface="Calibri" pitchFamily="34" charset="0"/>
                <a:ea typeface="Calibri" pitchFamily="34" charset="-122"/>
                <a:cs typeface="Calibri" pitchFamily="34" charset="-120"/>
              </a:rPr>
              <a:t>La Gerencia de Retención responde con descuentos generales: no prioriza a quién contactar, no asigna una palanca por perfil y no mide el retorno de lo que hace.</a:t>
            </a:r>
            <a:endParaRPr lang="en-US" sz="1400" dirty="0"/>
          </a:p>
          <a:p>
            <a:pPr indent="0" marL="0">
              <a:spcAft>
                <a:spcPts val="1000"/>
              </a:spcAft>
              <a:buNone/>
            </a:pPr>
            <a:r>
              <a:rPr lang="en-US" sz="1400" b="1" dirty="0">
                <a:solidFill>
                  <a:srgbClr val="13294B"/>
                </a:solidFill>
                <a:latin typeface="Calibri" pitchFamily="34" charset="0"/>
                <a:ea typeface="Calibri" pitchFamily="34" charset="-122"/>
                <a:cs typeface="Calibri" pitchFamily="34" charset="-120"/>
              </a:rPr>
              <a:t>Por qué importa. </a:t>
            </a:r>
            <a:pPr indent="0" marL="0">
              <a:spcAft>
                <a:spcPts val="1000"/>
              </a:spcAft>
              <a:buNone/>
            </a:pPr>
            <a:r>
              <a:rPr lang="en-US" sz="1400" dirty="0">
                <a:solidFill>
                  <a:srgbClr val="1B1F24"/>
                </a:solidFill>
                <a:latin typeface="Calibri" pitchFamily="34" charset="0"/>
                <a:ea typeface="Calibri" pitchFamily="34" charset="-122"/>
                <a:cs typeface="Calibri" pitchFamily="34" charset="-120"/>
              </a:rPr>
              <a:t>Una mala elección de palanca puede retener clientes a costa del ARPU, por ejemplo con descuentos a quien no pensaba irse.</a:t>
            </a:r>
            <a:endParaRPr lang="en-US" sz="1400" dirty="0"/>
          </a:p>
        </p:txBody>
      </p:sp>
      <p:sp>
        <p:nvSpPr>
          <p:cNvPr id="6" name="Shape 3"/>
          <p:cNvSpPr/>
          <p:nvPr/>
        </p:nvSpPr>
        <p:spPr>
          <a:xfrm>
            <a:off x="6035040" y="1417320"/>
            <a:ext cx="1783080" cy="1188720"/>
          </a:xfrm>
          <a:prstGeom prst="roundRect">
            <a:avLst>
              <a:gd name="adj" fmla="val 6154"/>
            </a:avLst>
          </a:prstGeom>
          <a:solidFill>
            <a:srgbClr val="F3F5F8"/>
          </a:solidFill>
          <a:ln w="12700">
            <a:solidFill>
              <a:srgbClr val="F3F5F8"/>
            </a:solidFill>
            <a:prstDash val="solid"/>
          </a:ln>
        </p:spPr>
        <p:txBody>
          <a:bodyPr/>
          <a:p/>
        </p:txBody>
      </p:sp>
      <p:sp>
        <p:nvSpPr>
          <p:cNvPr id="7" name="Text 4"/>
          <p:cNvSpPr txBox="1"/>
          <p:nvPr/>
        </p:nvSpPr>
        <p:spPr>
          <a:xfrm>
            <a:off x="6217920" y="1545336"/>
            <a:ext cx="1417320" cy="570586"/>
          </a:xfrm>
          <a:prstGeom prst="rect">
            <a:avLst/>
          </a:prstGeom>
          <a:noFill/>
          <a:ln/>
        </p:spPr>
        <p:txBody>
          <a:bodyPr wrap="square" lIns="0" tIns="0" rIns="0" bIns="0" rtlCol="0" anchor="ctr"/>
          <a:lstStyle/>
          <a:p>
            <a:pPr indent="0" marL="0">
              <a:buNone/>
            </a:pPr>
            <a:r>
              <a:rPr lang="en-US" sz="2600" b="1" dirty="0">
                <a:solidFill>
                  <a:srgbClr val="13294B"/>
                </a:solidFill>
                <a:latin typeface="Cambria" pitchFamily="34" charset="0"/>
                <a:ea typeface="Cambria" pitchFamily="34" charset="-122"/>
                <a:cs typeface="Cambria" pitchFamily="34" charset="-120"/>
              </a:rPr>
              <a:t>7.043</a:t>
            </a:r>
            <a:endParaRPr lang="en-US" sz="2600" dirty="0"/>
          </a:p>
        </p:txBody>
      </p:sp>
      <p:sp>
        <p:nvSpPr>
          <p:cNvPr id="8" name="Text 5"/>
          <p:cNvSpPr txBox="1"/>
          <p:nvPr/>
        </p:nvSpPr>
        <p:spPr>
          <a:xfrm>
            <a:off x="6217920" y="2115922"/>
            <a:ext cx="1417320" cy="398678"/>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clientes en el corte</a:t>
            </a:r>
            <a:endParaRPr lang="en-US" sz="1300" dirty="0"/>
          </a:p>
        </p:txBody>
      </p:sp>
      <p:sp>
        <p:nvSpPr>
          <p:cNvPr id="9" name="Shape 6"/>
          <p:cNvSpPr/>
          <p:nvPr/>
        </p:nvSpPr>
        <p:spPr>
          <a:xfrm>
            <a:off x="7936992" y="1417320"/>
            <a:ext cx="1783080" cy="1188720"/>
          </a:xfrm>
          <a:prstGeom prst="roundRect">
            <a:avLst>
              <a:gd name="adj" fmla="val 6154"/>
            </a:avLst>
          </a:prstGeom>
          <a:solidFill>
            <a:srgbClr val="F3F5F8"/>
          </a:solidFill>
          <a:ln w="12700">
            <a:solidFill>
              <a:srgbClr val="F3F5F8"/>
            </a:solidFill>
            <a:prstDash val="solid"/>
          </a:ln>
        </p:spPr>
        <p:txBody>
          <a:bodyPr/>
          <a:p/>
        </p:txBody>
      </p:sp>
      <p:sp>
        <p:nvSpPr>
          <p:cNvPr id="10" name="Text 7"/>
          <p:cNvSpPr txBox="1"/>
          <p:nvPr/>
        </p:nvSpPr>
        <p:spPr>
          <a:xfrm>
            <a:off x="8119872" y="1545336"/>
            <a:ext cx="1417320" cy="570586"/>
          </a:xfrm>
          <a:prstGeom prst="rect">
            <a:avLst/>
          </a:prstGeom>
          <a:noFill/>
          <a:ln/>
        </p:spPr>
        <p:txBody>
          <a:bodyPr wrap="square" lIns="0" tIns="0" rIns="0" bIns="0" rtlCol="0" anchor="ctr"/>
          <a:lstStyle/>
          <a:p>
            <a:pPr indent="0" marL="0">
              <a:buNone/>
            </a:pPr>
            <a:r>
              <a:rPr lang="en-US" sz="2600" b="1" dirty="0">
                <a:solidFill>
                  <a:srgbClr val="13294B"/>
                </a:solidFill>
                <a:latin typeface="Cambria" pitchFamily="34" charset="0"/>
                <a:ea typeface="Cambria" pitchFamily="34" charset="-122"/>
                <a:cs typeface="Cambria" pitchFamily="34" charset="-120"/>
              </a:rPr>
              <a:t>456 mil</a:t>
            </a:r>
            <a:endParaRPr lang="en-US" sz="2600" dirty="0"/>
          </a:p>
        </p:txBody>
      </p:sp>
      <p:sp>
        <p:nvSpPr>
          <p:cNvPr id="11" name="Text 8"/>
          <p:cNvSpPr txBox="1"/>
          <p:nvPr/>
        </p:nvSpPr>
        <p:spPr>
          <a:xfrm>
            <a:off x="8119872" y="2115922"/>
            <a:ext cx="1417320" cy="398678"/>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USD de MRR mensual</a:t>
            </a:r>
            <a:endParaRPr lang="en-US" sz="1300" dirty="0"/>
          </a:p>
        </p:txBody>
      </p:sp>
      <p:sp>
        <p:nvSpPr>
          <p:cNvPr id="12" name="Shape 9"/>
          <p:cNvSpPr/>
          <p:nvPr/>
        </p:nvSpPr>
        <p:spPr>
          <a:xfrm>
            <a:off x="9838944" y="1417320"/>
            <a:ext cx="1801368" cy="1188720"/>
          </a:xfrm>
          <a:prstGeom prst="roundRect">
            <a:avLst>
              <a:gd name="adj" fmla="val 6154"/>
            </a:avLst>
          </a:prstGeom>
          <a:solidFill>
            <a:srgbClr val="F3F5F8"/>
          </a:solidFill>
          <a:ln w="12700">
            <a:solidFill>
              <a:srgbClr val="F3F5F8"/>
            </a:solidFill>
            <a:prstDash val="solid"/>
          </a:ln>
        </p:spPr>
        <p:txBody>
          <a:bodyPr/>
          <a:p/>
        </p:txBody>
      </p:sp>
      <p:sp>
        <p:nvSpPr>
          <p:cNvPr id="13" name="Text 10"/>
          <p:cNvSpPr txBox="1"/>
          <p:nvPr/>
        </p:nvSpPr>
        <p:spPr>
          <a:xfrm>
            <a:off x="10021824" y="1545336"/>
            <a:ext cx="1435608" cy="570586"/>
          </a:xfrm>
          <a:prstGeom prst="rect">
            <a:avLst/>
          </a:prstGeom>
          <a:noFill/>
          <a:ln/>
        </p:spPr>
        <p:txBody>
          <a:bodyPr wrap="square" lIns="0" tIns="0" rIns="0" bIns="0" rtlCol="0" anchor="ctr"/>
          <a:lstStyle/>
          <a:p>
            <a:pPr indent="0" marL="0">
              <a:buNone/>
            </a:pPr>
            <a:r>
              <a:rPr lang="en-US" sz="2600" b="1" dirty="0">
                <a:solidFill>
                  <a:srgbClr val="13294B"/>
                </a:solidFill>
                <a:latin typeface="Cambria" pitchFamily="34" charset="0"/>
                <a:ea typeface="Cambria" pitchFamily="34" charset="-122"/>
                <a:cs typeface="Cambria" pitchFamily="34" charset="-120"/>
              </a:rPr>
              <a:t>64,76</a:t>
            </a:r>
            <a:endParaRPr lang="en-US" sz="2600" dirty="0"/>
          </a:p>
        </p:txBody>
      </p:sp>
      <p:sp>
        <p:nvSpPr>
          <p:cNvPr id="14" name="Text 11"/>
          <p:cNvSpPr txBox="1"/>
          <p:nvPr/>
        </p:nvSpPr>
        <p:spPr>
          <a:xfrm>
            <a:off x="10021824" y="2115922"/>
            <a:ext cx="1435608" cy="398678"/>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USD de ARPU mensual</a:t>
            </a:r>
            <a:endParaRPr lang="en-US" sz="1300" dirty="0"/>
          </a:p>
        </p:txBody>
      </p:sp>
      <p:sp>
        <p:nvSpPr>
          <p:cNvPr id="15" name="Text 12"/>
          <p:cNvSpPr txBox="1"/>
          <p:nvPr/>
        </p:nvSpPr>
        <p:spPr>
          <a:xfrm>
            <a:off x="6035040" y="2880360"/>
            <a:ext cx="5577840" cy="292608"/>
          </a:xfrm>
          <a:prstGeom prst="rect">
            <a:avLst/>
          </a:prstGeom>
          <a:noFill/>
          <a:ln/>
        </p:spPr>
        <p:txBody>
          <a:bodyPr wrap="square" lIns="0" tIns="0" rIns="0" bIns="0" rtlCol="0" anchor="ctr"/>
          <a:lstStyle/>
          <a:p>
            <a:pPr indent="0" marL="0">
              <a:buNone/>
            </a:pPr>
            <a:r>
              <a:rPr lang="en-US" sz="1400" b="1" dirty="0">
                <a:solidFill>
                  <a:srgbClr val="1B1F24"/>
                </a:solidFill>
                <a:latin typeface="Calibri" pitchFamily="34" charset="0"/>
                <a:ea typeface="Calibri" pitchFamily="34" charset="-122"/>
                <a:cs typeface="Calibri" pitchFamily="34" charset="-120"/>
              </a:rPr>
              <a:t>El 55 % de la base está en contrato mes a mes</a:t>
            </a:r>
            <a:endParaRPr lang="en-US" sz="1400" dirty="0"/>
          </a:p>
        </p:txBody>
      </p:sp>
      <p:sp>
        <p:nvSpPr>
          <p:cNvPr id="16" name="Text 13"/>
          <p:cNvSpPr txBox="1"/>
          <p:nvPr/>
        </p:nvSpPr>
        <p:spPr>
          <a:xfrm>
            <a:off x="6035040" y="3172968"/>
            <a:ext cx="5577840" cy="256032"/>
          </a:xfrm>
          <a:prstGeom prst="rect">
            <a:avLst/>
          </a:prstGeom>
          <a:noFill/>
          <a:ln/>
        </p:spPr>
        <p:txBody>
          <a:bodyPr wrap="square" lIns="0" tIns="0" rIns="0" bIns="0" rtlCol="0" anchor="ctr"/>
          <a:lstStyle/>
          <a:p>
            <a:pPr indent="0" marL="0">
              <a:buNone/>
            </a:pPr>
            <a:r>
              <a:rPr lang="en-US" sz="1100" dirty="0">
                <a:solidFill>
                  <a:srgbClr val="5B6573"/>
                </a:solidFill>
                <a:latin typeface="Calibri" pitchFamily="34" charset="0"/>
                <a:ea typeface="Calibri" pitchFamily="34" charset="-122"/>
                <a:cs typeface="Calibri" pitchFamily="34" charset="-120"/>
              </a:rPr>
              <a:t>Composición de la base por tipo de contrato (% de clientes)</a:t>
            </a:r>
            <a:endParaRPr lang="en-US" sz="1100" dirty="0"/>
          </a:p>
        </p:txBody>
      </p:sp>
      <p:graphicFrame>
        <p:nvGraphicFramePr>
          <p:cNvPr id="17" name="Chart 0" descr=""/>
          <p:cNvGraphicFramePr/>
          <p:nvPr/>
        </p:nvGraphicFramePr>
        <p:xfrm>
          <a:off x="5943600" y="3429000"/>
          <a:ext cx="5715000" cy="24688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091672"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5B657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164592"/>
            <a:ext cx="11091672" cy="256032"/>
          </a:xfrm>
          <a:prstGeom prst="rect">
            <a:avLst/>
          </a:prstGeom>
          <a:noFill/>
          <a:ln/>
        </p:spPr>
        <p:txBody>
          <a:bodyPr wrap="square" lIns="0" tIns="0" rIns="0" bIns="0" rtlCol="0" anchor="ctr"/>
          <a:lstStyle/>
          <a:p>
            <a:pPr indent="0" marL="0">
              <a:buNone/>
            </a:pPr>
            <a:r>
              <a:rPr lang="en-US" sz="1100" b="1" spc="50" kern="0" dirty="0">
                <a:solidFill>
                  <a:srgbClr val="2A78D6"/>
                </a:solidFill>
                <a:latin typeface="Calibri" pitchFamily="34" charset="0"/>
                <a:ea typeface="Calibri" pitchFamily="34" charset="-122"/>
                <a:cs typeface="Calibri" pitchFamily="34" charset="-120"/>
              </a:rPr>
              <a:t>01 · PROBLEMA Y DECISIÓN</a:t>
            </a:r>
            <a:pPr indent="0" marL="0">
              <a:buNone/>
            </a:pPr>
            <a:endParaRPr lang="en-US" sz="1100" dirty="0"/>
          </a:p>
        </p:txBody>
      </p:sp>
      <p:sp>
        <p:nvSpPr>
          <p:cNvPr id="3" name="Text 0"/>
          <p:cNvSpPr/>
          <p:nvPr>
            <p:ph idx="100" type="title" hasCustomPrompt="1"/>
          </p:nvPr>
        </p:nvSpPr>
        <p:spPr>
          <a:xfrm>
            <a:off x="548640" y="457200"/>
            <a:ext cx="11091672" cy="841248"/>
          </a:xfrm>
          <a:prstGeom prst="rect">
            <a:avLst/>
          </a:prstGeom>
          <a:noFill/>
          <a:ln/>
        </p:spPr>
        <p:txBody>
          <a:bodyPr wrap="square" lIns="0" tIns="0" rIns="0" bIns="0" rtlCol="0" anchor="t"/>
          <a:lstStyle/>
          <a:p>
            <a:pPr algn="l" indent="0" marL="0">
              <a:buNone/>
            </a:pPr>
            <a:r>
              <a:rPr lang="en-US" sz="2400" b="1" dirty="0">
                <a:solidFill>
                  <a:srgbClr val="13294B"/>
                </a:solidFill>
                <a:latin typeface="Cambria" pitchFamily="34" charset="0"/>
                <a:ea typeface="Cambria" pitchFamily="34" charset="-122"/>
                <a:cs typeface="Cambria" pitchFamily="34" charset="-120"/>
              </a:rPr>
              <a:t>El churn se lleva casi un tercio del ingreso recurrente mensual</a:t>
            </a:r>
            <a:endParaRPr lang="en-US" sz="2400" dirty="0"/>
          </a:p>
        </p:txBody>
      </p:sp>
      <p:sp>
        <p:nvSpPr>
          <p:cNvPr id="5" name="Shape 2"/>
          <p:cNvSpPr/>
          <p:nvPr/>
        </p:nvSpPr>
        <p:spPr>
          <a:xfrm>
            <a:off x="548640" y="1417320"/>
            <a:ext cx="2642616" cy="1325880"/>
          </a:xfrm>
          <a:prstGeom prst="roundRect">
            <a:avLst>
              <a:gd name="adj" fmla="val 5517"/>
            </a:avLst>
          </a:prstGeom>
          <a:solidFill>
            <a:srgbClr val="F3F5F8"/>
          </a:solidFill>
          <a:ln w="12700">
            <a:solidFill>
              <a:srgbClr val="F3F5F8"/>
            </a:solidFill>
            <a:prstDash val="solid"/>
          </a:ln>
        </p:spPr>
        <p:txBody>
          <a:bodyPr/>
          <a:p/>
        </p:txBody>
      </p:sp>
      <p:sp>
        <p:nvSpPr>
          <p:cNvPr id="6" name="Text 3"/>
          <p:cNvSpPr txBox="1"/>
          <p:nvPr/>
        </p:nvSpPr>
        <p:spPr>
          <a:xfrm>
            <a:off x="731520" y="1545336"/>
            <a:ext cx="2276856" cy="636422"/>
          </a:xfrm>
          <a:prstGeom prst="rect">
            <a:avLst/>
          </a:prstGeom>
          <a:noFill/>
          <a:ln/>
        </p:spPr>
        <p:txBody>
          <a:bodyPr wrap="square" lIns="0" tIns="0" rIns="0" bIns="0" rtlCol="0" anchor="ctr"/>
          <a:lstStyle/>
          <a:p>
            <a:pPr indent="0" marL="0">
              <a:buNone/>
            </a:pPr>
            <a:r>
              <a:rPr lang="en-US" sz="3000" b="1" dirty="0">
                <a:solidFill>
                  <a:srgbClr val="EB6834"/>
                </a:solidFill>
                <a:latin typeface="Cambria" pitchFamily="34" charset="0"/>
                <a:ea typeface="Cambria" pitchFamily="34" charset="-122"/>
                <a:cs typeface="Cambria" pitchFamily="34" charset="-120"/>
              </a:rPr>
              <a:t>26,5 %</a:t>
            </a:r>
            <a:endParaRPr lang="en-US" sz="3000" dirty="0"/>
          </a:p>
        </p:txBody>
      </p:sp>
      <p:sp>
        <p:nvSpPr>
          <p:cNvPr id="7" name="Text 4"/>
          <p:cNvSpPr txBox="1"/>
          <p:nvPr/>
        </p:nvSpPr>
        <p:spPr>
          <a:xfrm>
            <a:off x="731520" y="2181758"/>
            <a:ext cx="2276856" cy="470002"/>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de los clientes abandonó (1.869 de 7.043)</a:t>
            </a:r>
            <a:endParaRPr lang="en-US" sz="1300" dirty="0"/>
          </a:p>
        </p:txBody>
      </p:sp>
      <p:sp>
        <p:nvSpPr>
          <p:cNvPr id="8" name="Shape 5"/>
          <p:cNvSpPr/>
          <p:nvPr/>
        </p:nvSpPr>
        <p:spPr>
          <a:xfrm>
            <a:off x="3364992" y="1417320"/>
            <a:ext cx="2642616" cy="1325880"/>
          </a:xfrm>
          <a:prstGeom prst="roundRect">
            <a:avLst>
              <a:gd name="adj" fmla="val 5517"/>
            </a:avLst>
          </a:prstGeom>
          <a:solidFill>
            <a:srgbClr val="F3F5F8"/>
          </a:solidFill>
          <a:ln w="12700">
            <a:solidFill>
              <a:srgbClr val="F3F5F8"/>
            </a:solidFill>
            <a:prstDash val="solid"/>
          </a:ln>
        </p:spPr>
        <p:txBody>
          <a:bodyPr/>
          <a:p/>
        </p:txBody>
      </p:sp>
      <p:sp>
        <p:nvSpPr>
          <p:cNvPr id="9" name="Text 6"/>
          <p:cNvSpPr txBox="1"/>
          <p:nvPr/>
        </p:nvSpPr>
        <p:spPr>
          <a:xfrm>
            <a:off x="3547872" y="1545336"/>
            <a:ext cx="2276856" cy="636422"/>
          </a:xfrm>
          <a:prstGeom prst="rect">
            <a:avLst/>
          </a:prstGeom>
          <a:noFill/>
          <a:ln/>
        </p:spPr>
        <p:txBody>
          <a:bodyPr wrap="square" lIns="0" tIns="0" rIns="0" bIns="0" rtlCol="0" anchor="ctr"/>
          <a:lstStyle/>
          <a:p>
            <a:pPr indent="0" marL="0">
              <a:buNone/>
            </a:pPr>
            <a:r>
              <a:rPr lang="en-US" sz="3000" b="1" dirty="0">
                <a:solidFill>
                  <a:srgbClr val="EB6834"/>
                </a:solidFill>
                <a:latin typeface="Cambria" pitchFamily="34" charset="0"/>
                <a:ea typeface="Cambria" pitchFamily="34" charset="-122"/>
                <a:cs typeface="Cambria" pitchFamily="34" charset="-120"/>
              </a:rPr>
              <a:t>USD 139 mil</a:t>
            </a:r>
            <a:endParaRPr lang="en-US" sz="3000" dirty="0"/>
          </a:p>
        </p:txBody>
      </p:sp>
      <p:sp>
        <p:nvSpPr>
          <p:cNvPr id="10" name="Text 7"/>
          <p:cNvSpPr txBox="1"/>
          <p:nvPr/>
        </p:nvSpPr>
        <p:spPr>
          <a:xfrm>
            <a:off x="3547872" y="2181758"/>
            <a:ext cx="2276856" cy="470002"/>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de MRR perdido cada mes por churn</a:t>
            </a:r>
            <a:endParaRPr lang="en-US" sz="1300" dirty="0"/>
          </a:p>
        </p:txBody>
      </p:sp>
      <p:sp>
        <p:nvSpPr>
          <p:cNvPr id="11" name="Shape 8"/>
          <p:cNvSpPr/>
          <p:nvPr/>
        </p:nvSpPr>
        <p:spPr>
          <a:xfrm>
            <a:off x="6181344" y="1417320"/>
            <a:ext cx="2642616" cy="1325880"/>
          </a:xfrm>
          <a:prstGeom prst="roundRect">
            <a:avLst>
              <a:gd name="adj" fmla="val 5517"/>
            </a:avLst>
          </a:prstGeom>
          <a:solidFill>
            <a:srgbClr val="F3F5F8"/>
          </a:solidFill>
          <a:ln w="12700">
            <a:solidFill>
              <a:srgbClr val="F3F5F8"/>
            </a:solidFill>
            <a:prstDash val="solid"/>
          </a:ln>
        </p:spPr>
        <p:txBody>
          <a:bodyPr/>
          <a:p/>
        </p:txBody>
      </p:sp>
      <p:sp>
        <p:nvSpPr>
          <p:cNvPr id="12" name="Text 9"/>
          <p:cNvSpPr txBox="1"/>
          <p:nvPr/>
        </p:nvSpPr>
        <p:spPr>
          <a:xfrm>
            <a:off x="6364224" y="1545336"/>
            <a:ext cx="2276856" cy="636422"/>
          </a:xfrm>
          <a:prstGeom prst="rect">
            <a:avLst/>
          </a:prstGeom>
          <a:noFill/>
          <a:ln/>
        </p:spPr>
        <p:txBody>
          <a:bodyPr wrap="square" lIns="0" tIns="0" rIns="0" bIns="0" rtlCol="0" anchor="ctr"/>
          <a:lstStyle/>
          <a:p>
            <a:pPr indent="0" marL="0">
              <a:buNone/>
            </a:pPr>
            <a:r>
              <a:rPr lang="en-US" sz="3000" b="1" dirty="0">
                <a:solidFill>
                  <a:srgbClr val="EB6834"/>
                </a:solidFill>
                <a:latin typeface="Cambria" pitchFamily="34" charset="0"/>
                <a:ea typeface="Cambria" pitchFamily="34" charset="-122"/>
                <a:cs typeface="Cambria" pitchFamily="34" charset="-120"/>
              </a:rPr>
              <a:t>30,5 %</a:t>
            </a:r>
            <a:endParaRPr lang="en-US" sz="3000" dirty="0"/>
          </a:p>
        </p:txBody>
      </p:sp>
      <p:sp>
        <p:nvSpPr>
          <p:cNvPr id="13" name="Text 10"/>
          <p:cNvSpPr txBox="1"/>
          <p:nvPr/>
        </p:nvSpPr>
        <p:spPr>
          <a:xfrm>
            <a:off x="6364224" y="2181758"/>
            <a:ext cx="2276856" cy="470002"/>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del ingreso recurrente mensual (MRR)</a:t>
            </a:r>
            <a:endParaRPr lang="en-US" sz="1300" dirty="0"/>
          </a:p>
        </p:txBody>
      </p:sp>
      <p:sp>
        <p:nvSpPr>
          <p:cNvPr id="14" name="Shape 11"/>
          <p:cNvSpPr/>
          <p:nvPr/>
        </p:nvSpPr>
        <p:spPr>
          <a:xfrm>
            <a:off x="8997696" y="1417320"/>
            <a:ext cx="2642616" cy="1325880"/>
          </a:xfrm>
          <a:prstGeom prst="roundRect">
            <a:avLst>
              <a:gd name="adj" fmla="val 5517"/>
            </a:avLst>
          </a:prstGeom>
          <a:solidFill>
            <a:srgbClr val="F3F5F8"/>
          </a:solidFill>
          <a:ln w="12700">
            <a:solidFill>
              <a:srgbClr val="F3F5F8"/>
            </a:solidFill>
            <a:prstDash val="solid"/>
          </a:ln>
        </p:spPr>
        <p:txBody>
          <a:bodyPr/>
          <a:p/>
        </p:txBody>
      </p:sp>
      <p:sp>
        <p:nvSpPr>
          <p:cNvPr id="15" name="Text 12"/>
          <p:cNvSpPr txBox="1"/>
          <p:nvPr/>
        </p:nvSpPr>
        <p:spPr>
          <a:xfrm>
            <a:off x="9180576" y="1545336"/>
            <a:ext cx="2276856" cy="636422"/>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74 vs. 61</a:t>
            </a:r>
            <a:endParaRPr lang="en-US" sz="3000" dirty="0"/>
          </a:p>
        </p:txBody>
      </p:sp>
      <p:sp>
        <p:nvSpPr>
          <p:cNvPr id="16" name="Text 13"/>
          <p:cNvSpPr txBox="1"/>
          <p:nvPr/>
        </p:nvSpPr>
        <p:spPr>
          <a:xfrm>
            <a:off x="9180576" y="2181758"/>
            <a:ext cx="2276856" cy="470002"/>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USD de ARPU: quienes se van frente a los activos</a:t>
            </a:r>
            <a:endParaRPr lang="en-US" sz="1300" dirty="0"/>
          </a:p>
        </p:txBody>
      </p:sp>
      <p:sp>
        <p:nvSpPr>
          <p:cNvPr id="17" name="Text 14"/>
          <p:cNvSpPr txBox="1"/>
          <p:nvPr/>
        </p:nvSpPr>
        <p:spPr>
          <a:xfrm>
            <a:off x="548640" y="3017520"/>
            <a:ext cx="5486400" cy="292608"/>
          </a:xfrm>
          <a:prstGeom prst="rect">
            <a:avLst/>
          </a:prstGeom>
          <a:noFill/>
          <a:ln/>
        </p:spPr>
        <p:txBody>
          <a:bodyPr wrap="square" lIns="0" tIns="0" rIns="0" bIns="0" rtlCol="0" anchor="ctr"/>
          <a:lstStyle/>
          <a:p>
            <a:pPr indent="0" marL="0">
              <a:buNone/>
            </a:pPr>
            <a:r>
              <a:rPr lang="en-US" sz="1400" b="1" dirty="0">
                <a:solidFill>
                  <a:srgbClr val="1B1F24"/>
                </a:solidFill>
                <a:latin typeface="Calibri" pitchFamily="34" charset="0"/>
                <a:ea typeface="Calibri" pitchFamily="34" charset="-122"/>
                <a:cs typeface="Calibri" pitchFamily="34" charset="-120"/>
              </a:rPr>
              <a:t>Quienes abandonan pagan 22 % más que quienes se quedan</a:t>
            </a:r>
            <a:endParaRPr lang="en-US" sz="1400" dirty="0"/>
          </a:p>
        </p:txBody>
      </p:sp>
      <p:sp>
        <p:nvSpPr>
          <p:cNvPr id="18" name="Text 15"/>
          <p:cNvSpPr txBox="1"/>
          <p:nvPr/>
        </p:nvSpPr>
        <p:spPr>
          <a:xfrm>
            <a:off x="548640" y="3310128"/>
            <a:ext cx="5486400" cy="256032"/>
          </a:xfrm>
          <a:prstGeom prst="rect">
            <a:avLst/>
          </a:prstGeom>
          <a:noFill/>
          <a:ln/>
        </p:spPr>
        <p:txBody>
          <a:bodyPr wrap="square" lIns="0" tIns="0" rIns="0" bIns="0" rtlCol="0" anchor="ctr"/>
          <a:lstStyle/>
          <a:p>
            <a:pPr indent="0" marL="0">
              <a:buNone/>
            </a:pPr>
            <a:r>
              <a:rPr lang="en-US" sz="1100" dirty="0">
                <a:solidFill>
                  <a:srgbClr val="5B6573"/>
                </a:solidFill>
                <a:latin typeface="Calibri" pitchFamily="34" charset="0"/>
                <a:ea typeface="Calibri" pitchFamily="34" charset="-122"/>
                <a:cs typeface="Calibri" pitchFamily="34" charset="-120"/>
              </a:rPr>
              <a:t>ARPU mensual por estado del cliente (USD)</a:t>
            </a:r>
            <a:endParaRPr lang="en-US" sz="1100" dirty="0"/>
          </a:p>
        </p:txBody>
      </p:sp>
      <p:graphicFrame>
        <p:nvGraphicFramePr>
          <p:cNvPr id="19" name="Chart 0" descr=""/>
          <p:cNvGraphicFramePr/>
          <p:nvPr/>
        </p:nvGraphicFramePr>
        <p:xfrm>
          <a:off x="457200" y="3566160"/>
          <a:ext cx="5577840" cy="2377440"/>
        </p:xfrm>
        <a:graphic xmlns:a="http://schemas.openxmlformats.org/drawingml/2006/main">
          <a:graphicData uri="http://schemas.openxmlformats.org/drawingml/2006/chart">
            <c:chart xmlns:c="http://schemas.openxmlformats.org/drawingml/2006/chart" r:id="rId1"/>
          </a:graphicData>
        </a:graphic>
      </p:graphicFrame>
      <p:sp>
        <p:nvSpPr>
          <p:cNvPr id="20" name="Shape 16"/>
          <p:cNvSpPr/>
          <p:nvPr/>
        </p:nvSpPr>
        <p:spPr>
          <a:xfrm>
            <a:off x="6400800" y="3017520"/>
            <a:ext cx="5239512" cy="2880360"/>
          </a:xfrm>
          <a:prstGeom prst="roundRect">
            <a:avLst>
              <a:gd name="adj" fmla="val 2540"/>
            </a:avLst>
          </a:prstGeom>
          <a:solidFill>
            <a:srgbClr val="EEF4FC"/>
          </a:solidFill>
          <a:ln w="12700">
            <a:solidFill>
              <a:srgbClr val="EEF4FC"/>
            </a:solidFill>
            <a:prstDash val="solid"/>
          </a:ln>
        </p:spPr>
        <p:txBody>
          <a:bodyPr/>
          <a:p/>
        </p:txBody>
      </p:sp>
      <p:sp>
        <p:nvSpPr>
          <p:cNvPr id="21" name="Text 17"/>
          <p:cNvSpPr txBox="1"/>
          <p:nvPr/>
        </p:nvSpPr>
        <p:spPr>
          <a:xfrm>
            <a:off x="6675120" y="3200400"/>
            <a:ext cx="4754880" cy="310896"/>
          </a:xfrm>
          <a:prstGeom prst="rect">
            <a:avLst/>
          </a:prstGeom>
          <a:noFill/>
          <a:ln/>
        </p:spPr>
        <p:txBody>
          <a:bodyPr wrap="square" lIns="0" tIns="0" rIns="0" bIns="0" rtlCol="0" anchor="t"/>
          <a:lstStyle/>
          <a:p>
            <a:pPr indent="0" marL="0">
              <a:buNone/>
            </a:pPr>
            <a:r>
              <a:rPr lang="en-US" sz="1500" b="1" dirty="0">
                <a:solidFill>
                  <a:srgbClr val="13294B"/>
                </a:solidFill>
                <a:latin typeface="Calibri" pitchFamily="34" charset="0"/>
                <a:ea typeface="Calibri" pitchFamily="34" charset="-122"/>
                <a:cs typeface="Calibri" pitchFamily="34" charset="-120"/>
              </a:rPr>
              <a:t>Qué significa para la decisión</a:t>
            </a:r>
            <a:endParaRPr lang="en-US" sz="1500" dirty="0"/>
          </a:p>
        </p:txBody>
      </p:sp>
      <p:sp>
        <p:nvSpPr>
          <p:cNvPr id="22" name="Text 18"/>
          <p:cNvSpPr txBox="1"/>
          <p:nvPr/>
        </p:nvSpPr>
        <p:spPr>
          <a:xfrm>
            <a:off x="6675120" y="3611880"/>
            <a:ext cx="4754880" cy="219456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Contar clientes perdidos subestima el problema: se van los de mayor factura.</a:t>
            </a:r>
            <a:endParaRPr lang="en-US" sz="1400" dirty="0"/>
          </a:p>
          <a:p>
            <a:pPr marL="177800" indent="-1778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La métrica principal debe ponderar por valor (MRR), no solo por número de clientes.</a:t>
            </a:r>
            <a:endParaRPr lang="en-US" sz="1400" dirty="0"/>
          </a:p>
          <a:p>
            <a:pPr marL="177800" indent="-1778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Las tasas son del período de corte: se comparan entre segmentos y no se anualizan.</a:t>
            </a:r>
            <a:endParaRPr lang="en-US" sz="1400" dirty="0"/>
          </a:p>
        </p:txBody>
      </p:sp>
      <p:sp>
        <p:nvSpPr>
          <p:cNvPr id="25" name="Slide Number Placeholder 0"/>
          <p:cNvSpPr>
            <a:spLocks noGrp="1"/>
          </p:cNvSpPr>
          <p:nvPr>
            <p:ph type="sldNum" sz="quarter" idx="4294967295"/>
          </p:nvPr>
        </p:nvSpPr>
        <p:spPr>
          <a:xfrm>
            <a:off x="11091672"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5B657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164592"/>
            <a:ext cx="11091672" cy="256032"/>
          </a:xfrm>
          <a:prstGeom prst="rect">
            <a:avLst/>
          </a:prstGeom>
          <a:noFill/>
          <a:ln/>
        </p:spPr>
        <p:txBody>
          <a:bodyPr wrap="square" lIns="0" tIns="0" rIns="0" bIns="0" rtlCol="0" anchor="ctr"/>
          <a:lstStyle/>
          <a:p>
            <a:pPr indent="0" marL="0">
              <a:buNone/>
            </a:pPr>
            <a:r>
              <a:rPr lang="en-US" sz="1100" b="1" spc="50" kern="0" dirty="0">
                <a:solidFill>
                  <a:srgbClr val="2A78D6"/>
                </a:solidFill>
                <a:latin typeface="Calibri" pitchFamily="34" charset="0"/>
                <a:ea typeface="Calibri" pitchFamily="34" charset="-122"/>
                <a:cs typeface="Calibri" pitchFamily="34" charset="-120"/>
              </a:rPr>
              <a:t>01 · PROBLEMA Y DECISIÓN</a:t>
            </a:r>
            <a:pPr indent="0" marL="0">
              <a:buNone/>
            </a:pPr>
            <a:endParaRPr lang="en-US" sz="1100" dirty="0"/>
          </a:p>
        </p:txBody>
      </p:sp>
      <p:sp>
        <p:nvSpPr>
          <p:cNvPr id="3" name="Text 0"/>
          <p:cNvSpPr/>
          <p:nvPr>
            <p:ph idx="100" type="title" hasCustomPrompt="1"/>
          </p:nvPr>
        </p:nvSpPr>
        <p:spPr>
          <a:xfrm>
            <a:off x="548640" y="457200"/>
            <a:ext cx="11091672" cy="841248"/>
          </a:xfrm>
          <a:prstGeom prst="rect">
            <a:avLst/>
          </a:prstGeom>
          <a:noFill/>
          <a:ln/>
        </p:spPr>
        <p:txBody>
          <a:bodyPr wrap="square" lIns="0" tIns="0" rIns="0" bIns="0" rtlCol="0" anchor="t"/>
          <a:lstStyle/>
          <a:p>
            <a:pPr algn="l" indent="0" marL="0">
              <a:buNone/>
            </a:pPr>
            <a:r>
              <a:rPr lang="en-US" sz="2400" b="1" dirty="0">
                <a:solidFill>
                  <a:srgbClr val="13294B"/>
                </a:solidFill>
                <a:latin typeface="Cambria" pitchFamily="34" charset="0"/>
                <a:ea typeface="Cambria" pitchFamily="34" charset="-122"/>
                <a:cs typeface="Cambria" pitchFamily="34" charset="-120"/>
              </a:rPr>
              <a:t>Reformulamos el encargo: de «un dashboard de churn» a una decisión mensual</a:t>
            </a:r>
            <a:endParaRPr lang="en-US" sz="2400" dirty="0"/>
          </a:p>
        </p:txBody>
      </p:sp>
      <p:sp>
        <p:nvSpPr>
          <p:cNvPr id="5" name="Shape 2"/>
          <p:cNvSpPr/>
          <p:nvPr/>
        </p:nvSpPr>
        <p:spPr>
          <a:xfrm>
            <a:off x="548640" y="1417320"/>
            <a:ext cx="5120640" cy="1417320"/>
          </a:xfrm>
          <a:prstGeom prst="roundRect">
            <a:avLst>
              <a:gd name="adj" fmla="val 5161"/>
            </a:avLst>
          </a:prstGeom>
          <a:solidFill>
            <a:srgbClr val="F3F5F8"/>
          </a:solidFill>
          <a:ln w="12700">
            <a:solidFill>
              <a:srgbClr val="F3F5F8"/>
            </a:solidFill>
            <a:prstDash val="solid"/>
          </a:ln>
        </p:spPr>
        <p:txBody>
          <a:bodyPr/>
          <a:p/>
        </p:txBody>
      </p:sp>
      <p:sp>
        <p:nvSpPr>
          <p:cNvPr id="6" name="Text 3"/>
          <p:cNvSpPr txBox="1"/>
          <p:nvPr/>
        </p:nvSpPr>
        <p:spPr>
          <a:xfrm>
            <a:off x="777240" y="1572768"/>
            <a:ext cx="4663440" cy="310896"/>
          </a:xfrm>
          <a:prstGeom prst="rect">
            <a:avLst/>
          </a:prstGeom>
          <a:noFill/>
          <a:ln/>
        </p:spPr>
        <p:txBody>
          <a:bodyPr wrap="square" lIns="0" tIns="0" rIns="0" bIns="0" rtlCol="0" anchor="t"/>
          <a:lstStyle/>
          <a:p>
            <a:pPr indent="0" marL="0">
              <a:buNone/>
            </a:pPr>
            <a:r>
              <a:rPr lang="en-US" sz="1400" b="1" dirty="0">
                <a:solidFill>
                  <a:srgbClr val="5B6573"/>
                </a:solidFill>
                <a:latin typeface="Calibri" pitchFamily="34" charset="0"/>
                <a:ea typeface="Calibri" pitchFamily="34" charset="-122"/>
                <a:cs typeface="Calibri" pitchFamily="34" charset="-120"/>
              </a:rPr>
              <a:t>Formulación débil</a:t>
            </a:r>
            <a:endParaRPr lang="en-US" sz="1400" dirty="0"/>
          </a:p>
        </p:txBody>
      </p:sp>
      <p:sp>
        <p:nvSpPr>
          <p:cNvPr id="7" name="Text 4"/>
          <p:cNvSpPr txBox="1"/>
          <p:nvPr/>
        </p:nvSpPr>
        <p:spPr>
          <a:xfrm>
            <a:off x="777240" y="1965960"/>
            <a:ext cx="4663440" cy="731520"/>
          </a:xfrm>
          <a:prstGeom prst="rect">
            <a:avLst/>
          </a:prstGeom>
          <a:noFill/>
          <a:ln/>
        </p:spPr>
        <p:txBody>
          <a:bodyPr wrap="square" lIns="0" tIns="0" rIns="0" bIns="0" rtlCol="0" anchor="t"/>
          <a:lstStyle/>
          <a:p>
            <a:pPr indent="0" marL="0">
              <a:buNone/>
            </a:pPr>
            <a:r>
              <a:rPr lang="en-US" sz="1800" i="1" dirty="0">
                <a:solidFill>
                  <a:srgbClr val="5B6573"/>
                </a:solidFill>
                <a:latin typeface="Cambria" pitchFamily="34" charset="0"/>
                <a:ea typeface="Cambria" pitchFamily="34" charset="-122"/>
                <a:cs typeface="Cambria" pitchFamily="34" charset="-120"/>
              </a:rPr>
              <a:t>«Queremos un dashboard de churn.»</a:t>
            </a:r>
            <a:endParaRPr lang="en-US" sz="1800" dirty="0"/>
          </a:p>
        </p:txBody>
      </p:sp>
      <p:sp>
        <p:nvSpPr>
          <p:cNvPr id="8" name="Shape 5"/>
          <p:cNvSpPr/>
          <p:nvPr/>
        </p:nvSpPr>
        <p:spPr>
          <a:xfrm>
            <a:off x="5833872" y="1920240"/>
            <a:ext cx="502920" cy="411480"/>
          </a:xfrm>
          <a:prstGeom prst="rightArrow">
            <a:avLst/>
          </a:prstGeom>
          <a:solidFill>
            <a:srgbClr val="2A78D6"/>
          </a:solidFill>
          <a:ln w="12700">
            <a:solidFill>
              <a:srgbClr val="2A78D6"/>
            </a:solidFill>
            <a:prstDash val="solid"/>
          </a:ln>
        </p:spPr>
        <p:txBody>
          <a:bodyPr/>
          <a:p/>
        </p:txBody>
      </p:sp>
      <p:sp>
        <p:nvSpPr>
          <p:cNvPr id="9" name="Shape 6"/>
          <p:cNvSpPr/>
          <p:nvPr/>
        </p:nvSpPr>
        <p:spPr>
          <a:xfrm>
            <a:off x="6519672" y="1417320"/>
            <a:ext cx="5120640" cy="1417320"/>
          </a:xfrm>
          <a:prstGeom prst="roundRect">
            <a:avLst>
              <a:gd name="adj" fmla="val 5161"/>
            </a:avLst>
          </a:prstGeom>
          <a:solidFill>
            <a:srgbClr val="13294B"/>
          </a:solidFill>
          <a:ln w="12700">
            <a:solidFill>
              <a:srgbClr val="13294B"/>
            </a:solidFill>
            <a:prstDash val="solid"/>
          </a:ln>
        </p:spPr>
        <p:txBody>
          <a:bodyPr/>
          <a:p/>
        </p:txBody>
      </p:sp>
      <p:sp>
        <p:nvSpPr>
          <p:cNvPr id="10" name="Text 7"/>
          <p:cNvSpPr txBox="1"/>
          <p:nvPr/>
        </p:nvSpPr>
        <p:spPr>
          <a:xfrm>
            <a:off x="6748272" y="1572768"/>
            <a:ext cx="4663440" cy="310896"/>
          </a:xfrm>
          <a:prstGeom prst="rect">
            <a:avLst/>
          </a:prstGeom>
          <a:noFill/>
          <a:ln/>
        </p:spPr>
        <p:txBody>
          <a:bodyPr wrap="square" lIns="0" tIns="0" rIns="0" bIns="0" rtlCol="0" anchor="t"/>
          <a:lstStyle/>
          <a:p>
            <a:pPr indent="0" marL="0">
              <a:buNone/>
            </a:pPr>
            <a:r>
              <a:rPr lang="en-US" sz="1400" b="1" dirty="0">
                <a:solidFill>
                  <a:srgbClr val="EB6834"/>
                </a:solidFill>
                <a:latin typeface="Calibri" pitchFamily="34" charset="0"/>
                <a:ea typeface="Calibri" pitchFamily="34" charset="-122"/>
                <a:cs typeface="Calibri" pitchFamily="34" charset="-120"/>
              </a:rPr>
              <a:t>Formulación orientada a decisión</a:t>
            </a:r>
            <a:endParaRPr lang="en-US" sz="1400" dirty="0"/>
          </a:p>
        </p:txBody>
      </p:sp>
      <p:sp>
        <p:nvSpPr>
          <p:cNvPr id="11" name="Text 8"/>
          <p:cNvSpPr txBox="1"/>
          <p:nvPr/>
        </p:nvSpPr>
        <p:spPr>
          <a:xfrm>
            <a:off x="6748272" y="1938528"/>
            <a:ext cx="4663440" cy="82296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La Gerencia de Retención decide cada mes a quién intervenir, con qué palanca y con cuánto presupuesto, porque el churn se lleva un tercio del MRR.</a:t>
            </a:r>
            <a:endParaRPr lang="en-US" sz="1400" dirty="0"/>
          </a:p>
        </p:txBody>
      </p:sp>
      <p:sp>
        <p:nvSpPr>
          <p:cNvPr id="12" name="Shape 9"/>
          <p:cNvSpPr/>
          <p:nvPr/>
        </p:nvSpPr>
        <p:spPr>
          <a:xfrm>
            <a:off x="548640" y="3063240"/>
            <a:ext cx="11091672" cy="1325880"/>
          </a:xfrm>
          <a:prstGeom prst="roundRect">
            <a:avLst>
              <a:gd name="adj" fmla="val 5517"/>
            </a:avLst>
          </a:prstGeom>
          <a:solidFill>
            <a:srgbClr val="EEF4FC"/>
          </a:solidFill>
          <a:ln w="12700">
            <a:solidFill>
              <a:srgbClr val="CDE2FB"/>
            </a:solidFill>
            <a:prstDash val="solid"/>
          </a:ln>
        </p:spPr>
        <p:txBody>
          <a:bodyPr/>
          <a:p/>
        </p:txBody>
      </p:sp>
      <p:sp>
        <p:nvSpPr>
          <p:cNvPr id="13" name="Text 10"/>
          <p:cNvSpPr txBox="1"/>
          <p:nvPr/>
        </p:nvSpPr>
        <p:spPr>
          <a:xfrm>
            <a:off x="822960" y="3200400"/>
            <a:ext cx="5486400" cy="274320"/>
          </a:xfrm>
          <a:prstGeom prst="rect">
            <a:avLst/>
          </a:prstGeom>
          <a:noFill/>
          <a:ln/>
        </p:spPr>
        <p:txBody>
          <a:bodyPr wrap="square" lIns="0" tIns="0" rIns="0" bIns="0" rtlCol="0" anchor="ctr"/>
          <a:lstStyle/>
          <a:p>
            <a:pPr indent="0" marL="0">
              <a:buNone/>
            </a:pPr>
            <a:r>
              <a:rPr lang="en-US" sz="1200" b="1" spc="150" kern="0" dirty="0">
                <a:solidFill>
                  <a:srgbClr val="2A78D6"/>
                </a:solidFill>
                <a:latin typeface="Calibri" pitchFamily="34" charset="0"/>
                <a:ea typeface="Calibri" pitchFamily="34" charset="-122"/>
                <a:cs typeface="Calibri" pitchFamily="34" charset="-120"/>
              </a:rPr>
              <a:t>PREGUNTA DE DECISIÓN</a:t>
            </a:r>
            <a:endParaRPr lang="en-US" sz="1200" dirty="0"/>
          </a:p>
        </p:txBody>
      </p:sp>
      <p:sp>
        <p:nvSpPr>
          <p:cNvPr id="14" name="Text 11"/>
          <p:cNvSpPr txBox="1"/>
          <p:nvPr/>
        </p:nvSpPr>
        <p:spPr>
          <a:xfrm>
            <a:off x="822960" y="3493008"/>
            <a:ext cx="10607040" cy="822960"/>
          </a:xfrm>
          <a:prstGeom prst="rect">
            <a:avLst/>
          </a:prstGeom>
          <a:noFill/>
          <a:ln/>
        </p:spPr>
        <p:txBody>
          <a:bodyPr wrap="square" lIns="0" tIns="0" rIns="0" bIns="0" rtlCol="0" anchor="t"/>
          <a:lstStyle/>
          <a:p>
            <a:pPr indent="0" marL="0">
              <a:buNone/>
            </a:pPr>
            <a:r>
              <a:rPr lang="en-US" sz="1900" b="1" dirty="0">
                <a:solidFill>
                  <a:srgbClr val="13294B"/>
                </a:solidFill>
                <a:latin typeface="Cambria" pitchFamily="34" charset="0"/>
                <a:ea typeface="Cambria" pitchFamily="34" charset="-122"/>
                <a:cs typeface="Cambria" pitchFamily="34" charset="-120"/>
              </a:rPr>
              <a:t>¿Qué segmentos de clientes activos debe priorizar la Gerencia de Retención este mes, con qué palanca y con qué retorno esperado, para reducir el MRR perdido por churn sin deteriorar el ARPU?</a:t>
            </a:r>
            <a:endParaRPr lang="en-US" sz="1900" dirty="0"/>
          </a:p>
        </p:txBody>
      </p:sp>
      <p:sp>
        <p:nvSpPr>
          <p:cNvPr id="15" name="Shape 12"/>
          <p:cNvSpPr/>
          <p:nvPr/>
        </p:nvSpPr>
        <p:spPr>
          <a:xfrm>
            <a:off x="548640" y="4617720"/>
            <a:ext cx="3593592" cy="1325880"/>
          </a:xfrm>
          <a:prstGeom prst="roundRect">
            <a:avLst>
              <a:gd name="adj" fmla="val 5517"/>
            </a:avLst>
          </a:prstGeom>
          <a:solidFill>
            <a:srgbClr val="F3F5F8"/>
          </a:solidFill>
          <a:ln w="12700">
            <a:solidFill>
              <a:srgbClr val="F3F5F8"/>
            </a:solidFill>
            <a:prstDash val="solid"/>
          </a:ln>
        </p:spPr>
        <p:txBody>
          <a:bodyPr/>
          <a:p/>
        </p:txBody>
      </p:sp>
      <p:sp>
        <p:nvSpPr>
          <p:cNvPr id="16" name="Text 13"/>
          <p:cNvSpPr txBox="1"/>
          <p:nvPr/>
        </p:nvSpPr>
        <p:spPr>
          <a:xfrm>
            <a:off x="749808" y="4754880"/>
            <a:ext cx="3200400" cy="292608"/>
          </a:xfrm>
          <a:prstGeom prst="rect">
            <a:avLst/>
          </a:prstGeom>
          <a:noFill/>
          <a:ln/>
        </p:spPr>
        <p:txBody>
          <a:bodyPr wrap="square" lIns="0" tIns="0" rIns="0" bIns="0" rtlCol="0" anchor="ctr"/>
          <a:lstStyle/>
          <a:p>
            <a:pPr indent="0" marL="0">
              <a:buNone/>
            </a:pPr>
            <a:r>
              <a:rPr lang="en-US" sz="1500" b="1" dirty="0">
                <a:solidFill>
                  <a:srgbClr val="13294B"/>
                </a:solidFill>
                <a:latin typeface="Calibri" pitchFamily="34" charset="0"/>
                <a:ea typeface="Calibri" pitchFamily="34" charset="-122"/>
                <a:cs typeface="Calibri" pitchFamily="34" charset="-120"/>
              </a:rPr>
              <a:t>Estratégico</a:t>
            </a:r>
            <a:endParaRPr lang="en-US" sz="1500" dirty="0"/>
          </a:p>
        </p:txBody>
      </p:sp>
      <p:sp>
        <p:nvSpPr>
          <p:cNvPr id="17" name="Text 14"/>
          <p:cNvSpPr txBox="1"/>
          <p:nvPr/>
        </p:nvSpPr>
        <p:spPr>
          <a:xfrm>
            <a:off x="749808" y="5047488"/>
            <a:ext cx="3200400" cy="256032"/>
          </a:xfrm>
          <a:prstGeom prst="rect">
            <a:avLst/>
          </a:prstGeom>
          <a:noFill/>
          <a:ln/>
        </p:spPr>
        <p:txBody>
          <a:bodyPr wrap="square" lIns="0" tIns="0" rIns="0" bIns="0" rtlCol="0" anchor="ctr"/>
          <a:lstStyle/>
          <a:p>
            <a:pPr indent="0" marL="0">
              <a:buNone/>
            </a:pPr>
            <a:r>
              <a:rPr lang="en-US" sz="1200" b="1" dirty="0">
                <a:solidFill>
                  <a:srgbClr val="2A78D6"/>
                </a:solidFill>
                <a:latin typeface="Calibri" pitchFamily="34" charset="0"/>
                <a:ea typeface="Calibri" pitchFamily="34" charset="-122"/>
                <a:cs typeface="Calibri" pitchFamily="34" charset="-120"/>
              </a:rPr>
              <a:t>Comité Directivo · trimestral</a:t>
            </a:r>
            <a:endParaRPr lang="en-US" sz="1200" dirty="0"/>
          </a:p>
        </p:txBody>
      </p:sp>
      <p:sp>
        <p:nvSpPr>
          <p:cNvPr id="18" name="Text 15"/>
          <p:cNvSpPr txBox="1"/>
          <p:nvPr/>
        </p:nvSpPr>
        <p:spPr>
          <a:xfrm>
            <a:off x="749808" y="5330952"/>
            <a:ext cx="3200400" cy="54864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 MRR retenido frente a la meta y presupuesto del programa</a:t>
            </a:r>
            <a:endParaRPr lang="en-US" sz="1300" dirty="0"/>
          </a:p>
        </p:txBody>
      </p:sp>
      <p:sp>
        <p:nvSpPr>
          <p:cNvPr id="19" name="Shape 16"/>
          <p:cNvSpPr/>
          <p:nvPr/>
        </p:nvSpPr>
        <p:spPr>
          <a:xfrm>
            <a:off x="4297680" y="4617720"/>
            <a:ext cx="3593592" cy="1325880"/>
          </a:xfrm>
          <a:prstGeom prst="roundRect">
            <a:avLst>
              <a:gd name="adj" fmla="val 5517"/>
            </a:avLst>
          </a:prstGeom>
          <a:solidFill>
            <a:srgbClr val="F3F5F8"/>
          </a:solidFill>
          <a:ln w="12700">
            <a:solidFill>
              <a:srgbClr val="F3F5F8"/>
            </a:solidFill>
            <a:prstDash val="solid"/>
          </a:ln>
        </p:spPr>
        <p:txBody>
          <a:bodyPr/>
          <a:p/>
        </p:txBody>
      </p:sp>
      <p:sp>
        <p:nvSpPr>
          <p:cNvPr id="20" name="Text 17"/>
          <p:cNvSpPr txBox="1"/>
          <p:nvPr/>
        </p:nvSpPr>
        <p:spPr>
          <a:xfrm>
            <a:off x="4498848" y="4754880"/>
            <a:ext cx="3200400" cy="292608"/>
          </a:xfrm>
          <a:prstGeom prst="rect">
            <a:avLst/>
          </a:prstGeom>
          <a:noFill/>
          <a:ln/>
        </p:spPr>
        <p:txBody>
          <a:bodyPr wrap="square" lIns="0" tIns="0" rIns="0" bIns="0" rtlCol="0" anchor="ctr"/>
          <a:lstStyle/>
          <a:p>
            <a:pPr indent="0" marL="0">
              <a:buNone/>
            </a:pPr>
            <a:r>
              <a:rPr lang="en-US" sz="1500" b="1" dirty="0">
                <a:solidFill>
                  <a:srgbClr val="13294B"/>
                </a:solidFill>
                <a:latin typeface="Calibri" pitchFamily="34" charset="0"/>
                <a:ea typeface="Calibri" pitchFamily="34" charset="-122"/>
                <a:cs typeface="Calibri" pitchFamily="34" charset="-120"/>
              </a:rPr>
              <a:t>Táctico</a:t>
            </a:r>
            <a:endParaRPr lang="en-US" sz="1500" dirty="0"/>
          </a:p>
        </p:txBody>
      </p:sp>
      <p:sp>
        <p:nvSpPr>
          <p:cNvPr id="21" name="Text 18"/>
          <p:cNvSpPr txBox="1"/>
          <p:nvPr/>
        </p:nvSpPr>
        <p:spPr>
          <a:xfrm>
            <a:off x="4498848" y="5047488"/>
            <a:ext cx="3200400" cy="256032"/>
          </a:xfrm>
          <a:prstGeom prst="rect">
            <a:avLst/>
          </a:prstGeom>
          <a:noFill/>
          <a:ln/>
        </p:spPr>
        <p:txBody>
          <a:bodyPr wrap="square" lIns="0" tIns="0" rIns="0" bIns="0" rtlCol="0" anchor="ctr"/>
          <a:lstStyle/>
          <a:p>
            <a:pPr indent="0" marL="0">
              <a:buNone/>
            </a:pPr>
            <a:r>
              <a:rPr lang="en-US" sz="1200" b="1" dirty="0">
                <a:solidFill>
                  <a:srgbClr val="2A78D6"/>
                </a:solidFill>
                <a:latin typeface="Calibri" pitchFamily="34" charset="0"/>
                <a:ea typeface="Calibri" pitchFamily="34" charset="-122"/>
                <a:cs typeface="Calibri" pitchFamily="34" charset="-120"/>
              </a:rPr>
              <a:t>Gerencia de Retención · mensual</a:t>
            </a:r>
            <a:endParaRPr lang="en-US" sz="1200" dirty="0"/>
          </a:p>
        </p:txBody>
      </p:sp>
      <p:sp>
        <p:nvSpPr>
          <p:cNvPr id="22" name="Text 19"/>
          <p:cNvSpPr txBox="1"/>
          <p:nvPr/>
        </p:nvSpPr>
        <p:spPr>
          <a:xfrm>
            <a:off x="4498848" y="5330952"/>
            <a:ext cx="3200400" cy="54864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Segmentos a intervenir, palanca por perfil y presupuesto</a:t>
            </a:r>
            <a:endParaRPr lang="en-US" sz="1300" dirty="0"/>
          </a:p>
        </p:txBody>
      </p:sp>
      <p:sp>
        <p:nvSpPr>
          <p:cNvPr id="23" name="Shape 20"/>
          <p:cNvSpPr/>
          <p:nvPr/>
        </p:nvSpPr>
        <p:spPr>
          <a:xfrm>
            <a:off x="8046720" y="4617720"/>
            <a:ext cx="3593592" cy="1325880"/>
          </a:xfrm>
          <a:prstGeom prst="roundRect">
            <a:avLst>
              <a:gd name="adj" fmla="val 5517"/>
            </a:avLst>
          </a:prstGeom>
          <a:solidFill>
            <a:srgbClr val="F3F5F8"/>
          </a:solidFill>
          <a:ln w="12700">
            <a:solidFill>
              <a:srgbClr val="F3F5F8"/>
            </a:solidFill>
            <a:prstDash val="solid"/>
          </a:ln>
        </p:spPr>
        <p:txBody>
          <a:bodyPr/>
          <a:p/>
        </p:txBody>
      </p:sp>
      <p:sp>
        <p:nvSpPr>
          <p:cNvPr id="24" name="Text 21"/>
          <p:cNvSpPr txBox="1"/>
          <p:nvPr/>
        </p:nvSpPr>
        <p:spPr>
          <a:xfrm>
            <a:off x="8247888" y="4754880"/>
            <a:ext cx="3200400" cy="292608"/>
          </a:xfrm>
          <a:prstGeom prst="rect">
            <a:avLst/>
          </a:prstGeom>
          <a:noFill/>
          <a:ln/>
        </p:spPr>
        <p:txBody>
          <a:bodyPr wrap="square" lIns="0" tIns="0" rIns="0" bIns="0" rtlCol="0" anchor="ctr"/>
          <a:lstStyle/>
          <a:p>
            <a:pPr indent="0" marL="0">
              <a:buNone/>
            </a:pPr>
            <a:r>
              <a:rPr lang="en-US" sz="1500" b="1" dirty="0">
                <a:solidFill>
                  <a:srgbClr val="13294B"/>
                </a:solidFill>
                <a:latin typeface="Calibri" pitchFamily="34" charset="0"/>
                <a:ea typeface="Calibri" pitchFamily="34" charset="-122"/>
                <a:cs typeface="Calibri" pitchFamily="34" charset="-120"/>
              </a:rPr>
              <a:t>Operativo</a:t>
            </a:r>
            <a:endParaRPr lang="en-US" sz="1500" dirty="0"/>
          </a:p>
        </p:txBody>
      </p:sp>
      <p:sp>
        <p:nvSpPr>
          <p:cNvPr id="25" name="Text 22"/>
          <p:cNvSpPr txBox="1"/>
          <p:nvPr/>
        </p:nvSpPr>
        <p:spPr>
          <a:xfrm>
            <a:off x="8247888" y="5047488"/>
            <a:ext cx="3200400" cy="256032"/>
          </a:xfrm>
          <a:prstGeom prst="rect">
            <a:avLst/>
          </a:prstGeom>
          <a:noFill/>
          <a:ln/>
        </p:spPr>
        <p:txBody>
          <a:bodyPr wrap="square" lIns="0" tIns="0" rIns="0" bIns="0" rtlCol="0" anchor="ctr"/>
          <a:lstStyle/>
          <a:p>
            <a:pPr indent="0" marL="0">
              <a:buNone/>
            </a:pPr>
            <a:r>
              <a:rPr lang="en-US" sz="1200" b="1" dirty="0">
                <a:solidFill>
                  <a:srgbClr val="2A78D6"/>
                </a:solidFill>
                <a:latin typeface="Calibri" pitchFamily="34" charset="0"/>
                <a:ea typeface="Calibri" pitchFamily="34" charset="-122"/>
                <a:cs typeface="Calibri" pitchFamily="34" charset="-120"/>
              </a:rPr>
              <a:t>Customer Success y Facturación · semanal</a:t>
            </a:r>
            <a:endParaRPr lang="en-US" sz="1200" dirty="0"/>
          </a:p>
        </p:txBody>
      </p:sp>
      <p:sp>
        <p:nvSpPr>
          <p:cNvPr id="26" name="Text 23"/>
          <p:cNvSpPr txBox="1"/>
          <p:nvPr/>
        </p:nvSpPr>
        <p:spPr>
          <a:xfrm>
            <a:off x="8247888" y="5330952"/>
            <a:ext cx="3200400" cy="54864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Lista de contacto, ejecución de palancas y alertas</a:t>
            </a:r>
            <a:endParaRPr lang="en-US" sz="1300" dirty="0"/>
          </a:p>
        </p:txBody>
      </p:sp>
      <p:sp>
        <p:nvSpPr>
          <p:cNvPr id="25" name="Slide Number Placeholder 0"/>
          <p:cNvSpPr>
            <a:spLocks noGrp="1"/>
          </p:cNvSpPr>
          <p:nvPr>
            <p:ph type="sldNum" sz="quarter" idx="4294967295"/>
          </p:nvPr>
        </p:nvSpPr>
        <p:spPr>
          <a:xfrm>
            <a:off x="11091672"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5B657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164592"/>
            <a:ext cx="11091672" cy="256032"/>
          </a:xfrm>
          <a:prstGeom prst="rect">
            <a:avLst/>
          </a:prstGeom>
          <a:noFill/>
          <a:ln/>
        </p:spPr>
        <p:txBody>
          <a:bodyPr wrap="square" lIns="0" tIns="0" rIns="0" bIns="0" rtlCol="0" anchor="ctr"/>
          <a:lstStyle/>
          <a:p>
            <a:pPr indent="0" marL="0">
              <a:buNone/>
            </a:pPr>
            <a:r>
              <a:rPr lang="en-US" sz="1100" b="1" spc="50" kern="0" dirty="0">
                <a:solidFill>
                  <a:srgbClr val="2A78D6"/>
                </a:solidFill>
                <a:latin typeface="Calibri" pitchFamily="34" charset="0"/>
                <a:ea typeface="Calibri" pitchFamily="34" charset="-122"/>
                <a:cs typeface="Calibri" pitchFamily="34" charset="-120"/>
              </a:rPr>
              <a:t>01 · PROBLEMA Y DECISIÓN</a:t>
            </a:r>
            <a:pPr indent="0" marL="0">
              <a:buNone/>
            </a:pPr>
            <a:endParaRPr lang="en-US" sz="1100" dirty="0"/>
          </a:p>
        </p:txBody>
      </p:sp>
      <p:sp>
        <p:nvSpPr>
          <p:cNvPr id="3" name="Text 0"/>
          <p:cNvSpPr/>
          <p:nvPr>
            <p:ph idx="100" type="title" hasCustomPrompt="1"/>
          </p:nvPr>
        </p:nvSpPr>
        <p:spPr>
          <a:xfrm>
            <a:off x="548640" y="457200"/>
            <a:ext cx="11091672" cy="841248"/>
          </a:xfrm>
          <a:prstGeom prst="rect">
            <a:avLst/>
          </a:prstGeom>
          <a:noFill/>
          <a:ln/>
        </p:spPr>
        <p:txBody>
          <a:bodyPr wrap="square" lIns="0" tIns="0" rIns="0" bIns="0" rtlCol="0" anchor="t"/>
          <a:lstStyle/>
          <a:p>
            <a:pPr algn="l" indent="0" marL="0">
              <a:buNone/>
            </a:pPr>
            <a:r>
              <a:rPr lang="en-US" sz="2400" b="1" dirty="0">
                <a:solidFill>
                  <a:srgbClr val="13294B"/>
                </a:solidFill>
                <a:latin typeface="Cambria" pitchFamily="34" charset="0"/>
                <a:ea typeface="Cambria" pitchFamily="34" charset="-122"/>
                <a:cs typeface="Cambria" pitchFamily="34" charset="-120"/>
              </a:rPr>
              <a:t>Decision Canvas: quién decide, qué decide, cada cuánto y cómo sabremos si funcionó</a:t>
            </a:r>
            <a:endParaRPr lang="en-US" sz="2400" dirty="0"/>
          </a:p>
        </p:txBody>
      </p:sp>
      <p:sp>
        <p:nvSpPr>
          <p:cNvPr id="5" name="Shape 2"/>
          <p:cNvSpPr/>
          <p:nvPr/>
        </p:nvSpPr>
        <p:spPr>
          <a:xfrm>
            <a:off x="548640" y="1417320"/>
            <a:ext cx="2670048" cy="2148840"/>
          </a:xfrm>
          <a:prstGeom prst="roundRect">
            <a:avLst>
              <a:gd name="adj" fmla="val 3404"/>
            </a:avLst>
          </a:prstGeom>
          <a:solidFill>
            <a:srgbClr val="F3F5F8"/>
          </a:solidFill>
          <a:ln w="12700">
            <a:solidFill>
              <a:srgbClr val="F3F5F8"/>
            </a:solidFill>
            <a:prstDash val="solid"/>
          </a:ln>
        </p:spPr>
        <p:txBody>
          <a:bodyPr/>
          <a:p/>
        </p:txBody>
      </p:sp>
      <p:sp>
        <p:nvSpPr>
          <p:cNvPr id="6" name="Text 3"/>
          <p:cNvSpPr txBox="1"/>
          <p:nvPr/>
        </p:nvSpPr>
        <p:spPr>
          <a:xfrm>
            <a:off x="731520" y="1581912"/>
            <a:ext cx="2304288" cy="502920"/>
          </a:xfrm>
          <a:prstGeom prst="rect">
            <a:avLst/>
          </a:prstGeom>
          <a:noFill/>
          <a:ln/>
        </p:spPr>
        <p:txBody>
          <a:bodyPr wrap="square" lIns="0" tIns="0" rIns="0" bIns="0" rtlCol="0" anchor="t"/>
          <a:lstStyle/>
          <a:p>
            <a:pPr indent="0" marL="0">
              <a:buNone/>
            </a:pPr>
            <a:r>
              <a:rPr lang="en-US" sz="1500" b="1" dirty="0">
                <a:solidFill>
                  <a:srgbClr val="13294B"/>
                </a:solidFill>
                <a:latin typeface="Calibri" pitchFamily="34" charset="0"/>
                <a:ea typeface="Calibri" pitchFamily="34" charset="-122"/>
                <a:cs typeface="Calibri" pitchFamily="34" charset="-120"/>
              </a:rPr>
              <a:t>Problema organizacional</a:t>
            </a:r>
            <a:endParaRPr lang="en-US" sz="1500" dirty="0"/>
          </a:p>
        </p:txBody>
      </p:sp>
      <p:sp>
        <p:nvSpPr>
          <p:cNvPr id="7" name="Text 4"/>
          <p:cNvSpPr txBox="1"/>
          <p:nvPr/>
        </p:nvSpPr>
        <p:spPr>
          <a:xfrm>
            <a:off x="731520" y="2130552"/>
            <a:ext cx="2304288" cy="1280160"/>
          </a:xfrm>
          <a:prstGeom prst="rect">
            <a:avLst/>
          </a:prstGeom>
          <a:noFill/>
          <a:ln/>
        </p:spPr>
        <p:txBody>
          <a:bodyPr wrap="square" lIns="0" tIns="0" rIns="0" bIns="0" rtlCol="0" anchor="t"/>
          <a:lstStyle/>
          <a:p>
            <a:pPr indent="0" marL="0">
              <a:buNone/>
            </a:pPr>
            <a:r>
              <a:rPr lang="en-US" sz="1350" dirty="0">
                <a:solidFill>
                  <a:srgbClr val="1B1F24"/>
                </a:solidFill>
                <a:latin typeface="Calibri" pitchFamily="34" charset="0"/>
                <a:ea typeface="Calibri" pitchFamily="34" charset="-122"/>
                <a:cs typeface="Calibri" pitchFamily="34" charset="-120"/>
              </a:rPr>
              <a:t>Pérdida de clientes y de MRR por churn (26,5 % y 30,5 %) con acciones genéricas y sin priorizar.</a:t>
            </a:r>
            <a:endParaRPr lang="en-US" sz="1350" dirty="0"/>
          </a:p>
        </p:txBody>
      </p:sp>
      <p:sp>
        <p:nvSpPr>
          <p:cNvPr id="8" name="Shape 5"/>
          <p:cNvSpPr/>
          <p:nvPr/>
        </p:nvSpPr>
        <p:spPr>
          <a:xfrm>
            <a:off x="3355848" y="1417320"/>
            <a:ext cx="2670048" cy="2148840"/>
          </a:xfrm>
          <a:prstGeom prst="roundRect">
            <a:avLst>
              <a:gd name="adj" fmla="val 3404"/>
            </a:avLst>
          </a:prstGeom>
          <a:solidFill>
            <a:srgbClr val="F3F5F8"/>
          </a:solidFill>
          <a:ln w="12700">
            <a:solidFill>
              <a:srgbClr val="F3F5F8"/>
            </a:solidFill>
            <a:prstDash val="solid"/>
          </a:ln>
        </p:spPr>
        <p:txBody>
          <a:bodyPr/>
          <a:p/>
        </p:txBody>
      </p:sp>
      <p:sp>
        <p:nvSpPr>
          <p:cNvPr id="9" name="Text 6"/>
          <p:cNvSpPr txBox="1"/>
          <p:nvPr/>
        </p:nvSpPr>
        <p:spPr>
          <a:xfrm>
            <a:off x="3538728" y="1581912"/>
            <a:ext cx="2304288" cy="502920"/>
          </a:xfrm>
          <a:prstGeom prst="rect">
            <a:avLst/>
          </a:prstGeom>
          <a:noFill/>
          <a:ln/>
        </p:spPr>
        <p:txBody>
          <a:bodyPr wrap="square" lIns="0" tIns="0" rIns="0" bIns="0" rtlCol="0" anchor="t"/>
          <a:lstStyle/>
          <a:p>
            <a:pPr indent="0" marL="0">
              <a:buNone/>
            </a:pPr>
            <a:r>
              <a:rPr lang="en-US" sz="1500" b="1" dirty="0">
                <a:solidFill>
                  <a:srgbClr val="13294B"/>
                </a:solidFill>
                <a:latin typeface="Calibri" pitchFamily="34" charset="0"/>
                <a:ea typeface="Calibri" pitchFamily="34" charset="-122"/>
                <a:cs typeface="Calibri" pitchFamily="34" charset="-120"/>
              </a:rPr>
              <a:t>Objetivo de negocio</a:t>
            </a:r>
            <a:endParaRPr lang="en-US" sz="1500" dirty="0"/>
          </a:p>
        </p:txBody>
      </p:sp>
      <p:sp>
        <p:nvSpPr>
          <p:cNvPr id="10" name="Text 7"/>
          <p:cNvSpPr txBox="1"/>
          <p:nvPr/>
        </p:nvSpPr>
        <p:spPr>
          <a:xfrm>
            <a:off x="3538728" y="2130552"/>
            <a:ext cx="2304288" cy="1280160"/>
          </a:xfrm>
          <a:prstGeom prst="rect">
            <a:avLst/>
          </a:prstGeom>
          <a:noFill/>
          <a:ln/>
        </p:spPr>
        <p:txBody>
          <a:bodyPr wrap="square" lIns="0" tIns="0" rIns="0" bIns="0" rtlCol="0" anchor="t"/>
          <a:lstStyle/>
          <a:p>
            <a:pPr indent="0" marL="0">
              <a:buNone/>
            </a:pPr>
            <a:r>
              <a:rPr lang="en-US" sz="1350" dirty="0">
                <a:solidFill>
                  <a:srgbClr val="1B1F24"/>
                </a:solidFill>
                <a:latin typeface="Calibri" pitchFamily="34" charset="0"/>
                <a:ea typeface="Calibri" pitchFamily="34" charset="-122"/>
                <a:cs typeface="Calibri" pitchFamily="34" charset="-120"/>
              </a:rPr>
              <a:t>Llevar el MRR perdido de 30,5 % a ≤ 25 % en dos trimestres sin que el ARPU caiga más de 3 %.</a:t>
            </a:r>
            <a:endParaRPr lang="en-US" sz="1350" dirty="0"/>
          </a:p>
        </p:txBody>
      </p:sp>
      <p:sp>
        <p:nvSpPr>
          <p:cNvPr id="11" name="Shape 8"/>
          <p:cNvSpPr/>
          <p:nvPr/>
        </p:nvSpPr>
        <p:spPr>
          <a:xfrm>
            <a:off x="6163056" y="1417320"/>
            <a:ext cx="2670048" cy="2148840"/>
          </a:xfrm>
          <a:prstGeom prst="roundRect">
            <a:avLst>
              <a:gd name="adj" fmla="val 3404"/>
            </a:avLst>
          </a:prstGeom>
          <a:solidFill>
            <a:srgbClr val="F3F5F8"/>
          </a:solidFill>
          <a:ln w="12700">
            <a:solidFill>
              <a:srgbClr val="F3F5F8"/>
            </a:solidFill>
            <a:prstDash val="solid"/>
          </a:ln>
        </p:spPr>
        <p:txBody>
          <a:bodyPr/>
          <a:p/>
        </p:txBody>
      </p:sp>
      <p:sp>
        <p:nvSpPr>
          <p:cNvPr id="12" name="Text 9"/>
          <p:cNvSpPr txBox="1"/>
          <p:nvPr/>
        </p:nvSpPr>
        <p:spPr>
          <a:xfrm>
            <a:off x="6345936" y="1581912"/>
            <a:ext cx="2304288" cy="502920"/>
          </a:xfrm>
          <a:prstGeom prst="rect">
            <a:avLst/>
          </a:prstGeom>
          <a:noFill/>
          <a:ln/>
        </p:spPr>
        <p:txBody>
          <a:bodyPr wrap="square" lIns="0" tIns="0" rIns="0" bIns="0" rtlCol="0" anchor="t"/>
          <a:lstStyle/>
          <a:p>
            <a:pPr indent="0" marL="0">
              <a:buNone/>
            </a:pPr>
            <a:r>
              <a:rPr lang="en-US" sz="1500" b="1" dirty="0">
                <a:solidFill>
                  <a:srgbClr val="13294B"/>
                </a:solidFill>
                <a:latin typeface="Calibri" pitchFamily="34" charset="0"/>
                <a:ea typeface="Calibri" pitchFamily="34" charset="-122"/>
                <a:cs typeface="Calibri" pitchFamily="34" charset="-120"/>
              </a:rPr>
              <a:t>Usuario de la decisión</a:t>
            </a:r>
            <a:endParaRPr lang="en-US" sz="1500" dirty="0"/>
          </a:p>
        </p:txBody>
      </p:sp>
      <p:sp>
        <p:nvSpPr>
          <p:cNvPr id="13" name="Text 10"/>
          <p:cNvSpPr txBox="1"/>
          <p:nvPr/>
        </p:nvSpPr>
        <p:spPr>
          <a:xfrm>
            <a:off x="6345936" y="2130552"/>
            <a:ext cx="2304288" cy="1280160"/>
          </a:xfrm>
          <a:prstGeom prst="rect">
            <a:avLst/>
          </a:prstGeom>
          <a:noFill/>
          <a:ln/>
        </p:spPr>
        <p:txBody>
          <a:bodyPr wrap="square" lIns="0" tIns="0" rIns="0" bIns="0" rtlCol="0" anchor="t"/>
          <a:lstStyle/>
          <a:p>
            <a:pPr indent="0" marL="0">
              <a:buNone/>
            </a:pPr>
            <a:r>
              <a:rPr lang="en-US" sz="1350" dirty="0">
                <a:solidFill>
                  <a:srgbClr val="1B1F24"/>
                </a:solidFill>
                <a:latin typeface="Calibri" pitchFamily="34" charset="0"/>
                <a:ea typeface="Calibri" pitchFamily="34" charset="-122"/>
                <a:cs typeface="Calibri" pitchFamily="34" charset="-120"/>
              </a:rPr>
              <a:t>Gerente de Retención (decide). Comité Directivo (audiencia). Customer Success, Facturación y Producto (ejecutan).</a:t>
            </a:r>
            <a:endParaRPr lang="en-US" sz="1350" dirty="0"/>
          </a:p>
        </p:txBody>
      </p:sp>
      <p:sp>
        <p:nvSpPr>
          <p:cNvPr id="14" name="Shape 11"/>
          <p:cNvSpPr/>
          <p:nvPr/>
        </p:nvSpPr>
        <p:spPr>
          <a:xfrm>
            <a:off x="8970264" y="1417320"/>
            <a:ext cx="2670048" cy="2148840"/>
          </a:xfrm>
          <a:prstGeom prst="roundRect">
            <a:avLst>
              <a:gd name="adj" fmla="val 3404"/>
            </a:avLst>
          </a:prstGeom>
          <a:solidFill>
            <a:srgbClr val="13294B"/>
          </a:solidFill>
          <a:ln w="12700">
            <a:solidFill>
              <a:srgbClr val="13294B"/>
            </a:solidFill>
            <a:prstDash val="solid"/>
          </a:ln>
        </p:spPr>
        <p:txBody>
          <a:bodyPr/>
          <a:p/>
        </p:txBody>
      </p:sp>
      <p:sp>
        <p:nvSpPr>
          <p:cNvPr id="15" name="Text 12"/>
          <p:cNvSpPr txBox="1"/>
          <p:nvPr/>
        </p:nvSpPr>
        <p:spPr>
          <a:xfrm>
            <a:off x="9153144" y="1581912"/>
            <a:ext cx="2304288" cy="502920"/>
          </a:xfrm>
          <a:prstGeom prst="rect">
            <a:avLst/>
          </a:prstGeom>
          <a:noFill/>
          <a:ln/>
        </p:spPr>
        <p:txBody>
          <a:bodyPr wrap="square" lIns="0" tIns="0" rIns="0" bIns="0" rtlCol="0" anchor="t"/>
          <a:lstStyle/>
          <a:p>
            <a:pPr indent="0" marL="0">
              <a:buNone/>
            </a:pPr>
            <a:r>
              <a:rPr lang="en-US" sz="1500" b="1" dirty="0">
                <a:solidFill>
                  <a:srgbClr val="EB6834"/>
                </a:solidFill>
                <a:latin typeface="Calibri" pitchFamily="34" charset="0"/>
                <a:ea typeface="Calibri" pitchFamily="34" charset="-122"/>
                <a:cs typeface="Calibri" pitchFamily="34" charset="-120"/>
              </a:rPr>
              <a:t>Decisión principal</a:t>
            </a:r>
            <a:endParaRPr lang="en-US" sz="1500" dirty="0"/>
          </a:p>
        </p:txBody>
      </p:sp>
      <p:sp>
        <p:nvSpPr>
          <p:cNvPr id="16" name="Text 13"/>
          <p:cNvSpPr txBox="1"/>
          <p:nvPr/>
        </p:nvSpPr>
        <p:spPr>
          <a:xfrm>
            <a:off x="9153144" y="2130552"/>
            <a:ext cx="2304288" cy="1280160"/>
          </a:xfrm>
          <a:prstGeom prst="rect">
            <a:avLst/>
          </a:prstGeom>
          <a:noFill/>
          <a:ln/>
        </p:spPr>
        <p:txBody>
          <a:bodyPr wrap="square" lIns="0" tIns="0" rIns="0" bIns="0" rtlCol="0" anchor="t"/>
          <a:lstStyle/>
          <a:p>
            <a:pPr indent="0" marL="0">
              <a:buNone/>
            </a:pPr>
            <a:r>
              <a:rPr lang="en-US" sz="1350" dirty="0">
                <a:solidFill>
                  <a:srgbClr val="FFFFFF"/>
                </a:solidFill>
                <a:latin typeface="Calibri" pitchFamily="34" charset="0"/>
                <a:ea typeface="Calibri" pitchFamily="34" charset="-122"/>
                <a:cs typeface="Calibri" pitchFamily="34" charset="-120"/>
              </a:rPr>
              <a:t>Qué segmentos activos intervenir cada mes, con qué palanca y con qué presupuesto.</a:t>
            </a:r>
            <a:endParaRPr lang="en-US" sz="1350" dirty="0"/>
          </a:p>
        </p:txBody>
      </p:sp>
      <p:sp>
        <p:nvSpPr>
          <p:cNvPr id="17" name="Shape 14"/>
          <p:cNvSpPr/>
          <p:nvPr/>
        </p:nvSpPr>
        <p:spPr>
          <a:xfrm>
            <a:off x="548640" y="3703320"/>
            <a:ext cx="2670048" cy="2148840"/>
          </a:xfrm>
          <a:prstGeom prst="roundRect">
            <a:avLst>
              <a:gd name="adj" fmla="val 3404"/>
            </a:avLst>
          </a:prstGeom>
          <a:solidFill>
            <a:srgbClr val="F3F5F8"/>
          </a:solidFill>
          <a:ln w="12700">
            <a:solidFill>
              <a:srgbClr val="F3F5F8"/>
            </a:solidFill>
            <a:prstDash val="solid"/>
          </a:ln>
        </p:spPr>
        <p:txBody>
          <a:bodyPr/>
          <a:p/>
        </p:txBody>
      </p:sp>
      <p:sp>
        <p:nvSpPr>
          <p:cNvPr id="18" name="Text 15"/>
          <p:cNvSpPr txBox="1"/>
          <p:nvPr/>
        </p:nvSpPr>
        <p:spPr>
          <a:xfrm>
            <a:off x="731520" y="3867912"/>
            <a:ext cx="2304288" cy="502920"/>
          </a:xfrm>
          <a:prstGeom prst="rect">
            <a:avLst/>
          </a:prstGeom>
          <a:noFill/>
          <a:ln/>
        </p:spPr>
        <p:txBody>
          <a:bodyPr wrap="square" lIns="0" tIns="0" rIns="0" bIns="0" rtlCol="0" anchor="t"/>
          <a:lstStyle/>
          <a:p>
            <a:pPr indent="0" marL="0">
              <a:buNone/>
            </a:pPr>
            <a:r>
              <a:rPr lang="en-US" sz="1500" b="1" dirty="0">
                <a:solidFill>
                  <a:srgbClr val="13294B"/>
                </a:solidFill>
                <a:latin typeface="Calibri" pitchFamily="34" charset="0"/>
                <a:ea typeface="Calibri" pitchFamily="34" charset="-122"/>
                <a:cs typeface="Calibri" pitchFamily="34" charset="-120"/>
              </a:rPr>
              <a:t>Frecuencia</a:t>
            </a:r>
            <a:endParaRPr lang="en-US" sz="1500" dirty="0"/>
          </a:p>
        </p:txBody>
      </p:sp>
      <p:sp>
        <p:nvSpPr>
          <p:cNvPr id="19" name="Text 16"/>
          <p:cNvSpPr txBox="1"/>
          <p:nvPr/>
        </p:nvSpPr>
        <p:spPr>
          <a:xfrm>
            <a:off x="731520" y="4416552"/>
            <a:ext cx="2304288" cy="1280160"/>
          </a:xfrm>
          <a:prstGeom prst="rect">
            <a:avLst/>
          </a:prstGeom>
          <a:noFill/>
          <a:ln/>
        </p:spPr>
        <p:txBody>
          <a:bodyPr wrap="square" lIns="0" tIns="0" rIns="0" bIns="0" rtlCol="0" anchor="t"/>
          <a:lstStyle/>
          <a:p>
            <a:pPr indent="0" marL="0">
              <a:buNone/>
            </a:pPr>
            <a:r>
              <a:rPr lang="en-US" sz="1350" dirty="0">
                <a:solidFill>
                  <a:srgbClr val="1B1F24"/>
                </a:solidFill>
                <a:latin typeface="Calibri" pitchFamily="34" charset="0"/>
                <a:ea typeface="Calibri" pitchFamily="34" charset="-122"/>
                <a:cs typeface="Calibri" pitchFamily="34" charset="-120"/>
              </a:rPr>
              <a:t>Mensual para segmentos y presupuesto; semanal para la ejecución; trimestral para el impacto.</a:t>
            </a:r>
            <a:endParaRPr lang="en-US" sz="1350" dirty="0"/>
          </a:p>
        </p:txBody>
      </p:sp>
      <p:sp>
        <p:nvSpPr>
          <p:cNvPr id="20" name="Shape 17"/>
          <p:cNvSpPr/>
          <p:nvPr/>
        </p:nvSpPr>
        <p:spPr>
          <a:xfrm>
            <a:off x="3355848" y="3703320"/>
            <a:ext cx="2670048" cy="2148840"/>
          </a:xfrm>
          <a:prstGeom prst="roundRect">
            <a:avLst>
              <a:gd name="adj" fmla="val 3404"/>
            </a:avLst>
          </a:prstGeom>
          <a:solidFill>
            <a:srgbClr val="F3F5F8"/>
          </a:solidFill>
          <a:ln w="12700">
            <a:solidFill>
              <a:srgbClr val="F3F5F8"/>
            </a:solidFill>
            <a:prstDash val="solid"/>
          </a:ln>
        </p:spPr>
        <p:txBody>
          <a:bodyPr/>
          <a:p/>
        </p:txBody>
      </p:sp>
      <p:sp>
        <p:nvSpPr>
          <p:cNvPr id="21" name="Text 18"/>
          <p:cNvSpPr txBox="1"/>
          <p:nvPr/>
        </p:nvSpPr>
        <p:spPr>
          <a:xfrm>
            <a:off x="3538728" y="3867912"/>
            <a:ext cx="2304288" cy="502920"/>
          </a:xfrm>
          <a:prstGeom prst="rect">
            <a:avLst/>
          </a:prstGeom>
          <a:noFill/>
          <a:ln/>
        </p:spPr>
        <p:txBody>
          <a:bodyPr wrap="square" lIns="0" tIns="0" rIns="0" bIns="0" rtlCol="0" anchor="t"/>
          <a:lstStyle/>
          <a:p>
            <a:pPr indent="0" marL="0">
              <a:buNone/>
            </a:pPr>
            <a:r>
              <a:rPr lang="en-US" sz="1500" b="1" dirty="0">
                <a:solidFill>
                  <a:srgbClr val="13294B"/>
                </a:solidFill>
                <a:latin typeface="Calibri" pitchFamily="34" charset="0"/>
                <a:ea typeface="Calibri" pitchFamily="34" charset="-122"/>
                <a:cs typeface="Calibri" pitchFamily="34" charset="-120"/>
              </a:rPr>
              <a:t>Datos</a:t>
            </a:r>
            <a:endParaRPr lang="en-US" sz="1500" dirty="0"/>
          </a:p>
        </p:txBody>
      </p:sp>
      <p:sp>
        <p:nvSpPr>
          <p:cNvPr id="22" name="Text 19"/>
          <p:cNvSpPr txBox="1"/>
          <p:nvPr/>
        </p:nvSpPr>
        <p:spPr>
          <a:xfrm>
            <a:off x="3538728" y="4416552"/>
            <a:ext cx="2304288" cy="1280160"/>
          </a:xfrm>
          <a:prstGeom prst="rect">
            <a:avLst/>
          </a:prstGeom>
          <a:noFill/>
          <a:ln/>
        </p:spPr>
        <p:txBody>
          <a:bodyPr wrap="square" lIns="0" tIns="0" rIns="0" bIns="0" rtlCol="0" anchor="t"/>
          <a:lstStyle/>
          <a:p>
            <a:pPr indent="0" marL="0">
              <a:buNone/>
            </a:pPr>
            <a:r>
              <a:rPr lang="en-US" sz="1350" dirty="0">
                <a:solidFill>
                  <a:srgbClr val="1B1F24"/>
                </a:solidFill>
                <a:latin typeface="Calibri" pitchFamily="34" charset="0"/>
                <a:ea typeface="Calibri" pitchFamily="34" charset="-122"/>
                <a:cs typeface="Calibri" pitchFamily="34" charset="-120"/>
              </a:rPr>
              <a:t>IBM Telco Customer Churn: 7.043 clientes × 21 variables en un corte. A futuro: cortes mensuales, CRM y costos.</a:t>
            </a:r>
            <a:endParaRPr lang="en-US" sz="1350" dirty="0"/>
          </a:p>
        </p:txBody>
      </p:sp>
      <p:sp>
        <p:nvSpPr>
          <p:cNvPr id="23" name="Shape 20"/>
          <p:cNvSpPr/>
          <p:nvPr/>
        </p:nvSpPr>
        <p:spPr>
          <a:xfrm>
            <a:off x="6163056" y="3703320"/>
            <a:ext cx="2670048" cy="2148840"/>
          </a:xfrm>
          <a:prstGeom prst="roundRect">
            <a:avLst>
              <a:gd name="adj" fmla="val 3404"/>
            </a:avLst>
          </a:prstGeom>
          <a:solidFill>
            <a:srgbClr val="F3F5F8"/>
          </a:solidFill>
          <a:ln w="12700">
            <a:solidFill>
              <a:srgbClr val="F3F5F8"/>
            </a:solidFill>
            <a:prstDash val="solid"/>
          </a:ln>
        </p:spPr>
        <p:txBody>
          <a:bodyPr/>
          <a:p/>
        </p:txBody>
      </p:sp>
      <p:sp>
        <p:nvSpPr>
          <p:cNvPr id="24" name="Text 21"/>
          <p:cNvSpPr txBox="1"/>
          <p:nvPr/>
        </p:nvSpPr>
        <p:spPr>
          <a:xfrm>
            <a:off x="6345936" y="3867912"/>
            <a:ext cx="2304288" cy="502920"/>
          </a:xfrm>
          <a:prstGeom prst="rect">
            <a:avLst/>
          </a:prstGeom>
          <a:noFill/>
          <a:ln/>
        </p:spPr>
        <p:txBody>
          <a:bodyPr wrap="square" lIns="0" tIns="0" rIns="0" bIns="0" rtlCol="0" anchor="t"/>
          <a:lstStyle/>
          <a:p>
            <a:pPr indent="0" marL="0">
              <a:buNone/>
            </a:pPr>
            <a:r>
              <a:rPr lang="en-US" sz="1500" b="1" dirty="0">
                <a:solidFill>
                  <a:srgbClr val="13294B"/>
                </a:solidFill>
                <a:latin typeface="Calibri" pitchFamily="34" charset="0"/>
                <a:ea typeface="Calibri" pitchFamily="34" charset="-122"/>
                <a:cs typeface="Calibri" pitchFamily="34" charset="-120"/>
              </a:rPr>
              <a:t>Criterio de éxito</a:t>
            </a:r>
            <a:endParaRPr lang="en-US" sz="1500" dirty="0"/>
          </a:p>
        </p:txBody>
      </p:sp>
      <p:sp>
        <p:nvSpPr>
          <p:cNvPr id="25" name="Text 22"/>
          <p:cNvSpPr txBox="1"/>
          <p:nvPr/>
        </p:nvSpPr>
        <p:spPr>
          <a:xfrm>
            <a:off x="6345936" y="4416552"/>
            <a:ext cx="2304288" cy="1280160"/>
          </a:xfrm>
          <a:prstGeom prst="rect">
            <a:avLst/>
          </a:prstGeom>
          <a:noFill/>
          <a:ln/>
        </p:spPr>
        <p:txBody>
          <a:bodyPr wrap="square" lIns="0" tIns="0" rIns="0" bIns="0" rtlCol="0" anchor="t"/>
          <a:lstStyle/>
          <a:p>
            <a:pPr indent="0" marL="0">
              <a:buNone/>
            </a:pPr>
            <a:r>
              <a:rPr lang="en-US" sz="1350" dirty="0">
                <a:solidFill>
                  <a:srgbClr val="1B1F24"/>
                </a:solidFill>
                <a:latin typeface="Calibri" pitchFamily="34" charset="0"/>
                <a:ea typeface="Calibri" pitchFamily="34" charset="-122"/>
                <a:cs typeface="Calibri" pitchFamily="34" charset="-120"/>
              </a:rPr>
              <a:t>MRR perdido ≤ 25 %, uplift del piloto significativo, ROI ≥ 0 en el escenario base y ARPU ≥ USD 62,82.</a:t>
            </a:r>
            <a:endParaRPr lang="en-US" sz="1350" dirty="0"/>
          </a:p>
        </p:txBody>
      </p:sp>
      <p:sp>
        <p:nvSpPr>
          <p:cNvPr id="26" name="Shape 23"/>
          <p:cNvSpPr/>
          <p:nvPr/>
        </p:nvSpPr>
        <p:spPr>
          <a:xfrm>
            <a:off x="8970264" y="3703320"/>
            <a:ext cx="2670048" cy="2148840"/>
          </a:xfrm>
          <a:prstGeom prst="roundRect">
            <a:avLst>
              <a:gd name="adj" fmla="val 3404"/>
            </a:avLst>
          </a:prstGeom>
          <a:solidFill>
            <a:srgbClr val="F3F5F8"/>
          </a:solidFill>
          <a:ln w="12700">
            <a:solidFill>
              <a:srgbClr val="F3F5F8"/>
            </a:solidFill>
            <a:prstDash val="solid"/>
          </a:ln>
        </p:spPr>
        <p:txBody>
          <a:bodyPr/>
          <a:p/>
        </p:txBody>
      </p:sp>
      <p:sp>
        <p:nvSpPr>
          <p:cNvPr id="27" name="Text 24"/>
          <p:cNvSpPr txBox="1"/>
          <p:nvPr/>
        </p:nvSpPr>
        <p:spPr>
          <a:xfrm>
            <a:off x="9153144" y="3867912"/>
            <a:ext cx="2304288" cy="502920"/>
          </a:xfrm>
          <a:prstGeom prst="rect">
            <a:avLst/>
          </a:prstGeom>
          <a:noFill/>
          <a:ln/>
        </p:spPr>
        <p:txBody>
          <a:bodyPr wrap="square" lIns="0" tIns="0" rIns="0" bIns="0" rtlCol="0" anchor="t"/>
          <a:lstStyle/>
          <a:p>
            <a:pPr indent="0" marL="0">
              <a:buNone/>
            </a:pPr>
            <a:r>
              <a:rPr lang="en-US" sz="1500" b="1" dirty="0">
                <a:solidFill>
                  <a:srgbClr val="13294B"/>
                </a:solidFill>
                <a:latin typeface="Calibri" pitchFamily="34" charset="0"/>
                <a:ea typeface="Calibri" pitchFamily="34" charset="-122"/>
                <a:cs typeface="Calibri" pitchFamily="34" charset="-120"/>
              </a:rPr>
              <a:t>Riesgos de interpretación</a:t>
            </a:r>
            <a:endParaRPr lang="en-US" sz="1500" dirty="0"/>
          </a:p>
        </p:txBody>
      </p:sp>
      <p:sp>
        <p:nvSpPr>
          <p:cNvPr id="28" name="Text 25"/>
          <p:cNvSpPr txBox="1"/>
          <p:nvPr/>
        </p:nvSpPr>
        <p:spPr>
          <a:xfrm>
            <a:off x="9153144" y="4416552"/>
            <a:ext cx="2304288" cy="1280160"/>
          </a:xfrm>
          <a:prstGeom prst="rect">
            <a:avLst/>
          </a:prstGeom>
          <a:noFill/>
          <a:ln/>
        </p:spPr>
        <p:txBody>
          <a:bodyPr wrap="square" lIns="0" tIns="0" rIns="0" bIns="0" rtlCol="0" anchor="t"/>
          <a:lstStyle/>
          <a:p>
            <a:pPr indent="0" marL="0">
              <a:buNone/>
            </a:pPr>
            <a:r>
              <a:rPr lang="en-US" sz="1350" dirty="0">
                <a:solidFill>
                  <a:srgbClr val="1B1F24"/>
                </a:solidFill>
                <a:latin typeface="Calibri" pitchFamily="34" charset="0"/>
                <a:ea typeface="Calibri" pitchFamily="34" charset="-122"/>
                <a:cs typeface="Calibri" pitchFamily="34" charset="-120"/>
              </a:rPr>
              <a:t>Corte sin fechas, ventana de churn ambigua, sesgos de selección y de supervivencia, costos supuestos.</a:t>
            </a:r>
            <a:endParaRPr lang="en-US" sz="1350" dirty="0"/>
          </a:p>
        </p:txBody>
      </p:sp>
      <p:sp>
        <p:nvSpPr>
          <p:cNvPr id="25" name="Slide Number Placeholder 0"/>
          <p:cNvSpPr>
            <a:spLocks noGrp="1"/>
          </p:cNvSpPr>
          <p:nvPr>
            <p:ph type="sldNum" sz="quarter" idx="4294967295"/>
          </p:nvPr>
        </p:nvSpPr>
        <p:spPr>
          <a:xfrm>
            <a:off x="11091672"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5B657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164592"/>
            <a:ext cx="11091672" cy="256032"/>
          </a:xfrm>
          <a:prstGeom prst="rect">
            <a:avLst/>
          </a:prstGeom>
          <a:noFill/>
          <a:ln/>
        </p:spPr>
        <p:txBody>
          <a:bodyPr wrap="square" lIns="0" tIns="0" rIns="0" bIns="0" rtlCol="0" anchor="ctr"/>
          <a:lstStyle/>
          <a:p>
            <a:pPr indent="0" marL="0">
              <a:buNone/>
            </a:pPr>
            <a:r>
              <a:rPr lang="en-US" sz="1100" b="1" spc="50" kern="0" dirty="0">
                <a:solidFill>
                  <a:srgbClr val="2A78D6"/>
                </a:solidFill>
                <a:latin typeface="Calibri" pitchFamily="34" charset="0"/>
                <a:ea typeface="Calibri" pitchFamily="34" charset="-122"/>
                <a:cs typeface="Calibri" pitchFamily="34" charset="-120"/>
              </a:rPr>
              <a:t>01 · PROBLEMA Y DECISIÓN</a:t>
            </a:r>
            <a:pPr indent="0" marL="0">
              <a:buNone/>
            </a:pPr>
            <a:endParaRPr lang="en-US" sz="1100" dirty="0"/>
          </a:p>
        </p:txBody>
      </p:sp>
      <p:sp>
        <p:nvSpPr>
          <p:cNvPr id="3" name="Text 0"/>
          <p:cNvSpPr/>
          <p:nvPr>
            <p:ph idx="100" type="title" hasCustomPrompt="1"/>
          </p:nvPr>
        </p:nvSpPr>
        <p:spPr>
          <a:xfrm>
            <a:off x="548640" y="457200"/>
            <a:ext cx="11091672" cy="841248"/>
          </a:xfrm>
          <a:prstGeom prst="rect">
            <a:avLst/>
          </a:prstGeom>
          <a:noFill/>
          <a:ln/>
        </p:spPr>
        <p:txBody>
          <a:bodyPr wrap="square" lIns="0" tIns="0" rIns="0" bIns="0" rtlCol="0" anchor="t"/>
          <a:lstStyle/>
          <a:p>
            <a:pPr algn="l" indent="0" marL="0">
              <a:buNone/>
            </a:pPr>
            <a:r>
              <a:rPr lang="en-US" sz="2400" b="1" dirty="0">
                <a:solidFill>
                  <a:srgbClr val="13294B"/>
                </a:solidFill>
                <a:latin typeface="Cambria" pitchFamily="34" charset="0"/>
                <a:ea typeface="Cambria" pitchFamily="34" charset="-122"/>
                <a:cs typeface="Cambria" pitchFamily="34" charset="-120"/>
              </a:rPr>
              <a:t>Evaluamos cuatro alternativas con el mismo criterio: valor retenido por dólar invertido</a:t>
            </a:r>
            <a:endParaRPr lang="en-US" sz="2400" dirty="0"/>
          </a:p>
        </p:txBody>
      </p:sp>
      <p:sp>
        <p:nvSpPr>
          <p:cNvPr id="5" name="Shape 2"/>
          <p:cNvSpPr/>
          <p:nvPr/>
        </p:nvSpPr>
        <p:spPr>
          <a:xfrm>
            <a:off x="548640" y="1417320"/>
            <a:ext cx="2670048" cy="3931920"/>
          </a:xfrm>
          <a:prstGeom prst="roundRect">
            <a:avLst>
              <a:gd name="adj" fmla="val 2740"/>
            </a:avLst>
          </a:prstGeom>
          <a:solidFill>
            <a:srgbClr val="F3F5F8"/>
          </a:solidFill>
          <a:ln w="12700">
            <a:solidFill>
              <a:srgbClr val="F3F5F8"/>
            </a:solidFill>
            <a:prstDash val="solid"/>
          </a:ln>
        </p:spPr>
        <p:txBody>
          <a:bodyPr/>
          <a:p/>
        </p:txBody>
      </p:sp>
      <p:sp>
        <p:nvSpPr>
          <p:cNvPr id="6" name="Shape 3"/>
          <p:cNvSpPr/>
          <p:nvPr/>
        </p:nvSpPr>
        <p:spPr>
          <a:xfrm>
            <a:off x="749808" y="1618488"/>
            <a:ext cx="566928" cy="566928"/>
          </a:xfrm>
          <a:prstGeom prst="ellipse">
            <a:avLst/>
          </a:prstGeom>
          <a:solidFill>
            <a:srgbClr val="13294B"/>
          </a:solidFill>
          <a:ln w="12700">
            <a:solidFill>
              <a:srgbClr val="13294B"/>
            </a:solidFill>
            <a:prstDash val="solid"/>
          </a:ln>
        </p:spPr>
        <p:txBody>
          <a:bodyPr/>
          <a:p/>
        </p:txBody>
      </p:sp>
      <p:sp>
        <p:nvSpPr>
          <p:cNvPr id="7" name="Text 4"/>
          <p:cNvSpPr txBox="1"/>
          <p:nvPr/>
        </p:nvSpPr>
        <p:spPr>
          <a:xfrm>
            <a:off x="749808" y="161848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a:t>
            </a:r>
            <a:endParaRPr lang="en-US" sz="2000" dirty="0"/>
          </a:p>
        </p:txBody>
      </p:sp>
      <p:sp>
        <p:nvSpPr>
          <p:cNvPr id="8" name="Text 5"/>
          <p:cNvSpPr txBox="1"/>
          <p:nvPr/>
        </p:nvSpPr>
        <p:spPr>
          <a:xfrm>
            <a:off x="749808" y="2331720"/>
            <a:ext cx="2267712" cy="365760"/>
          </a:xfrm>
          <a:prstGeom prst="rect">
            <a:avLst/>
          </a:prstGeom>
          <a:noFill/>
          <a:ln/>
        </p:spPr>
        <p:txBody>
          <a:bodyPr wrap="square" lIns="0" tIns="0" rIns="0" bIns="0" rtlCol="0" anchor="ctr"/>
          <a:lstStyle/>
          <a:p>
            <a:pPr indent="0" marL="0">
              <a:buNone/>
            </a:pPr>
            <a:r>
              <a:rPr lang="en-US" sz="1700" b="1" dirty="0">
                <a:solidFill>
                  <a:srgbClr val="13294B"/>
                </a:solidFill>
                <a:latin typeface="Calibri" pitchFamily="34" charset="0"/>
                <a:ea typeface="Calibri" pitchFamily="34" charset="-122"/>
                <a:cs typeface="Calibri" pitchFamily="34" charset="-120"/>
              </a:rPr>
              <a:t>No intervenir</a:t>
            </a:r>
            <a:endParaRPr lang="en-US" sz="1700" dirty="0"/>
          </a:p>
        </p:txBody>
      </p:sp>
      <p:sp>
        <p:nvSpPr>
          <p:cNvPr id="9" name="Text 6"/>
          <p:cNvSpPr txBox="1"/>
          <p:nvPr/>
        </p:nvSpPr>
        <p:spPr>
          <a:xfrm>
            <a:off x="749808" y="2743200"/>
            <a:ext cx="2267712" cy="1463040"/>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Status quo: el churn sigue llevándose el 30,5 % del MRR.</a:t>
            </a:r>
            <a:endParaRPr lang="en-US" sz="1400" dirty="0"/>
          </a:p>
        </p:txBody>
      </p:sp>
      <p:sp>
        <p:nvSpPr>
          <p:cNvPr id="10" name="Text 7"/>
          <p:cNvSpPr txBox="1"/>
          <p:nvPr/>
        </p:nvSpPr>
        <p:spPr>
          <a:xfrm>
            <a:off x="749808" y="4251960"/>
            <a:ext cx="2267712" cy="960120"/>
          </a:xfrm>
          <a:prstGeom prst="rect">
            <a:avLst/>
          </a:prstGeom>
          <a:noFill/>
          <a:ln/>
        </p:spPr>
        <p:txBody>
          <a:bodyPr wrap="square" lIns="0" tIns="0" rIns="0" bIns="0" rtlCol="0" anchor="t"/>
          <a:lstStyle/>
          <a:p>
            <a:pPr indent="0" marL="0">
              <a:buNone/>
            </a:pPr>
            <a:r>
              <a:rPr lang="en-US" sz="1300" b="1" dirty="0">
                <a:solidFill>
                  <a:srgbClr val="5B6573"/>
                </a:solidFill>
                <a:latin typeface="Calibri" pitchFamily="34" charset="0"/>
                <a:ea typeface="Calibri" pitchFamily="34" charset="-122"/>
                <a:cs typeface="Calibri" pitchFamily="34" charset="-120"/>
              </a:rPr>
              <a:t>Riesgo: </a:t>
            </a:r>
            <a:pPr indent="0" marL="0">
              <a:buNone/>
            </a:pPr>
            <a:r>
              <a:rPr lang="en-US" sz="1300" dirty="0">
                <a:solidFill>
                  <a:srgbClr val="5B6573"/>
                </a:solidFill>
                <a:latin typeface="Calibri" pitchFamily="34" charset="0"/>
                <a:ea typeface="Calibri" pitchFamily="34" charset="-122"/>
                <a:cs typeface="Calibri" pitchFamily="34" charset="-120"/>
              </a:rPr>
              <a:t>Línea base de comparación.</a:t>
            </a:r>
            <a:endParaRPr lang="en-US" sz="1300" dirty="0"/>
          </a:p>
        </p:txBody>
      </p:sp>
      <p:sp>
        <p:nvSpPr>
          <p:cNvPr id="11" name="Shape 8"/>
          <p:cNvSpPr/>
          <p:nvPr/>
        </p:nvSpPr>
        <p:spPr>
          <a:xfrm>
            <a:off x="3355848" y="1417320"/>
            <a:ext cx="2670048" cy="3931920"/>
          </a:xfrm>
          <a:prstGeom prst="roundRect">
            <a:avLst>
              <a:gd name="adj" fmla="val 2740"/>
            </a:avLst>
          </a:prstGeom>
          <a:solidFill>
            <a:srgbClr val="F3F5F8"/>
          </a:solidFill>
          <a:ln w="12700">
            <a:solidFill>
              <a:srgbClr val="F3F5F8"/>
            </a:solidFill>
            <a:prstDash val="solid"/>
          </a:ln>
        </p:spPr>
        <p:txBody>
          <a:bodyPr/>
          <a:p/>
        </p:txBody>
      </p:sp>
      <p:sp>
        <p:nvSpPr>
          <p:cNvPr id="12" name="Shape 9"/>
          <p:cNvSpPr/>
          <p:nvPr/>
        </p:nvSpPr>
        <p:spPr>
          <a:xfrm>
            <a:off x="3557016" y="1618488"/>
            <a:ext cx="566928" cy="566928"/>
          </a:xfrm>
          <a:prstGeom prst="ellipse">
            <a:avLst/>
          </a:prstGeom>
          <a:solidFill>
            <a:srgbClr val="13294B"/>
          </a:solidFill>
          <a:ln w="12700">
            <a:solidFill>
              <a:srgbClr val="13294B"/>
            </a:solidFill>
            <a:prstDash val="solid"/>
          </a:ln>
        </p:spPr>
        <p:txBody>
          <a:bodyPr/>
          <a:p/>
        </p:txBody>
      </p:sp>
      <p:sp>
        <p:nvSpPr>
          <p:cNvPr id="13" name="Text 10"/>
          <p:cNvSpPr txBox="1"/>
          <p:nvPr/>
        </p:nvSpPr>
        <p:spPr>
          <a:xfrm>
            <a:off x="3557016" y="161848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B</a:t>
            </a:r>
            <a:endParaRPr lang="en-US" sz="2000" dirty="0"/>
          </a:p>
        </p:txBody>
      </p:sp>
      <p:sp>
        <p:nvSpPr>
          <p:cNvPr id="14" name="Text 11"/>
          <p:cNvSpPr txBox="1"/>
          <p:nvPr/>
        </p:nvSpPr>
        <p:spPr>
          <a:xfrm>
            <a:off x="3557016" y="2331720"/>
            <a:ext cx="2267712" cy="365760"/>
          </a:xfrm>
          <a:prstGeom prst="rect">
            <a:avLst/>
          </a:prstGeom>
          <a:noFill/>
          <a:ln/>
        </p:spPr>
        <p:txBody>
          <a:bodyPr wrap="square" lIns="0" tIns="0" rIns="0" bIns="0" rtlCol="0" anchor="ctr"/>
          <a:lstStyle/>
          <a:p>
            <a:pPr indent="0" marL="0">
              <a:buNone/>
            </a:pPr>
            <a:r>
              <a:rPr lang="en-US" sz="1700" b="1" dirty="0">
                <a:solidFill>
                  <a:srgbClr val="13294B"/>
                </a:solidFill>
                <a:latin typeface="Calibri" pitchFamily="34" charset="0"/>
                <a:ea typeface="Calibri" pitchFamily="34" charset="-122"/>
                <a:cs typeface="Calibri" pitchFamily="34" charset="-120"/>
              </a:rPr>
              <a:t>Descuento masivo</a:t>
            </a:r>
            <a:endParaRPr lang="en-US" sz="1700" dirty="0"/>
          </a:p>
        </p:txBody>
      </p:sp>
      <p:sp>
        <p:nvSpPr>
          <p:cNvPr id="15" name="Text 12"/>
          <p:cNvSpPr txBox="1"/>
          <p:nvPr/>
        </p:nvSpPr>
        <p:spPr>
          <a:xfrm>
            <a:off x="3557016" y="2743200"/>
            <a:ext cx="2267712" cy="1463040"/>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10 % de descuento por 12 meses a los 2.220 clientes activos mes a mes.</a:t>
            </a:r>
            <a:endParaRPr lang="en-US" sz="1400" dirty="0"/>
          </a:p>
        </p:txBody>
      </p:sp>
      <p:sp>
        <p:nvSpPr>
          <p:cNvPr id="16" name="Text 13"/>
          <p:cNvSpPr txBox="1"/>
          <p:nvPr/>
        </p:nvSpPr>
        <p:spPr>
          <a:xfrm>
            <a:off x="3557016" y="4251960"/>
            <a:ext cx="2267712" cy="960120"/>
          </a:xfrm>
          <a:prstGeom prst="rect">
            <a:avLst/>
          </a:prstGeom>
          <a:noFill/>
          <a:ln/>
        </p:spPr>
        <p:txBody>
          <a:bodyPr wrap="square" lIns="0" tIns="0" rIns="0" bIns="0" rtlCol="0" anchor="t"/>
          <a:lstStyle/>
          <a:p>
            <a:pPr indent="0" marL="0">
              <a:buNone/>
            </a:pPr>
            <a:r>
              <a:rPr lang="en-US" sz="1300" b="1" dirty="0">
                <a:solidFill>
                  <a:srgbClr val="5B6573"/>
                </a:solidFill>
                <a:latin typeface="Calibri" pitchFamily="34" charset="0"/>
                <a:ea typeface="Calibri" pitchFamily="34" charset="-122"/>
                <a:cs typeface="Calibri" pitchFamily="34" charset="-120"/>
              </a:rPr>
              <a:t>Riesgo: </a:t>
            </a:r>
            <a:pPr indent="0" marL="0">
              <a:buNone/>
            </a:pPr>
            <a:r>
              <a:rPr lang="en-US" sz="1300" dirty="0">
                <a:solidFill>
                  <a:srgbClr val="5B6573"/>
                </a:solidFill>
                <a:latin typeface="Calibri" pitchFamily="34" charset="0"/>
                <a:ea typeface="Calibri" pitchFamily="34" charset="-122"/>
                <a:cs typeface="Calibri" pitchFamily="34" charset="-120"/>
              </a:rPr>
              <a:t>Subsidia a quien no se iba a ir y presiona el ARPU.</a:t>
            </a:r>
            <a:endParaRPr lang="en-US" sz="1300" dirty="0"/>
          </a:p>
        </p:txBody>
      </p:sp>
      <p:sp>
        <p:nvSpPr>
          <p:cNvPr id="17" name="Shape 14"/>
          <p:cNvSpPr/>
          <p:nvPr/>
        </p:nvSpPr>
        <p:spPr>
          <a:xfrm>
            <a:off x="6163056" y="1417320"/>
            <a:ext cx="2670048" cy="3931920"/>
          </a:xfrm>
          <a:prstGeom prst="roundRect">
            <a:avLst>
              <a:gd name="adj" fmla="val 2740"/>
            </a:avLst>
          </a:prstGeom>
          <a:solidFill>
            <a:srgbClr val="EEF4FC"/>
          </a:solidFill>
          <a:ln w="12700">
            <a:solidFill>
              <a:srgbClr val="CDE2FB"/>
            </a:solidFill>
            <a:prstDash val="solid"/>
          </a:ln>
        </p:spPr>
        <p:txBody>
          <a:bodyPr/>
          <a:p/>
        </p:txBody>
      </p:sp>
      <p:sp>
        <p:nvSpPr>
          <p:cNvPr id="18" name="Shape 15"/>
          <p:cNvSpPr/>
          <p:nvPr/>
        </p:nvSpPr>
        <p:spPr>
          <a:xfrm>
            <a:off x="6364224" y="1618488"/>
            <a:ext cx="566928" cy="566928"/>
          </a:xfrm>
          <a:prstGeom prst="ellipse">
            <a:avLst/>
          </a:prstGeom>
          <a:solidFill>
            <a:srgbClr val="2A78D6"/>
          </a:solidFill>
          <a:ln w="12700">
            <a:solidFill>
              <a:srgbClr val="2A78D6"/>
            </a:solidFill>
            <a:prstDash val="solid"/>
          </a:ln>
        </p:spPr>
        <p:txBody>
          <a:bodyPr/>
          <a:p/>
        </p:txBody>
      </p:sp>
      <p:sp>
        <p:nvSpPr>
          <p:cNvPr id="19" name="Text 16"/>
          <p:cNvSpPr txBox="1"/>
          <p:nvPr/>
        </p:nvSpPr>
        <p:spPr>
          <a:xfrm>
            <a:off x="6364224" y="161848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C</a:t>
            </a:r>
            <a:endParaRPr lang="en-US" sz="2000" dirty="0"/>
          </a:p>
        </p:txBody>
      </p:sp>
      <p:sp>
        <p:nvSpPr>
          <p:cNvPr id="20" name="Text 17"/>
          <p:cNvSpPr txBox="1"/>
          <p:nvPr/>
        </p:nvSpPr>
        <p:spPr>
          <a:xfrm>
            <a:off x="6364224" y="2331720"/>
            <a:ext cx="2267712" cy="365760"/>
          </a:xfrm>
          <a:prstGeom prst="rect">
            <a:avLst/>
          </a:prstGeom>
          <a:noFill/>
          <a:ln/>
        </p:spPr>
        <p:txBody>
          <a:bodyPr wrap="square" lIns="0" tIns="0" rIns="0" bIns="0" rtlCol="0" anchor="ctr"/>
          <a:lstStyle/>
          <a:p>
            <a:pPr indent="0" marL="0">
              <a:buNone/>
            </a:pPr>
            <a:r>
              <a:rPr lang="en-US" sz="1700" b="1" dirty="0">
                <a:solidFill>
                  <a:srgbClr val="13294B"/>
                </a:solidFill>
                <a:latin typeface="Calibri" pitchFamily="34" charset="0"/>
                <a:ea typeface="Calibri" pitchFamily="34" charset="-122"/>
                <a:cs typeface="Calibri" pitchFamily="34" charset="-120"/>
              </a:rPr>
              <a:t>Programa focalizado</a:t>
            </a:r>
            <a:endParaRPr lang="en-US" sz="1700" dirty="0"/>
          </a:p>
        </p:txBody>
      </p:sp>
      <p:sp>
        <p:nvSpPr>
          <p:cNvPr id="21" name="Text 18"/>
          <p:cNvSpPr txBox="1"/>
          <p:nvPr/>
        </p:nvSpPr>
        <p:spPr>
          <a:xfrm>
            <a:off x="6364224" y="2743200"/>
            <a:ext cx="2267712" cy="1463040"/>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Clientes de riesgo alto, cada uno con su palanca: onboarding (L4), protección (L2), pago automático (L3) o migración anual (L1).</a:t>
            </a:r>
            <a:endParaRPr lang="en-US" sz="1400" dirty="0"/>
          </a:p>
        </p:txBody>
      </p:sp>
      <p:sp>
        <p:nvSpPr>
          <p:cNvPr id="22" name="Text 19"/>
          <p:cNvSpPr txBox="1"/>
          <p:nvPr/>
        </p:nvSpPr>
        <p:spPr>
          <a:xfrm>
            <a:off x="6364224" y="4251960"/>
            <a:ext cx="2267712" cy="960120"/>
          </a:xfrm>
          <a:prstGeom prst="rect">
            <a:avLst/>
          </a:prstGeom>
          <a:noFill/>
          <a:ln/>
        </p:spPr>
        <p:txBody>
          <a:bodyPr wrap="square" lIns="0" tIns="0" rIns="0" bIns="0" rtlCol="0" anchor="t"/>
          <a:lstStyle/>
          <a:p>
            <a:pPr indent="0" marL="0">
              <a:buNone/>
            </a:pPr>
            <a:r>
              <a:rPr lang="en-US" sz="1300" b="1" dirty="0">
                <a:solidFill>
                  <a:srgbClr val="5B6573"/>
                </a:solidFill>
                <a:latin typeface="Calibri" pitchFamily="34" charset="0"/>
                <a:ea typeface="Calibri" pitchFamily="34" charset="-122"/>
                <a:cs typeface="Calibri" pitchFamily="34" charset="-120"/>
              </a:rPr>
              <a:t>Riesgo: </a:t>
            </a:r>
            <a:pPr indent="0" marL="0">
              <a:buNone/>
            </a:pPr>
            <a:r>
              <a:rPr lang="en-US" sz="1300" dirty="0">
                <a:solidFill>
                  <a:srgbClr val="5B6573"/>
                </a:solidFill>
                <a:latin typeface="Calibri" pitchFamily="34" charset="0"/>
                <a:ea typeface="Calibri" pitchFamily="34" charset="-122"/>
                <a:cs typeface="Calibri" pitchFamily="34" charset="-120"/>
              </a:rPr>
              <a:t>Depende del score y de la aceptación: se valida con piloto.</a:t>
            </a:r>
            <a:endParaRPr lang="en-US" sz="1300" dirty="0"/>
          </a:p>
        </p:txBody>
      </p:sp>
      <p:sp>
        <p:nvSpPr>
          <p:cNvPr id="23" name="Shape 20"/>
          <p:cNvSpPr/>
          <p:nvPr/>
        </p:nvSpPr>
        <p:spPr>
          <a:xfrm>
            <a:off x="8970264" y="1417320"/>
            <a:ext cx="2670048" cy="3931920"/>
          </a:xfrm>
          <a:prstGeom prst="roundRect">
            <a:avLst>
              <a:gd name="adj" fmla="val 2740"/>
            </a:avLst>
          </a:prstGeom>
          <a:solidFill>
            <a:srgbClr val="F3F5F8"/>
          </a:solidFill>
          <a:ln w="12700">
            <a:solidFill>
              <a:srgbClr val="F3F5F8"/>
            </a:solidFill>
            <a:prstDash val="solid"/>
          </a:ln>
        </p:spPr>
        <p:txBody>
          <a:bodyPr/>
          <a:p/>
        </p:txBody>
      </p:sp>
      <p:sp>
        <p:nvSpPr>
          <p:cNvPr id="24" name="Shape 21"/>
          <p:cNvSpPr/>
          <p:nvPr/>
        </p:nvSpPr>
        <p:spPr>
          <a:xfrm>
            <a:off x="9171432" y="1618488"/>
            <a:ext cx="566928" cy="566928"/>
          </a:xfrm>
          <a:prstGeom prst="ellipse">
            <a:avLst/>
          </a:prstGeom>
          <a:solidFill>
            <a:srgbClr val="13294B"/>
          </a:solidFill>
          <a:ln w="12700">
            <a:solidFill>
              <a:srgbClr val="13294B"/>
            </a:solidFill>
            <a:prstDash val="solid"/>
          </a:ln>
        </p:spPr>
        <p:txBody>
          <a:bodyPr/>
          <a:p/>
        </p:txBody>
      </p:sp>
      <p:sp>
        <p:nvSpPr>
          <p:cNvPr id="25" name="Text 22"/>
          <p:cNvSpPr txBox="1"/>
          <p:nvPr/>
        </p:nvSpPr>
        <p:spPr>
          <a:xfrm>
            <a:off x="9171432" y="161848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D</a:t>
            </a:r>
            <a:endParaRPr lang="en-US" sz="2000" dirty="0"/>
          </a:p>
        </p:txBody>
      </p:sp>
      <p:sp>
        <p:nvSpPr>
          <p:cNvPr id="26" name="Text 23"/>
          <p:cNvSpPr txBox="1"/>
          <p:nvPr/>
        </p:nvSpPr>
        <p:spPr>
          <a:xfrm>
            <a:off x="9171432" y="2331720"/>
            <a:ext cx="2267712" cy="365760"/>
          </a:xfrm>
          <a:prstGeom prst="rect">
            <a:avLst/>
          </a:prstGeom>
          <a:noFill/>
          <a:ln/>
        </p:spPr>
        <p:txBody>
          <a:bodyPr wrap="square" lIns="0" tIns="0" rIns="0" bIns="0" rtlCol="0" anchor="ctr"/>
          <a:lstStyle/>
          <a:p>
            <a:pPr indent="0" marL="0">
              <a:buNone/>
            </a:pPr>
            <a:r>
              <a:rPr lang="en-US" sz="1700" b="1" dirty="0">
                <a:solidFill>
                  <a:srgbClr val="13294B"/>
                </a:solidFill>
                <a:latin typeface="Calibri" pitchFamily="34" charset="0"/>
                <a:ea typeface="Calibri" pitchFamily="34" charset="-122"/>
                <a:cs typeface="Calibri" pitchFamily="34" charset="-120"/>
              </a:rPr>
              <a:t>Revisar la fibra</a:t>
            </a:r>
            <a:endParaRPr lang="en-US" sz="1700" dirty="0"/>
          </a:p>
        </p:txBody>
      </p:sp>
      <p:sp>
        <p:nvSpPr>
          <p:cNvPr id="27" name="Text 24"/>
          <p:cNvSpPr txBox="1"/>
          <p:nvPr/>
        </p:nvSpPr>
        <p:spPr>
          <a:xfrm>
            <a:off x="9171432" y="2743200"/>
            <a:ext cx="2267712" cy="1463040"/>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Precio y calidad del servicio de fibra óptica, el segmento con mayor churn.</a:t>
            </a:r>
            <a:endParaRPr lang="en-US" sz="1400" dirty="0"/>
          </a:p>
        </p:txBody>
      </p:sp>
      <p:sp>
        <p:nvSpPr>
          <p:cNvPr id="28" name="Text 25"/>
          <p:cNvSpPr txBox="1"/>
          <p:nvPr/>
        </p:nvSpPr>
        <p:spPr>
          <a:xfrm>
            <a:off x="9171432" y="4251960"/>
            <a:ext cx="2267712" cy="960120"/>
          </a:xfrm>
          <a:prstGeom prst="rect">
            <a:avLst/>
          </a:prstGeom>
          <a:noFill/>
          <a:ln/>
        </p:spPr>
        <p:txBody>
          <a:bodyPr wrap="square" lIns="0" tIns="0" rIns="0" bIns="0" rtlCol="0" anchor="t"/>
          <a:lstStyle/>
          <a:p>
            <a:pPr indent="0" marL="0">
              <a:buNone/>
            </a:pPr>
            <a:r>
              <a:rPr lang="en-US" sz="1300" b="1" dirty="0">
                <a:solidFill>
                  <a:srgbClr val="5B6573"/>
                </a:solidFill>
                <a:latin typeface="Calibri" pitchFamily="34" charset="0"/>
                <a:ea typeface="Calibri" pitchFamily="34" charset="-122"/>
                <a:cs typeface="Calibri" pitchFamily="34" charset="-120"/>
              </a:rPr>
              <a:t>Riesgo: </a:t>
            </a:r>
            <a:pPr indent="0" marL="0">
              <a:buNone/>
            </a:pPr>
            <a:r>
              <a:rPr lang="en-US" sz="1300" dirty="0">
                <a:solidFill>
                  <a:srgbClr val="5B6573"/>
                </a:solidFill>
                <a:latin typeface="Calibri" pitchFamily="34" charset="0"/>
                <a:ea typeface="Calibri" pitchFamily="34" charset="-122"/>
                <a:cs typeface="Calibri" pitchFamily="34" charset="-120"/>
              </a:rPr>
              <a:t>Requiere datos de red y competencia que el corte no tiene.</a:t>
            </a:r>
            <a:endParaRPr lang="en-US" sz="1300" dirty="0"/>
          </a:p>
        </p:txBody>
      </p:sp>
      <p:sp>
        <p:nvSpPr>
          <p:cNvPr id="29" name="Shape 26"/>
          <p:cNvSpPr/>
          <p:nvPr/>
        </p:nvSpPr>
        <p:spPr>
          <a:xfrm>
            <a:off x="548640" y="5486400"/>
            <a:ext cx="11091672" cy="502920"/>
          </a:xfrm>
          <a:prstGeom prst="roundRect">
            <a:avLst>
              <a:gd name="adj" fmla="val 14545"/>
            </a:avLst>
          </a:prstGeom>
          <a:solidFill>
            <a:srgbClr val="FCEBE3"/>
          </a:solidFill>
          <a:ln w="12700">
            <a:solidFill>
              <a:srgbClr val="FCEBE3"/>
            </a:solidFill>
            <a:prstDash val="solid"/>
          </a:ln>
        </p:spPr>
        <p:txBody>
          <a:bodyPr/>
          <a:p/>
        </p:txBody>
      </p:sp>
      <p:sp>
        <p:nvSpPr>
          <p:cNvPr id="30" name="Text 27"/>
          <p:cNvSpPr txBox="1"/>
          <p:nvPr/>
        </p:nvSpPr>
        <p:spPr>
          <a:xfrm>
            <a:off x="777240" y="5486400"/>
            <a:ext cx="10698480" cy="502920"/>
          </a:xfrm>
          <a:prstGeom prst="rect">
            <a:avLst/>
          </a:prstGeom>
          <a:noFill/>
          <a:ln/>
        </p:spPr>
        <p:txBody>
          <a:bodyPr wrap="square" lIns="0" tIns="0" rIns="0" bIns="0" rtlCol="0" anchor="ctr"/>
          <a:lstStyle/>
          <a:p>
            <a:pPr indent="0" marL="0">
              <a:buNone/>
            </a:pPr>
            <a:r>
              <a:rPr lang="en-US" sz="1400" b="1" dirty="0">
                <a:solidFill>
                  <a:srgbClr val="13294B"/>
                </a:solidFill>
                <a:latin typeface="Calibri" pitchFamily="34" charset="0"/>
                <a:ea typeface="Calibri" pitchFamily="34" charset="-122"/>
                <a:cs typeface="Calibri" pitchFamily="34" charset="-120"/>
              </a:rPr>
              <a:t>Criterios de comparación: </a:t>
            </a:r>
            <a:pPr indent="0" marL="0">
              <a:buNone/>
            </a:pPr>
            <a:r>
              <a:rPr lang="en-US" sz="1400" dirty="0">
                <a:solidFill>
                  <a:srgbClr val="1B1F24"/>
                </a:solidFill>
                <a:latin typeface="Calibri" pitchFamily="34" charset="0"/>
                <a:ea typeface="Calibri" pitchFamily="34" charset="-122"/>
                <a:cs typeface="Calibri" pitchFamily="34" charset="-120"/>
              </a:rPr>
              <a:t>ROI estimado por escenario · MRR retenido · costo por cliente salvado · efecto sobre el ARPU · factibilidad operativa</a:t>
            </a:r>
            <a:endParaRPr lang="en-US" sz="1400" dirty="0"/>
          </a:p>
        </p:txBody>
      </p:sp>
      <p:sp>
        <p:nvSpPr>
          <p:cNvPr id="25" name="Slide Number Placeholder 0"/>
          <p:cNvSpPr>
            <a:spLocks noGrp="1"/>
          </p:cNvSpPr>
          <p:nvPr>
            <p:ph type="sldNum" sz="quarter" idx="4294967295"/>
          </p:nvPr>
        </p:nvSpPr>
        <p:spPr>
          <a:xfrm>
            <a:off x="11091672"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5B657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822960" y="1234440"/>
            <a:ext cx="2743200" cy="914400"/>
          </a:xfrm>
          <a:prstGeom prst="rect">
            <a:avLst/>
          </a:prstGeom>
          <a:noFill/>
          <a:ln/>
        </p:spPr>
        <p:txBody>
          <a:bodyPr wrap="square" lIns="0" tIns="0" rIns="0" bIns="0" rtlCol="0" anchor="ctr"/>
          <a:lstStyle/>
          <a:p>
            <a:pPr indent="0" marL="0">
              <a:buNone/>
            </a:pPr>
            <a:r>
              <a:rPr lang="en-US" sz="6000" b="1" dirty="0">
                <a:solidFill>
                  <a:srgbClr val="EB6834"/>
                </a:solidFill>
                <a:latin typeface="Cambria" pitchFamily="34" charset="0"/>
                <a:ea typeface="Cambria" pitchFamily="34" charset="-122"/>
                <a:cs typeface="Cambria" pitchFamily="34" charset="-120"/>
              </a:rPr>
              <a:t>02</a:t>
            </a:r>
            <a:endParaRPr lang="en-US" sz="6000" dirty="0"/>
          </a:p>
        </p:txBody>
      </p:sp>
      <p:sp>
        <p:nvSpPr>
          <p:cNvPr id="3" name="Text 0"/>
          <p:cNvSpPr/>
          <p:nvPr>
            <p:ph idx="100" type="title" hasCustomPrompt="1"/>
          </p:nvPr>
        </p:nvSpPr>
        <p:spPr>
          <a:xfrm>
            <a:off x="822960" y="2331720"/>
            <a:ext cx="10515600" cy="1005840"/>
          </a:xfrm>
          <a:prstGeom prst="rect">
            <a:avLst/>
          </a:prstGeom>
          <a:noFill/>
          <a:ln/>
        </p:spPr>
        <p:txBody>
          <a:bodyPr wrap="square" lIns="0" tIns="0" rIns="0" bIns="0" rtlCol="0" anchor="t"/>
          <a:lstStyle/>
          <a:p>
            <a:pPr algn="l" indent="0" marL="0">
              <a:buNone/>
            </a:pPr>
            <a:r>
              <a:rPr lang="en-US" sz="4000" b="1" dirty="0">
                <a:solidFill>
                  <a:srgbClr val="FFFFFF"/>
                </a:solidFill>
                <a:latin typeface="Cambria" pitchFamily="34" charset="0"/>
                <a:ea typeface="Cambria" pitchFamily="34" charset="-122"/>
                <a:cs typeface="Cambria" pitchFamily="34" charset="-120"/>
              </a:rPr>
              <a:t>Sistema de métricas y datos</a:t>
            </a:r>
            <a:endParaRPr lang="en-US" sz="4000" dirty="0"/>
          </a:p>
        </p:txBody>
      </p:sp>
      <p:sp>
        <p:nvSpPr>
          <p:cNvPr id="4" name="Text 0"/>
          <p:cNvSpPr/>
          <p:nvPr>
            <p:ph idx="101" type="body" hasCustomPrompt="1"/>
          </p:nvPr>
        </p:nvSpPr>
        <p:spPr>
          <a:xfrm>
            <a:off x="822960" y="3429000"/>
            <a:ext cx="10515600" cy="548640"/>
          </a:xfrm>
          <a:prstGeom prst="rect">
            <a:avLst/>
          </a:prstGeom>
          <a:noFill/>
          <a:ln/>
        </p:spPr>
        <p:txBody>
          <a:bodyPr wrap="square" lIns="0" tIns="0" rIns="0" bIns="0" rtlCol="0" anchor="t"/>
          <a:lstStyle/>
          <a:p>
            <a:pPr algn="l" indent="0" marL="0">
              <a:buNone/>
            </a:pPr>
            <a:r>
              <a:rPr lang="en-US" sz="2000" dirty="0">
                <a:solidFill>
                  <a:srgbClr val="C3D2E6"/>
                </a:solidFill>
                <a:latin typeface="Calibri" pitchFamily="34" charset="0"/>
                <a:ea typeface="Calibri" pitchFamily="34" charset="-122"/>
                <a:cs typeface="Calibri" pitchFamily="34" charset="-120"/>
              </a:rPr>
              <a:t>Presenta: Claudia Rocío Rodríguez Ortiz</a:t>
            </a:r>
            <a:endParaRPr lang="en-US" sz="2000" dirty="0"/>
          </a:p>
        </p:txBody>
      </p:sp>
      <p:sp>
        <p:nvSpPr>
          <p:cNvPr id="5" name="Text 3"/>
          <p:cNvSpPr txBox="1"/>
          <p:nvPr/>
        </p:nvSpPr>
        <p:spPr>
          <a:xfrm>
            <a:off x="822960" y="4343400"/>
            <a:ext cx="10515600" cy="45720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North Star · Árbol de métricas · KPIs · Diccionario · Tabla analítica · Calidad de datos · Modelo estrella</a:t>
            </a:r>
            <a:endParaRPr 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FA3B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164592"/>
            <a:ext cx="11091672" cy="256032"/>
          </a:xfrm>
          <a:prstGeom prst="rect">
            <a:avLst/>
          </a:prstGeom>
          <a:noFill/>
          <a:ln/>
        </p:spPr>
        <p:txBody>
          <a:bodyPr wrap="square" lIns="0" tIns="0" rIns="0" bIns="0" rtlCol="0" anchor="ctr"/>
          <a:lstStyle/>
          <a:p>
            <a:pPr indent="0" marL="0">
              <a:buNone/>
            </a:pPr>
            <a:r>
              <a:rPr lang="en-US" sz="1100" b="1" spc="50" kern="0" dirty="0">
                <a:solidFill>
                  <a:srgbClr val="2A78D6"/>
                </a:solidFill>
                <a:latin typeface="Calibri" pitchFamily="34" charset="0"/>
                <a:ea typeface="Calibri" pitchFamily="34" charset="-122"/>
                <a:cs typeface="Calibri" pitchFamily="34" charset="-120"/>
              </a:rPr>
              <a:t>02 · SISTEMA DE MÉTRICAS Y DATOS</a:t>
            </a:r>
            <a:pPr indent="0" marL="0">
              <a:buNone/>
            </a:pPr>
            <a:endParaRPr lang="en-US" sz="1100" dirty="0"/>
          </a:p>
        </p:txBody>
      </p:sp>
      <p:sp>
        <p:nvSpPr>
          <p:cNvPr id="3" name="Text 0"/>
          <p:cNvSpPr/>
          <p:nvPr>
            <p:ph idx="100" type="title" hasCustomPrompt="1"/>
          </p:nvPr>
        </p:nvSpPr>
        <p:spPr>
          <a:xfrm>
            <a:off x="548640" y="457200"/>
            <a:ext cx="11091672" cy="841248"/>
          </a:xfrm>
          <a:prstGeom prst="rect">
            <a:avLst/>
          </a:prstGeom>
          <a:noFill/>
          <a:ln/>
        </p:spPr>
        <p:txBody>
          <a:bodyPr wrap="square" lIns="0" tIns="0" rIns="0" bIns="0" rtlCol="0" anchor="t"/>
          <a:lstStyle/>
          <a:p>
            <a:pPr algn="l" indent="0" marL="0">
              <a:buNone/>
            </a:pPr>
            <a:r>
              <a:rPr lang="en-US" sz="2400" b="1" dirty="0">
                <a:solidFill>
                  <a:srgbClr val="13294B"/>
                </a:solidFill>
                <a:latin typeface="Cambria" pitchFamily="34" charset="0"/>
                <a:ea typeface="Cambria" pitchFamily="34" charset="-122"/>
                <a:cs typeface="Cambria" pitchFamily="34" charset="-120"/>
              </a:rPr>
              <a:t>North Star: % MRR retenido, hoy en 69,5 % frente a una meta de 75 %</a:t>
            </a:r>
            <a:endParaRPr lang="en-US" sz="2400" dirty="0"/>
          </a:p>
        </p:txBody>
      </p:sp>
      <p:sp>
        <p:nvSpPr>
          <p:cNvPr id="5" name="Shape 2"/>
          <p:cNvSpPr/>
          <p:nvPr/>
        </p:nvSpPr>
        <p:spPr>
          <a:xfrm>
            <a:off x="548640" y="1417320"/>
            <a:ext cx="5303520" cy="4526280"/>
          </a:xfrm>
          <a:prstGeom prst="roundRect">
            <a:avLst>
              <a:gd name="adj" fmla="val 1616"/>
            </a:avLst>
          </a:prstGeom>
          <a:solidFill>
            <a:srgbClr val="F3F5F8"/>
          </a:solidFill>
          <a:ln w="12700">
            <a:solidFill>
              <a:srgbClr val="F3F5F8"/>
            </a:solidFill>
            <a:prstDash val="solid"/>
          </a:ln>
        </p:spPr>
        <p:txBody>
          <a:bodyPr/>
          <a:p/>
        </p:txBody>
      </p:sp>
      <p:sp>
        <p:nvSpPr>
          <p:cNvPr id="6" name="Text 3"/>
          <p:cNvSpPr txBox="1"/>
          <p:nvPr/>
        </p:nvSpPr>
        <p:spPr>
          <a:xfrm>
            <a:off x="822960" y="1627632"/>
            <a:ext cx="4754880" cy="274320"/>
          </a:xfrm>
          <a:prstGeom prst="rect">
            <a:avLst/>
          </a:prstGeom>
          <a:noFill/>
          <a:ln/>
        </p:spPr>
        <p:txBody>
          <a:bodyPr wrap="square" lIns="0" tIns="0" rIns="0" bIns="0" rtlCol="0" anchor="ctr"/>
          <a:lstStyle/>
          <a:p>
            <a:pPr indent="0" marL="0">
              <a:buNone/>
            </a:pPr>
            <a:r>
              <a:rPr lang="en-US" sz="1200" b="1" spc="150" kern="0" dirty="0">
                <a:solidFill>
                  <a:srgbClr val="2A78D6"/>
                </a:solidFill>
                <a:latin typeface="Calibri" pitchFamily="34" charset="0"/>
                <a:ea typeface="Calibri" pitchFamily="34" charset="-122"/>
                <a:cs typeface="Calibri" pitchFamily="34" charset="-120"/>
              </a:rPr>
              <a:t>% MRR RETENIDO</a:t>
            </a:r>
            <a:endParaRPr lang="en-US" sz="1200" dirty="0"/>
          </a:p>
        </p:txBody>
      </p:sp>
      <p:sp>
        <p:nvSpPr>
          <p:cNvPr id="7" name="Text 4"/>
          <p:cNvSpPr txBox="1"/>
          <p:nvPr/>
        </p:nvSpPr>
        <p:spPr>
          <a:xfrm>
            <a:off x="822960" y="1920240"/>
            <a:ext cx="4754880" cy="1005840"/>
          </a:xfrm>
          <a:prstGeom prst="rect">
            <a:avLst/>
          </a:prstGeom>
          <a:noFill/>
          <a:ln/>
        </p:spPr>
        <p:txBody>
          <a:bodyPr wrap="square" lIns="0" tIns="0" rIns="0" bIns="0" rtlCol="0" anchor="ctr"/>
          <a:lstStyle/>
          <a:p>
            <a:pPr indent="0" marL="0">
              <a:buNone/>
            </a:pPr>
            <a:r>
              <a:rPr lang="en-US" sz="6000" b="1" dirty="0">
                <a:solidFill>
                  <a:srgbClr val="B07400"/>
                </a:solidFill>
                <a:latin typeface="Cambria" pitchFamily="34" charset="0"/>
                <a:ea typeface="Cambria" pitchFamily="34" charset="-122"/>
                <a:cs typeface="Cambria" pitchFamily="34" charset="-120"/>
              </a:rPr>
              <a:t>69,5 %</a:t>
            </a:r>
            <a:endParaRPr lang="en-US" sz="6000" dirty="0"/>
          </a:p>
        </p:txBody>
      </p:sp>
      <p:sp>
        <p:nvSpPr>
          <p:cNvPr id="8" name="Text 5"/>
          <p:cNvSpPr txBox="1"/>
          <p:nvPr/>
        </p:nvSpPr>
        <p:spPr>
          <a:xfrm>
            <a:off x="822960" y="2926080"/>
            <a:ext cx="4754880" cy="292608"/>
          </a:xfrm>
          <a:prstGeom prst="rect">
            <a:avLst/>
          </a:prstGeom>
          <a:noFill/>
          <a:ln/>
        </p:spPr>
        <p:txBody>
          <a:bodyPr wrap="square" lIns="0" tIns="0" rIns="0" bIns="0" rtlCol="0" anchor="ctr"/>
          <a:lstStyle/>
          <a:p>
            <a:pPr indent="0" marL="0">
              <a:buNone/>
            </a:pPr>
            <a:r>
              <a:rPr lang="en-US" sz="1400" dirty="0">
                <a:solidFill>
                  <a:srgbClr val="1B1F24"/>
                </a:solidFill>
                <a:latin typeface="Calibri" pitchFamily="34" charset="0"/>
                <a:ea typeface="Calibri" pitchFamily="34" charset="-122"/>
                <a:cs typeface="Calibri" pitchFamily="34" charset="-120"/>
              </a:rPr>
              <a:t>Meta ≥ 75 % · brecha de −5,5 pp · semáforo amarillo</a:t>
            </a:r>
            <a:endParaRPr lang="en-US" sz="1400" dirty="0"/>
          </a:p>
        </p:txBody>
      </p:sp>
      <p:sp>
        <p:nvSpPr>
          <p:cNvPr id="9" name="Shape 6"/>
          <p:cNvSpPr/>
          <p:nvPr/>
        </p:nvSpPr>
        <p:spPr>
          <a:xfrm>
            <a:off x="822960" y="3429000"/>
            <a:ext cx="4754880" cy="292608"/>
          </a:xfrm>
          <a:prstGeom prst="rect">
            <a:avLst/>
          </a:prstGeom>
          <a:solidFill>
            <a:srgbClr val="E3E8EF"/>
          </a:solidFill>
          <a:ln w="12700">
            <a:solidFill>
              <a:srgbClr val="E3E8EF"/>
            </a:solidFill>
            <a:prstDash val="solid"/>
          </a:ln>
        </p:spPr>
        <p:txBody>
          <a:bodyPr/>
          <a:p/>
        </p:txBody>
      </p:sp>
      <p:sp>
        <p:nvSpPr>
          <p:cNvPr id="10" name="Shape 7"/>
          <p:cNvSpPr/>
          <p:nvPr/>
        </p:nvSpPr>
        <p:spPr>
          <a:xfrm>
            <a:off x="822960" y="3429000"/>
            <a:ext cx="3304482" cy="292608"/>
          </a:xfrm>
          <a:prstGeom prst="rect">
            <a:avLst/>
          </a:prstGeom>
          <a:solidFill>
            <a:srgbClr val="2A78D6"/>
          </a:solidFill>
          <a:ln w="12700">
            <a:solidFill>
              <a:srgbClr val="2A78D6"/>
            </a:solidFill>
            <a:prstDash val="solid"/>
          </a:ln>
        </p:spPr>
        <p:txBody>
          <a:bodyPr/>
          <a:p/>
        </p:txBody>
      </p:sp>
      <p:sp>
        <p:nvSpPr>
          <p:cNvPr id="11" name="Shape 8"/>
          <p:cNvSpPr/>
          <p:nvPr/>
        </p:nvSpPr>
        <p:spPr>
          <a:xfrm>
            <a:off x="4389120" y="3319272"/>
            <a:ext cx="0" cy="512064"/>
          </a:xfrm>
          <a:prstGeom prst="line">
            <a:avLst/>
          </a:prstGeom>
          <a:noFill/>
          <a:ln w="28575">
            <a:solidFill>
              <a:srgbClr val="13294B"/>
            </a:solidFill>
            <a:prstDash val="solid"/>
          </a:ln>
        </p:spPr>
        <p:txBody>
          <a:bodyPr/>
          <a:p/>
        </p:txBody>
      </p:sp>
      <p:sp>
        <p:nvSpPr>
          <p:cNvPr id="12" name="Text 9"/>
          <p:cNvSpPr txBox="1"/>
          <p:nvPr/>
        </p:nvSpPr>
        <p:spPr>
          <a:xfrm>
            <a:off x="3840480" y="3831336"/>
            <a:ext cx="1097280" cy="256032"/>
          </a:xfrm>
          <a:prstGeom prst="rect">
            <a:avLst/>
          </a:prstGeom>
          <a:noFill/>
          <a:ln/>
        </p:spPr>
        <p:txBody>
          <a:bodyPr wrap="square" lIns="0" tIns="0" rIns="0" bIns="0" rtlCol="0" anchor="ctr"/>
          <a:lstStyle/>
          <a:p>
            <a:pPr algn="ctr" indent="0" marL="0">
              <a:buNone/>
            </a:pPr>
            <a:r>
              <a:rPr lang="en-US" sz="1100" b="1" dirty="0">
                <a:solidFill>
                  <a:srgbClr val="13294B"/>
                </a:solidFill>
                <a:latin typeface="Calibri" pitchFamily="34" charset="0"/>
                <a:ea typeface="Calibri" pitchFamily="34" charset="-122"/>
                <a:cs typeface="Calibri" pitchFamily="34" charset="-120"/>
              </a:rPr>
              <a:t>meta 75 %</a:t>
            </a:r>
            <a:endParaRPr lang="en-US" sz="1100" dirty="0"/>
          </a:p>
        </p:txBody>
      </p:sp>
      <p:sp>
        <p:nvSpPr>
          <p:cNvPr id="13" name="Shape 10"/>
          <p:cNvSpPr/>
          <p:nvPr/>
        </p:nvSpPr>
        <p:spPr>
          <a:xfrm>
            <a:off x="822960" y="4251960"/>
            <a:ext cx="4754880" cy="1463040"/>
          </a:xfrm>
          <a:prstGeom prst="roundRect">
            <a:avLst>
              <a:gd name="adj" fmla="val 5000"/>
            </a:avLst>
          </a:prstGeom>
          <a:solidFill>
            <a:srgbClr val="FFFFFF"/>
          </a:solidFill>
          <a:ln w="12700">
            <a:solidFill>
              <a:srgbClr val="DDE3EA"/>
            </a:solidFill>
            <a:prstDash val="solid"/>
          </a:ln>
        </p:spPr>
        <p:txBody>
          <a:bodyPr/>
          <a:p/>
        </p:txBody>
      </p:sp>
      <p:sp>
        <p:nvSpPr>
          <p:cNvPr id="14" name="Text 11"/>
          <p:cNvSpPr txBox="1"/>
          <p:nvPr/>
        </p:nvSpPr>
        <p:spPr>
          <a:xfrm>
            <a:off x="1005840" y="4370832"/>
            <a:ext cx="4389120" cy="1280160"/>
          </a:xfrm>
          <a:prstGeom prst="rect">
            <a:avLst/>
          </a:prstGeom>
          <a:noFill/>
          <a:ln/>
        </p:spPr>
        <p:txBody>
          <a:bodyPr wrap="square" lIns="0" tIns="0" rIns="0" bIns="0" rtlCol="0" anchor="t"/>
          <a:lstStyle/>
          <a:p>
            <a:pPr indent="0" marL="0">
              <a:spcAft>
                <a:spcPts val="400"/>
              </a:spcAft>
              <a:buNone/>
            </a:pPr>
            <a:r>
              <a:rPr lang="en-US" sz="1400" b="1" dirty="0">
                <a:solidFill>
                  <a:srgbClr val="13294B"/>
                </a:solidFill>
                <a:latin typeface="Calibri" pitchFamily="34" charset="0"/>
                <a:ea typeface="Calibri" pitchFamily="34" charset="-122"/>
                <a:cs typeface="Calibri" pitchFamily="34" charset="-120"/>
              </a:rPr>
              <a:t>Fórmula</a:t>
            </a:r>
            <a:endParaRPr lang="en-US" sz="1400" dirty="0"/>
          </a:p>
          <a:p>
            <a:pPr indent="0" marL="0">
              <a:spcAft>
                <a:spcPts val="400"/>
              </a:spcAft>
              <a:buNone/>
            </a:pPr>
            <a:r>
              <a:rPr lang="en-US" sz="1400" dirty="0">
                <a:solidFill>
                  <a:srgbClr val="1B1F24"/>
                </a:solidFill>
                <a:latin typeface="Calibri" pitchFamily="34" charset="0"/>
                <a:ea typeface="Calibri" pitchFamily="34" charset="-122"/>
                <a:cs typeface="Calibri" pitchFamily="34" charset="-120"/>
              </a:rPr>
              <a:t>1 − MRR de quienes abandonan / MRR total del período</a:t>
            </a:r>
            <a:endParaRPr lang="en-US" sz="1400" dirty="0"/>
          </a:p>
          <a:p>
            <a:pPr indent="0" marL="0">
              <a:spcAft>
                <a:spcPts val="400"/>
              </a:spcAft>
              <a:buNone/>
            </a:pPr>
            <a:r>
              <a:rPr lang="en-US" sz="1400" dirty="0">
                <a:solidFill>
                  <a:srgbClr val="5B6573"/>
                </a:solidFill>
                <a:latin typeface="Calibri" pitchFamily="34" charset="0"/>
                <a:ea typeface="Calibri" pitchFamily="34" charset="-122"/>
                <a:cs typeface="Calibri" pitchFamily="34" charset="-120"/>
              </a:rPr>
              <a:t>= 1 − USD 139 mil / USD 456 mil</a:t>
            </a:r>
            <a:endParaRPr lang="en-US" sz="1400" dirty="0"/>
          </a:p>
        </p:txBody>
      </p:sp>
      <p:sp>
        <p:nvSpPr>
          <p:cNvPr id="15" name="Text 12"/>
          <p:cNvSpPr txBox="1"/>
          <p:nvPr/>
        </p:nvSpPr>
        <p:spPr>
          <a:xfrm>
            <a:off x="6217920" y="1463040"/>
            <a:ext cx="5394960" cy="310896"/>
          </a:xfrm>
          <a:prstGeom prst="rect">
            <a:avLst/>
          </a:prstGeom>
          <a:noFill/>
          <a:ln/>
        </p:spPr>
        <p:txBody>
          <a:bodyPr wrap="square" lIns="0" tIns="0" rIns="0" bIns="0" rtlCol="0" anchor="t"/>
          <a:lstStyle/>
          <a:p>
            <a:pPr indent="0" marL="0">
              <a:buNone/>
            </a:pPr>
            <a:r>
              <a:rPr lang="en-US" sz="1500" b="1" dirty="0">
                <a:solidFill>
                  <a:srgbClr val="13294B"/>
                </a:solidFill>
                <a:latin typeface="Calibri" pitchFamily="34" charset="0"/>
                <a:ea typeface="Calibri" pitchFamily="34" charset="-122"/>
                <a:cs typeface="Calibri" pitchFamily="34" charset="-120"/>
              </a:rPr>
              <a:t>Por qué esta métrica</a:t>
            </a:r>
            <a:endParaRPr lang="en-US" sz="1500" dirty="0"/>
          </a:p>
        </p:txBody>
      </p:sp>
      <p:sp>
        <p:nvSpPr>
          <p:cNvPr id="16" name="Shape 13"/>
          <p:cNvSpPr/>
          <p:nvPr/>
        </p:nvSpPr>
        <p:spPr>
          <a:xfrm>
            <a:off x="6217920" y="1874520"/>
            <a:ext cx="457200" cy="457200"/>
          </a:xfrm>
          <a:prstGeom prst="ellipse">
            <a:avLst/>
          </a:prstGeom>
          <a:solidFill>
            <a:srgbClr val="2A78D6"/>
          </a:solidFill>
          <a:ln w="12700">
            <a:solidFill>
              <a:srgbClr val="2A78D6"/>
            </a:solidFill>
            <a:prstDash val="solid"/>
          </a:ln>
        </p:spPr>
        <p:txBody>
          <a:bodyPr/>
          <a:p/>
        </p:txBody>
      </p:sp>
      <p:sp>
        <p:nvSpPr>
          <p:cNvPr id="17" name="Text 14"/>
          <p:cNvSpPr txBox="1"/>
          <p:nvPr/>
        </p:nvSpPr>
        <p:spPr>
          <a:xfrm>
            <a:off x="6217920" y="18745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6812280" y="1828800"/>
            <a:ext cx="4800600" cy="822960"/>
          </a:xfrm>
          <a:prstGeom prst="rect">
            <a:avLst/>
          </a:prstGeom>
          <a:noFill/>
          <a:ln/>
        </p:spPr>
        <p:txBody>
          <a:bodyPr wrap="square" lIns="0" tIns="0" rIns="0" bIns="0" rtlCol="0" anchor="t"/>
          <a:lstStyle/>
          <a:p>
            <a:pPr indent="0" marL="0">
              <a:buNone/>
            </a:pPr>
            <a:r>
              <a:rPr lang="en-US" sz="1400" b="1" dirty="0">
                <a:solidFill>
                  <a:srgbClr val="13294B"/>
                </a:solidFill>
                <a:latin typeface="Calibri" pitchFamily="34" charset="0"/>
                <a:ea typeface="Calibri" pitchFamily="34" charset="-122"/>
                <a:cs typeface="Calibri" pitchFamily="34" charset="-120"/>
              </a:rPr>
              <a:t>Representa valor</a:t>
            </a:r>
            <a:endParaRPr lang="en-US" sz="1400" dirty="0"/>
          </a:p>
          <a:p>
            <a:pPr indent="0" marL="0">
              <a:buNone/>
            </a:pPr>
            <a:r>
              <a:rPr lang="en-US" sz="1400" dirty="0">
                <a:solidFill>
                  <a:srgbClr val="1B1F24"/>
                </a:solidFill>
                <a:latin typeface="Calibri" pitchFamily="34" charset="0"/>
                <a:ea typeface="Calibri" pitchFamily="34" charset="-122"/>
                <a:cs typeface="Calibri" pitchFamily="34" charset="-120"/>
              </a:rPr>
              <a:t>Un cliente se queda si el servicio le sigue aportando, y la métrica pondera por lo que paga.</a:t>
            </a:r>
            <a:endParaRPr lang="en-US" sz="1400" dirty="0"/>
          </a:p>
        </p:txBody>
      </p:sp>
      <p:sp>
        <p:nvSpPr>
          <p:cNvPr id="19" name="Shape 16"/>
          <p:cNvSpPr/>
          <p:nvPr/>
        </p:nvSpPr>
        <p:spPr>
          <a:xfrm>
            <a:off x="6217920" y="2743200"/>
            <a:ext cx="457200" cy="457200"/>
          </a:xfrm>
          <a:prstGeom prst="ellipse">
            <a:avLst/>
          </a:prstGeom>
          <a:solidFill>
            <a:srgbClr val="2A78D6"/>
          </a:solidFill>
          <a:ln w="12700">
            <a:solidFill>
              <a:srgbClr val="2A78D6"/>
            </a:solidFill>
            <a:prstDash val="solid"/>
          </a:ln>
        </p:spPr>
        <p:txBody>
          <a:bodyPr/>
          <a:p/>
        </p:txBody>
      </p:sp>
      <p:sp>
        <p:nvSpPr>
          <p:cNvPr id="20" name="Text 17"/>
          <p:cNvSpPr txBox="1"/>
          <p:nvPr/>
        </p:nvSpPr>
        <p:spPr>
          <a:xfrm>
            <a:off x="6217920" y="2743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1" name="Text 18"/>
          <p:cNvSpPr txBox="1"/>
          <p:nvPr/>
        </p:nvSpPr>
        <p:spPr>
          <a:xfrm>
            <a:off x="6812280" y="2697480"/>
            <a:ext cx="4800600" cy="822960"/>
          </a:xfrm>
          <a:prstGeom prst="rect">
            <a:avLst/>
          </a:prstGeom>
          <a:noFill/>
          <a:ln/>
        </p:spPr>
        <p:txBody>
          <a:bodyPr wrap="square" lIns="0" tIns="0" rIns="0" bIns="0" rtlCol="0" anchor="t"/>
          <a:lstStyle/>
          <a:p>
            <a:pPr indent="0" marL="0">
              <a:buNone/>
            </a:pPr>
            <a:r>
              <a:rPr lang="en-US" sz="1400" b="1" dirty="0">
                <a:solidFill>
                  <a:srgbClr val="13294B"/>
                </a:solidFill>
                <a:latin typeface="Calibri" pitchFamily="34" charset="0"/>
                <a:ea typeface="Calibri" pitchFamily="34" charset="-122"/>
                <a:cs typeface="Calibri" pitchFamily="34" charset="-120"/>
              </a:rPr>
              <a:t>Se descompone en drivers</a:t>
            </a:r>
            <a:endParaRPr lang="en-US" sz="1400" dirty="0"/>
          </a:p>
          <a:p>
            <a:pPr indent="0" marL="0">
              <a:buNone/>
            </a:pPr>
            <a:r>
              <a:rPr lang="en-US" sz="1400" dirty="0">
                <a:solidFill>
                  <a:srgbClr val="1B1F24"/>
                </a:solidFill>
                <a:latin typeface="Calibri" pitchFamily="34" charset="0"/>
                <a:ea typeface="Calibri" pitchFamily="34" charset="-122"/>
                <a:cs typeface="Calibri" pitchFamily="34" charset="-120"/>
              </a:rPr>
              <a:t>Contrato, ciclo de vida, servicio, protección y pago: cada uno tiene palanca y dueño.</a:t>
            </a:r>
            <a:endParaRPr lang="en-US" sz="1400" dirty="0"/>
          </a:p>
        </p:txBody>
      </p:sp>
      <p:sp>
        <p:nvSpPr>
          <p:cNvPr id="22" name="Shape 19"/>
          <p:cNvSpPr/>
          <p:nvPr/>
        </p:nvSpPr>
        <p:spPr>
          <a:xfrm>
            <a:off x="6217920" y="3611880"/>
            <a:ext cx="457200" cy="457200"/>
          </a:xfrm>
          <a:prstGeom prst="ellipse">
            <a:avLst/>
          </a:prstGeom>
          <a:solidFill>
            <a:srgbClr val="2A78D6"/>
          </a:solidFill>
          <a:ln w="12700">
            <a:solidFill>
              <a:srgbClr val="2A78D6"/>
            </a:solidFill>
            <a:prstDash val="solid"/>
          </a:ln>
        </p:spPr>
        <p:txBody>
          <a:bodyPr/>
          <a:p/>
        </p:txBody>
      </p:sp>
      <p:sp>
        <p:nvSpPr>
          <p:cNvPr id="23" name="Text 20"/>
          <p:cNvSpPr txBox="1"/>
          <p:nvPr/>
        </p:nvSpPr>
        <p:spPr>
          <a:xfrm>
            <a:off x="6217920" y="36118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4" name="Text 21"/>
          <p:cNvSpPr txBox="1"/>
          <p:nvPr/>
        </p:nvSpPr>
        <p:spPr>
          <a:xfrm>
            <a:off x="6812280" y="3566160"/>
            <a:ext cx="4800600" cy="822960"/>
          </a:xfrm>
          <a:prstGeom prst="rect">
            <a:avLst/>
          </a:prstGeom>
          <a:noFill/>
          <a:ln/>
        </p:spPr>
        <p:txBody>
          <a:bodyPr wrap="square" lIns="0" tIns="0" rIns="0" bIns="0" rtlCol="0" anchor="t"/>
          <a:lstStyle/>
          <a:p>
            <a:pPr indent="0" marL="0">
              <a:buNone/>
            </a:pPr>
            <a:r>
              <a:rPr lang="en-US" sz="1400" b="1" dirty="0">
                <a:solidFill>
                  <a:srgbClr val="13294B"/>
                </a:solidFill>
                <a:latin typeface="Calibri" pitchFamily="34" charset="0"/>
                <a:ea typeface="Calibri" pitchFamily="34" charset="-122"/>
                <a:cs typeface="Calibri" pitchFamily="34" charset="-120"/>
              </a:rPr>
              <a:t>La entiende toda la organización</a:t>
            </a:r>
            <a:endParaRPr lang="en-US" sz="1400" dirty="0"/>
          </a:p>
          <a:p>
            <a:pPr indent="0" marL="0">
              <a:buNone/>
            </a:pPr>
            <a:r>
              <a:rPr lang="en-US" sz="1400" dirty="0">
                <a:solidFill>
                  <a:srgbClr val="1B1F24"/>
                </a:solidFill>
                <a:latin typeface="Calibri" pitchFamily="34" charset="0"/>
                <a:ea typeface="Calibri" pitchFamily="34" charset="-122"/>
                <a:cs typeface="Calibri" pitchFamily="34" charset="-120"/>
              </a:rPr>
              <a:t>Del Comité Directivo a Customer Success, con la misma definición.</a:t>
            </a:r>
            <a:endParaRPr lang="en-US" sz="1400" dirty="0"/>
          </a:p>
        </p:txBody>
      </p:sp>
      <p:sp>
        <p:nvSpPr>
          <p:cNvPr id="25" name="Shape 22"/>
          <p:cNvSpPr/>
          <p:nvPr/>
        </p:nvSpPr>
        <p:spPr>
          <a:xfrm>
            <a:off x="6217920" y="4572000"/>
            <a:ext cx="5422392" cy="1371600"/>
          </a:xfrm>
          <a:prstGeom prst="roundRect">
            <a:avLst>
              <a:gd name="adj" fmla="val 5333"/>
            </a:avLst>
          </a:prstGeom>
          <a:solidFill>
            <a:srgbClr val="FCEBE3"/>
          </a:solidFill>
          <a:ln w="12700">
            <a:solidFill>
              <a:srgbClr val="FCEBE3"/>
            </a:solidFill>
            <a:prstDash val="solid"/>
          </a:ln>
        </p:spPr>
        <p:txBody>
          <a:bodyPr/>
          <a:p/>
        </p:txBody>
      </p:sp>
      <p:sp>
        <p:nvSpPr>
          <p:cNvPr id="26" name="Text 23"/>
          <p:cNvSpPr txBox="1"/>
          <p:nvPr/>
        </p:nvSpPr>
        <p:spPr>
          <a:xfrm>
            <a:off x="6446520" y="4681728"/>
            <a:ext cx="5029200" cy="310896"/>
          </a:xfrm>
          <a:prstGeom prst="rect">
            <a:avLst/>
          </a:prstGeom>
          <a:noFill/>
          <a:ln/>
        </p:spPr>
        <p:txBody>
          <a:bodyPr wrap="square" lIns="0" tIns="0" rIns="0" bIns="0" rtlCol="0" anchor="t"/>
          <a:lstStyle/>
          <a:p>
            <a:pPr indent="0" marL="0">
              <a:buNone/>
            </a:pPr>
            <a:r>
              <a:rPr lang="en-US" sz="1400" b="1" dirty="0">
                <a:solidFill>
                  <a:srgbClr val="13294B"/>
                </a:solidFill>
                <a:latin typeface="Calibri" pitchFamily="34" charset="0"/>
                <a:ea typeface="Calibri" pitchFamily="34" charset="-122"/>
                <a:cs typeface="Calibri" pitchFamily="34" charset="-120"/>
              </a:rPr>
              <a:t>Alternativas descartadas</a:t>
            </a:r>
            <a:endParaRPr lang="en-US" sz="1400" dirty="0"/>
          </a:p>
        </p:txBody>
      </p:sp>
      <p:sp>
        <p:nvSpPr>
          <p:cNvPr id="27" name="Text 24"/>
          <p:cNvSpPr txBox="1"/>
          <p:nvPr/>
        </p:nvSpPr>
        <p:spPr>
          <a:xfrm>
            <a:off x="6446520" y="5001768"/>
            <a:ext cx="5029200" cy="868680"/>
          </a:xfrm>
          <a:prstGeom prst="rect">
            <a:avLst/>
          </a:prstGeom>
          <a:noFill/>
          <a:ln/>
        </p:spPr>
        <p:txBody>
          <a:bodyPr wrap="square" lIns="0" tIns="0" rIns="0" bIns="0" rtlCol="0" anchor="t"/>
          <a:lstStyle/>
          <a:p>
            <a:pPr indent="0" marL="0">
              <a:buNone/>
            </a:pPr>
            <a:r>
              <a:rPr lang="en-US" sz="1350" dirty="0">
                <a:solidFill>
                  <a:srgbClr val="1B1F24"/>
                </a:solidFill>
                <a:latin typeface="Calibri" pitchFamily="34" charset="0"/>
                <a:ea typeface="Calibri" pitchFamily="34" charset="-122"/>
                <a:cs typeface="Calibri" pitchFamily="34" charset="-120"/>
              </a:rPr>
              <a:t>Número de clientes (crece con adquisición) · % contratos a plazo (se infla con descuentos; queda como driver) · tasa de churn sola (no distingue valor).</a:t>
            </a:r>
            <a:endParaRPr lang="en-US" sz="1350" dirty="0"/>
          </a:p>
        </p:txBody>
      </p:sp>
      <p:sp>
        <p:nvSpPr>
          <p:cNvPr id="25" name="Slide Number Placeholder 0"/>
          <p:cNvSpPr>
            <a:spLocks noGrp="1"/>
          </p:cNvSpPr>
          <p:nvPr>
            <p:ph type="sldNum" sz="quarter" idx="4294967295"/>
          </p:nvPr>
        </p:nvSpPr>
        <p:spPr>
          <a:xfrm>
            <a:off x="11091672"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5B657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164592"/>
            <a:ext cx="11091672" cy="256032"/>
          </a:xfrm>
          <a:prstGeom prst="rect">
            <a:avLst/>
          </a:prstGeom>
          <a:noFill/>
          <a:ln/>
        </p:spPr>
        <p:txBody>
          <a:bodyPr wrap="square" lIns="0" tIns="0" rIns="0" bIns="0" rtlCol="0" anchor="ctr"/>
          <a:lstStyle/>
          <a:p>
            <a:pPr indent="0" marL="0">
              <a:buNone/>
            </a:pPr>
            <a:r>
              <a:rPr lang="en-US" sz="1100" b="1" spc="50" kern="0" dirty="0">
                <a:solidFill>
                  <a:srgbClr val="2A78D6"/>
                </a:solidFill>
                <a:latin typeface="Calibri" pitchFamily="34" charset="0"/>
                <a:ea typeface="Calibri" pitchFamily="34" charset="-122"/>
                <a:cs typeface="Calibri" pitchFamily="34" charset="-120"/>
              </a:rPr>
              <a:t>02 · SISTEMA DE MÉTRICAS Y DATOS</a:t>
            </a:r>
            <a:pPr indent="0" marL="0">
              <a:buNone/>
            </a:pPr>
            <a:endParaRPr lang="en-US" sz="1100" dirty="0"/>
          </a:p>
        </p:txBody>
      </p:sp>
      <p:sp>
        <p:nvSpPr>
          <p:cNvPr id="3" name="Text 0"/>
          <p:cNvSpPr/>
          <p:nvPr>
            <p:ph idx="100" type="title" hasCustomPrompt="1"/>
          </p:nvPr>
        </p:nvSpPr>
        <p:spPr>
          <a:xfrm>
            <a:off x="548640" y="457200"/>
            <a:ext cx="11091672" cy="841248"/>
          </a:xfrm>
          <a:prstGeom prst="rect">
            <a:avLst/>
          </a:prstGeom>
          <a:noFill/>
          <a:ln/>
        </p:spPr>
        <p:txBody>
          <a:bodyPr wrap="square" lIns="0" tIns="0" rIns="0" bIns="0" rtlCol="0" anchor="t"/>
          <a:lstStyle/>
          <a:p>
            <a:pPr algn="l" indent="0" marL="0">
              <a:buNone/>
            </a:pPr>
            <a:r>
              <a:rPr lang="en-US" sz="2400" b="1" dirty="0">
                <a:solidFill>
                  <a:srgbClr val="13294B"/>
                </a:solidFill>
                <a:latin typeface="Cambria" pitchFamily="34" charset="0"/>
                <a:ea typeface="Cambria" pitchFamily="34" charset="-122"/>
                <a:cs typeface="Cambria" pitchFamily="34" charset="-120"/>
              </a:rPr>
              <a:t>El árbol conecta la North Star con cinco drivers, cada uno con palanca y dueño</a:t>
            </a:r>
            <a:endParaRPr lang="en-US" sz="2400" dirty="0"/>
          </a:p>
        </p:txBody>
      </p:sp>
      <p:sp>
        <p:nvSpPr>
          <p:cNvPr id="5" name="Shape 2"/>
          <p:cNvSpPr/>
          <p:nvPr/>
        </p:nvSpPr>
        <p:spPr>
          <a:xfrm>
            <a:off x="4023360" y="1371600"/>
            <a:ext cx="4114800" cy="731520"/>
          </a:xfrm>
          <a:prstGeom prst="roundRect">
            <a:avLst>
              <a:gd name="adj" fmla="val 7500"/>
            </a:avLst>
          </a:prstGeom>
          <a:solidFill>
            <a:srgbClr val="13294B"/>
          </a:solidFill>
          <a:ln w="15875">
            <a:solidFill>
              <a:srgbClr val="13294B"/>
            </a:solidFill>
            <a:prstDash val="solid"/>
          </a:ln>
        </p:spPr>
        <p:txBody>
          <a:bodyPr/>
          <a:p/>
        </p:txBody>
      </p:sp>
      <p:sp>
        <p:nvSpPr>
          <p:cNvPr id="6" name="Text 3"/>
          <p:cNvSpPr txBox="1"/>
          <p:nvPr/>
        </p:nvSpPr>
        <p:spPr>
          <a:xfrm>
            <a:off x="4096512" y="1371600"/>
            <a:ext cx="3968496" cy="73152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 MRR retenido (North Star) = 69,5 %</a:t>
            </a:r>
            <a:endParaRPr lang="en-US" sz="1250" dirty="0"/>
          </a:p>
          <a:p>
            <a:pPr algn="ctr" indent="0" marL="0">
              <a:buNone/>
            </a:pPr>
            <a:r>
              <a:rPr lang="en-US" sz="1250" dirty="0">
                <a:solidFill>
                  <a:srgbClr val="C3D2E6"/>
                </a:solidFill>
                <a:latin typeface="Calibri" pitchFamily="34" charset="0"/>
                <a:ea typeface="Calibri" pitchFamily="34" charset="-122"/>
                <a:cs typeface="Calibri" pitchFamily="34" charset="-120"/>
              </a:rPr>
              <a:t>1 − MRR perdido / MRR total</a:t>
            </a:r>
            <a:endParaRPr lang="en-US" sz="1250" dirty="0"/>
          </a:p>
        </p:txBody>
      </p:sp>
      <p:sp>
        <p:nvSpPr>
          <p:cNvPr id="7" name="Shape 4"/>
          <p:cNvSpPr/>
          <p:nvPr/>
        </p:nvSpPr>
        <p:spPr>
          <a:xfrm>
            <a:off x="6080760" y="2103120"/>
            <a:ext cx="0" cy="228600"/>
          </a:xfrm>
          <a:prstGeom prst="line">
            <a:avLst/>
          </a:prstGeom>
          <a:noFill/>
          <a:ln w="15875">
            <a:solidFill>
              <a:srgbClr val="A9B6C6"/>
            </a:solidFill>
            <a:prstDash val="solid"/>
          </a:ln>
        </p:spPr>
        <p:txBody>
          <a:bodyPr/>
          <a:p/>
        </p:txBody>
      </p:sp>
      <p:sp>
        <p:nvSpPr>
          <p:cNvPr id="8" name="Shape 5"/>
          <p:cNvSpPr/>
          <p:nvPr/>
        </p:nvSpPr>
        <p:spPr>
          <a:xfrm>
            <a:off x="2880360" y="2331720"/>
            <a:ext cx="6400800" cy="0"/>
          </a:xfrm>
          <a:prstGeom prst="line">
            <a:avLst/>
          </a:prstGeom>
          <a:noFill/>
          <a:ln w="15875">
            <a:solidFill>
              <a:srgbClr val="A9B6C6"/>
            </a:solidFill>
            <a:prstDash val="solid"/>
          </a:ln>
        </p:spPr>
        <p:txBody>
          <a:bodyPr/>
          <a:p/>
        </p:txBody>
      </p:sp>
      <p:sp>
        <p:nvSpPr>
          <p:cNvPr id="9" name="Shape 6"/>
          <p:cNvSpPr/>
          <p:nvPr/>
        </p:nvSpPr>
        <p:spPr>
          <a:xfrm>
            <a:off x="2880360" y="2331720"/>
            <a:ext cx="0" cy="182880"/>
          </a:xfrm>
          <a:prstGeom prst="line">
            <a:avLst/>
          </a:prstGeom>
          <a:noFill/>
          <a:ln w="15875">
            <a:solidFill>
              <a:srgbClr val="A9B6C6"/>
            </a:solidFill>
            <a:prstDash val="solid"/>
          </a:ln>
        </p:spPr>
        <p:txBody>
          <a:bodyPr/>
          <a:p/>
        </p:txBody>
      </p:sp>
      <p:sp>
        <p:nvSpPr>
          <p:cNvPr id="10" name="Shape 7"/>
          <p:cNvSpPr/>
          <p:nvPr/>
        </p:nvSpPr>
        <p:spPr>
          <a:xfrm>
            <a:off x="9281160" y="2331720"/>
            <a:ext cx="0" cy="182880"/>
          </a:xfrm>
          <a:prstGeom prst="line">
            <a:avLst/>
          </a:prstGeom>
          <a:noFill/>
          <a:ln w="15875">
            <a:solidFill>
              <a:srgbClr val="A9B6C6"/>
            </a:solidFill>
            <a:prstDash val="solid"/>
          </a:ln>
        </p:spPr>
        <p:txBody>
          <a:bodyPr/>
          <a:p/>
        </p:txBody>
      </p:sp>
      <p:sp>
        <p:nvSpPr>
          <p:cNvPr id="11" name="Shape 8"/>
          <p:cNvSpPr/>
          <p:nvPr/>
        </p:nvSpPr>
        <p:spPr>
          <a:xfrm>
            <a:off x="1280160" y="2514600"/>
            <a:ext cx="3200400" cy="731520"/>
          </a:xfrm>
          <a:prstGeom prst="roundRect">
            <a:avLst>
              <a:gd name="adj" fmla="val 7500"/>
            </a:avLst>
          </a:prstGeom>
          <a:solidFill>
            <a:srgbClr val="FFFFFF"/>
          </a:solidFill>
          <a:ln w="15875">
            <a:solidFill>
              <a:srgbClr val="2A78D6"/>
            </a:solidFill>
            <a:prstDash val="solid"/>
          </a:ln>
        </p:spPr>
        <p:txBody>
          <a:bodyPr/>
          <a:p/>
        </p:txBody>
      </p:sp>
      <p:sp>
        <p:nvSpPr>
          <p:cNvPr id="12" name="Text 9"/>
          <p:cNvSpPr txBox="1"/>
          <p:nvPr/>
        </p:nvSpPr>
        <p:spPr>
          <a:xfrm>
            <a:off x="1353312" y="2514600"/>
            <a:ext cx="3054096" cy="731520"/>
          </a:xfrm>
          <a:prstGeom prst="rect">
            <a:avLst/>
          </a:prstGeom>
          <a:noFill/>
          <a:ln/>
        </p:spPr>
        <p:txBody>
          <a:bodyPr wrap="square" lIns="0" tIns="0" rIns="0" bIns="0" rtlCol="0" anchor="ctr"/>
          <a:lstStyle/>
          <a:p>
            <a:pPr algn="ctr" indent="0" marL="0">
              <a:buNone/>
            </a:pPr>
            <a:r>
              <a:rPr lang="en-US" sz="1250" b="1" dirty="0">
                <a:solidFill>
                  <a:srgbClr val="13294B"/>
                </a:solidFill>
                <a:latin typeface="Calibri" pitchFamily="34" charset="0"/>
                <a:ea typeface="Calibri" pitchFamily="34" charset="-122"/>
                <a:cs typeface="Calibri" pitchFamily="34" charset="-120"/>
              </a:rPr>
              <a:t>MRR total = USD 456 mil</a:t>
            </a:r>
            <a:endParaRPr lang="en-US" sz="1250" dirty="0"/>
          </a:p>
          <a:p>
            <a:pPr algn="ctr" indent="0" marL="0">
              <a:buNone/>
            </a:pPr>
            <a:r>
              <a:rPr lang="en-US" sz="1250" dirty="0">
                <a:solidFill>
                  <a:srgbClr val="1B1F24"/>
                </a:solidFill>
                <a:latin typeface="Calibri" pitchFamily="34" charset="0"/>
                <a:ea typeface="Calibri" pitchFamily="34" charset="-122"/>
                <a:cs typeface="Calibri" pitchFamily="34" charset="-120"/>
              </a:rPr>
              <a:t>7.043 clientes × ARPU USD 64,76</a:t>
            </a:r>
            <a:endParaRPr lang="en-US" sz="1250" dirty="0"/>
          </a:p>
        </p:txBody>
      </p:sp>
      <p:sp>
        <p:nvSpPr>
          <p:cNvPr id="13" name="Shape 10"/>
          <p:cNvSpPr/>
          <p:nvPr/>
        </p:nvSpPr>
        <p:spPr>
          <a:xfrm>
            <a:off x="7680960" y="2514600"/>
            <a:ext cx="3200400" cy="731520"/>
          </a:xfrm>
          <a:prstGeom prst="roundRect">
            <a:avLst>
              <a:gd name="adj" fmla="val 7500"/>
            </a:avLst>
          </a:prstGeom>
          <a:solidFill>
            <a:srgbClr val="FFFFFF"/>
          </a:solidFill>
          <a:ln w="15875">
            <a:solidFill>
              <a:srgbClr val="2A78D6"/>
            </a:solidFill>
            <a:prstDash val="solid"/>
          </a:ln>
        </p:spPr>
        <p:txBody>
          <a:bodyPr/>
          <a:p/>
        </p:txBody>
      </p:sp>
      <p:sp>
        <p:nvSpPr>
          <p:cNvPr id="14" name="Text 11"/>
          <p:cNvSpPr txBox="1"/>
          <p:nvPr/>
        </p:nvSpPr>
        <p:spPr>
          <a:xfrm>
            <a:off x="7754112" y="2514600"/>
            <a:ext cx="3054096" cy="731520"/>
          </a:xfrm>
          <a:prstGeom prst="rect">
            <a:avLst/>
          </a:prstGeom>
          <a:noFill/>
          <a:ln/>
        </p:spPr>
        <p:txBody>
          <a:bodyPr wrap="square" lIns="0" tIns="0" rIns="0" bIns="0" rtlCol="0" anchor="ctr"/>
          <a:lstStyle/>
          <a:p>
            <a:pPr algn="ctr" indent="0" marL="0">
              <a:buNone/>
            </a:pPr>
            <a:r>
              <a:rPr lang="en-US" sz="1250" b="1" dirty="0">
                <a:solidFill>
                  <a:srgbClr val="13294B"/>
                </a:solidFill>
                <a:latin typeface="Calibri" pitchFamily="34" charset="0"/>
                <a:ea typeface="Calibri" pitchFamily="34" charset="-122"/>
                <a:cs typeface="Calibri" pitchFamily="34" charset="-120"/>
              </a:rPr>
              <a:t>MRR perdido = USD 139 mil</a:t>
            </a:r>
            <a:endParaRPr lang="en-US" sz="1250" dirty="0"/>
          </a:p>
          <a:p>
            <a:pPr algn="ctr" indent="0" marL="0">
              <a:buNone/>
            </a:pPr>
            <a:r>
              <a:rPr lang="en-US" sz="1250" dirty="0">
                <a:solidFill>
                  <a:srgbClr val="1B1F24"/>
                </a:solidFill>
                <a:latin typeface="Calibri" pitchFamily="34" charset="0"/>
                <a:ea typeface="Calibri" pitchFamily="34" charset="-122"/>
                <a:cs typeface="Calibri" pitchFamily="34" charset="-120"/>
              </a:rPr>
              <a:t>1.869 clientes × ARPU USD 74,44</a:t>
            </a:r>
            <a:endParaRPr lang="en-US" sz="1250" dirty="0"/>
          </a:p>
        </p:txBody>
      </p:sp>
      <p:sp>
        <p:nvSpPr>
          <p:cNvPr id="15" name="Shape 12"/>
          <p:cNvSpPr/>
          <p:nvPr/>
        </p:nvSpPr>
        <p:spPr>
          <a:xfrm>
            <a:off x="9281160" y="3246120"/>
            <a:ext cx="0" cy="182880"/>
          </a:xfrm>
          <a:prstGeom prst="line">
            <a:avLst/>
          </a:prstGeom>
          <a:noFill/>
          <a:ln w="15875">
            <a:solidFill>
              <a:srgbClr val="A9B6C6"/>
            </a:solidFill>
            <a:prstDash val="solid"/>
          </a:ln>
        </p:spPr>
        <p:txBody>
          <a:bodyPr/>
          <a:p/>
        </p:txBody>
      </p:sp>
      <p:sp>
        <p:nvSpPr>
          <p:cNvPr id="16" name="Shape 13"/>
          <p:cNvSpPr/>
          <p:nvPr/>
        </p:nvSpPr>
        <p:spPr>
          <a:xfrm>
            <a:off x="7360920" y="3429000"/>
            <a:ext cx="3419856" cy="0"/>
          </a:xfrm>
          <a:prstGeom prst="line">
            <a:avLst/>
          </a:prstGeom>
          <a:noFill/>
          <a:ln w="15875">
            <a:solidFill>
              <a:srgbClr val="A9B6C6"/>
            </a:solidFill>
            <a:prstDash val="solid"/>
          </a:ln>
        </p:spPr>
        <p:txBody>
          <a:bodyPr/>
          <a:p/>
        </p:txBody>
      </p:sp>
      <p:sp>
        <p:nvSpPr>
          <p:cNvPr id="17" name="Shape 14"/>
          <p:cNvSpPr/>
          <p:nvPr/>
        </p:nvSpPr>
        <p:spPr>
          <a:xfrm>
            <a:off x="7360920" y="3429000"/>
            <a:ext cx="0" cy="182880"/>
          </a:xfrm>
          <a:prstGeom prst="line">
            <a:avLst/>
          </a:prstGeom>
          <a:noFill/>
          <a:ln w="15875">
            <a:solidFill>
              <a:srgbClr val="A9B6C6"/>
            </a:solidFill>
            <a:prstDash val="solid"/>
          </a:ln>
        </p:spPr>
        <p:txBody>
          <a:bodyPr/>
          <a:p/>
        </p:txBody>
      </p:sp>
      <p:sp>
        <p:nvSpPr>
          <p:cNvPr id="18" name="Shape 15"/>
          <p:cNvSpPr/>
          <p:nvPr/>
        </p:nvSpPr>
        <p:spPr>
          <a:xfrm>
            <a:off x="10780776" y="3429000"/>
            <a:ext cx="0" cy="182880"/>
          </a:xfrm>
          <a:prstGeom prst="line">
            <a:avLst/>
          </a:prstGeom>
          <a:noFill/>
          <a:ln w="15875">
            <a:solidFill>
              <a:srgbClr val="A9B6C6"/>
            </a:solidFill>
            <a:prstDash val="solid"/>
          </a:ln>
        </p:spPr>
        <p:txBody>
          <a:bodyPr/>
          <a:p/>
        </p:txBody>
      </p:sp>
      <p:sp>
        <p:nvSpPr>
          <p:cNvPr id="19" name="Shape 16"/>
          <p:cNvSpPr/>
          <p:nvPr/>
        </p:nvSpPr>
        <p:spPr>
          <a:xfrm>
            <a:off x="6035040" y="3611880"/>
            <a:ext cx="2651760" cy="685800"/>
          </a:xfrm>
          <a:prstGeom prst="roundRect">
            <a:avLst>
              <a:gd name="adj" fmla="val 8000"/>
            </a:avLst>
          </a:prstGeom>
          <a:solidFill>
            <a:srgbClr val="FFFFFF"/>
          </a:solidFill>
          <a:ln w="15875">
            <a:solidFill>
              <a:srgbClr val="2A78D6"/>
            </a:solidFill>
            <a:prstDash val="solid"/>
          </a:ln>
        </p:spPr>
        <p:txBody>
          <a:bodyPr/>
          <a:p/>
        </p:txBody>
      </p:sp>
      <p:sp>
        <p:nvSpPr>
          <p:cNvPr id="20" name="Text 17"/>
          <p:cNvSpPr txBox="1"/>
          <p:nvPr/>
        </p:nvSpPr>
        <p:spPr>
          <a:xfrm>
            <a:off x="6108192" y="3611880"/>
            <a:ext cx="2505456" cy="685800"/>
          </a:xfrm>
          <a:prstGeom prst="rect">
            <a:avLst/>
          </a:prstGeom>
          <a:noFill/>
          <a:ln/>
        </p:spPr>
        <p:txBody>
          <a:bodyPr wrap="square" lIns="0" tIns="0" rIns="0" bIns="0" rtlCol="0" anchor="ctr"/>
          <a:lstStyle/>
          <a:p>
            <a:pPr algn="ctr" indent="0" marL="0">
              <a:buNone/>
            </a:pPr>
            <a:r>
              <a:rPr lang="en-US" sz="1250" b="1" dirty="0">
                <a:solidFill>
                  <a:srgbClr val="13294B"/>
                </a:solidFill>
                <a:latin typeface="Calibri" pitchFamily="34" charset="0"/>
                <a:ea typeface="Calibri" pitchFamily="34" charset="-122"/>
                <a:cs typeface="Calibri" pitchFamily="34" charset="-120"/>
              </a:rPr>
              <a:t>Tasa de churn = 26,5 %</a:t>
            </a:r>
            <a:endParaRPr lang="en-US" sz="1250" dirty="0"/>
          </a:p>
          <a:p>
            <a:pPr algn="ctr" indent="0" marL="0">
              <a:buNone/>
            </a:pPr>
            <a:r>
              <a:rPr lang="en-US" sz="1250" dirty="0">
                <a:solidFill>
                  <a:srgbClr val="1B1F24"/>
                </a:solidFill>
                <a:latin typeface="Calibri" pitchFamily="34" charset="0"/>
                <a:ea typeface="Calibri" pitchFamily="34" charset="-122"/>
                <a:cs typeface="Calibri" pitchFamily="34" charset="-120"/>
              </a:rPr>
              <a:t>Σ peso × churn del segmento</a:t>
            </a:r>
            <a:endParaRPr lang="en-US" sz="1250" dirty="0"/>
          </a:p>
        </p:txBody>
      </p:sp>
      <p:sp>
        <p:nvSpPr>
          <p:cNvPr id="21" name="Shape 18"/>
          <p:cNvSpPr/>
          <p:nvPr/>
        </p:nvSpPr>
        <p:spPr>
          <a:xfrm>
            <a:off x="9921240" y="3611880"/>
            <a:ext cx="1719072" cy="685800"/>
          </a:xfrm>
          <a:prstGeom prst="roundRect">
            <a:avLst>
              <a:gd name="adj" fmla="val 8000"/>
            </a:avLst>
          </a:prstGeom>
          <a:solidFill>
            <a:srgbClr val="FFFFFF"/>
          </a:solidFill>
          <a:ln w="15875">
            <a:solidFill>
              <a:srgbClr val="2A78D6"/>
            </a:solidFill>
            <a:prstDash val="solid"/>
          </a:ln>
        </p:spPr>
        <p:txBody>
          <a:bodyPr/>
          <a:p/>
        </p:txBody>
      </p:sp>
      <p:sp>
        <p:nvSpPr>
          <p:cNvPr id="22" name="Text 19"/>
          <p:cNvSpPr txBox="1"/>
          <p:nvPr/>
        </p:nvSpPr>
        <p:spPr>
          <a:xfrm>
            <a:off x="9994392" y="3611880"/>
            <a:ext cx="1572768" cy="685800"/>
          </a:xfrm>
          <a:prstGeom prst="rect">
            <a:avLst/>
          </a:prstGeom>
          <a:noFill/>
          <a:ln/>
        </p:spPr>
        <p:txBody>
          <a:bodyPr wrap="square" lIns="0" tIns="0" rIns="0" bIns="0" rtlCol="0" anchor="ctr"/>
          <a:lstStyle/>
          <a:p>
            <a:pPr algn="ctr" indent="0" marL="0">
              <a:buNone/>
            </a:pPr>
            <a:r>
              <a:rPr lang="en-US" sz="1250" b="1" dirty="0">
                <a:solidFill>
                  <a:srgbClr val="13294B"/>
                </a:solidFill>
                <a:latin typeface="Calibri" pitchFamily="34" charset="0"/>
                <a:ea typeface="Calibri" pitchFamily="34" charset="-122"/>
                <a:cs typeface="Calibri" pitchFamily="34" charset="-120"/>
              </a:rPr>
              <a:t>ARPU que se va</a:t>
            </a:r>
            <a:endParaRPr lang="en-US" sz="1250" dirty="0"/>
          </a:p>
          <a:p>
            <a:pPr algn="ctr" indent="0" marL="0">
              <a:buNone/>
            </a:pPr>
            <a:r>
              <a:rPr lang="en-US" sz="1250" dirty="0">
                <a:solidFill>
                  <a:srgbClr val="1B1F24"/>
                </a:solidFill>
                <a:latin typeface="Calibri" pitchFamily="34" charset="0"/>
                <a:ea typeface="Calibri" pitchFamily="34" charset="-122"/>
                <a:cs typeface="Calibri" pitchFamily="34" charset="-120"/>
              </a:rPr>
              <a:t>USD 74,44 vs. 61,27</a:t>
            </a:r>
            <a:endParaRPr lang="en-US" sz="1250" dirty="0"/>
          </a:p>
        </p:txBody>
      </p:sp>
      <p:sp>
        <p:nvSpPr>
          <p:cNvPr id="23" name="Shape 20"/>
          <p:cNvSpPr/>
          <p:nvPr/>
        </p:nvSpPr>
        <p:spPr>
          <a:xfrm>
            <a:off x="7360920" y="4297680"/>
            <a:ext cx="0" cy="274320"/>
          </a:xfrm>
          <a:prstGeom prst="line">
            <a:avLst/>
          </a:prstGeom>
          <a:noFill/>
          <a:ln w="15875">
            <a:solidFill>
              <a:srgbClr val="A9B6C6"/>
            </a:solidFill>
            <a:prstDash val="solid"/>
          </a:ln>
        </p:spPr>
        <p:txBody>
          <a:bodyPr/>
          <a:p/>
        </p:txBody>
      </p:sp>
      <p:sp>
        <p:nvSpPr>
          <p:cNvPr id="24" name="Shape 21"/>
          <p:cNvSpPr/>
          <p:nvPr/>
        </p:nvSpPr>
        <p:spPr>
          <a:xfrm>
            <a:off x="1911096" y="4572000"/>
            <a:ext cx="8595360" cy="0"/>
          </a:xfrm>
          <a:prstGeom prst="line">
            <a:avLst/>
          </a:prstGeom>
          <a:noFill/>
          <a:ln w="15875">
            <a:solidFill>
              <a:srgbClr val="A9B6C6"/>
            </a:solidFill>
            <a:prstDash val="solid"/>
          </a:ln>
        </p:spPr>
        <p:txBody>
          <a:bodyPr/>
          <a:p/>
        </p:txBody>
      </p:sp>
      <p:sp>
        <p:nvSpPr>
          <p:cNvPr id="25" name="Shape 22"/>
          <p:cNvSpPr/>
          <p:nvPr/>
        </p:nvSpPr>
        <p:spPr>
          <a:xfrm>
            <a:off x="1911096" y="4572000"/>
            <a:ext cx="0" cy="228600"/>
          </a:xfrm>
          <a:prstGeom prst="line">
            <a:avLst/>
          </a:prstGeom>
          <a:noFill/>
          <a:ln w="15875">
            <a:solidFill>
              <a:srgbClr val="A9B6C6"/>
            </a:solidFill>
            <a:prstDash val="solid"/>
          </a:ln>
        </p:spPr>
        <p:txBody>
          <a:bodyPr/>
          <a:p/>
        </p:txBody>
      </p:sp>
      <p:sp>
        <p:nvSpPr>
          <p:cNvPr id="26" name="Shape 23"/>
          <p:cNvSpPr/>
          <p:nvPr/>
        </p:nvSpPr>
        <p:spPr>
          <a:xfrm>
            <a:off x="914400" y="4800600"/>
            <a:ext cx="1993392" cy="868680"/>
          </a:xfrm>
          <a:prstGeom prst="roundRect">
            <a:avLst>
              <a:gd name="adj" fmla="val 6316"/>
            </a:avLst>
          </a:prstGeom>
          <a:solidFill>
            <a:srgbClr val="FFFFFF"/>
          </a:solidFill>
          <a:ln w="15875">
            <a:solidFill>
              <a:srgbClr val="CDE2FB"/>
            </a:solidFill>
            <a:prstDash val="solid"/>
          </a:ln>
        </p:spPr>
        <p:txBody>
          <a:bodyPr/>
          <a:p/>
        </p:txBody>
      </p:sp>
      <p:sp>
        <p:nvSpPr>
          <p:cNvPr id="27" name="Text 24"/>
          <p:cNvSpPr txBox="1"/>
          <p:nvPr/>
        </p:nvSpPr>
        <p:spPr>
          <a:xfrm>
            <a:off x="987552" y="4800600"/>
            <a:ext cx="1847088" cy="868680"/>
          </a:xfrm>
          <a:prstGeom prst="rect">
            <a:avLst/>
          </a:prstGeom>
          <a:noFill/>
          <a:ln/>
        </p:spPr>
        <p:txBody>
          <a:bodyPr wrap="square" lIns="0" tIns="0" rIns="0" bIns="0" rtlCol="0" anchor="ctr"/>
          <a:lstStyle/>
          <a:p>
            <a:pPr algn="ctr" indent="0" marL="0">
              <a:buNone/>
            </a:pPr>
            <a:r>
              <a:rPr lang="en-US" sz="1250" b="1" dirty="0">
                <a:solidFill>
                  <a:srgbClr val="13294B"/>
                </a:solidFill>
                <a:latin typeface="Calibri" pitchFamily="34" charset="0"/>
                <a:ea typeface="Calibri" pitchFamily="34" charset="-122"/>
                <a:cs typeface="Calibri" pitchFamily="34" charset="-120"/>
              </a:rPr>
              <a:t>Mezcla contractual</a:t>
            </a:r>
            <a:endParaRPr lang="en-US" sz="1250" dirty="0"/>
          </a:p>
          <a:p>
            <a:pPr algn="ctr" indent="0" marL="0">
              <a:buNone/>
            </a:pPr>
            <a:r>
              <a:rPr lang="en-US" sz="1250" dirty="0">
                <a:solidFill>
                  <a:srgbClr val="1B1F24"/>
                </a:solidFill>
                <a:latin typeface="Calibri" pitchFamily="34" charset="0"/>
                <a:ea typeface="Calibri" pitchFamily="34" charset="-122"/>
                <a:cs typeface="Calibri" pitchFamily="34" charset="-120"/>
              </a:rPr>
              <a:t>45,0 % a plazo; mes a mes 42,7 %</a:t>
            </a:r>
            <a:endParaRPr lang="en-US" sz="1250" dirty="0"/>
          </a:p>
        </p:txBody>
      </p:sp>
      <p:sp>
        <p:nvSpPr>
          <p:cNvPr id="28" name="Text 25"/>
          <p:cNvSpPr txBox="1"/>
          <p:nvPr/>
        </p:nvSpPr>
        <p:spPr>
          <a:xfrm>
            <a:off x="914400" y="5715000"/>
            <a:ext cx="1993392" cy="274320"/>
          </a:xfrm>
          <a:prstGeom prst="rect">
            <a:avLst/>
          </a:prstGeom>
          <a:noFill/>
          <a:ln/>
        </p:spPr>
        <p:txBody>
          <a:bodyPr wrap="square" lIns="0" tIns="0" rIns="0" bIns="0" rtlCol="0" anchor="ctr"/>
          <a:lstStyle/>
          <a:p>
            <a:pPr algn="ctr" indent="0" marL="0">
              <a:buNone/>
            </a:pPr>
            <a:r>
              <a:rPr lang="en-US" sz="1200" b="1" dirty="0">
                <a:solidFill>
                  <a:srgbClr val="2A78D6"/>
                </a:solidFill>
                <a:latin typeface="Calibri" pitchFamily="34" charset="0"/>
                <a:ea typeface="Calibri" pitchFamily="34" charset="-122"/>
                <a:cs typeface="Calibri" pitchFamily="34" charset="-120"/>
              </a:rPr>
              <a:t>L1 · Comercial</a:t>
            </a:r>
            <a:endParaRPr lang="en-US" sz="1200" dirty="0"/>
          </a:p>
        </p:txBody>
      </p:sp>
      <p:sp>
        <p:nvSpPr>
          <p:cNvPr id="29" name="Shape 26"/>
          <p:cNvSpPr/>
          <p:nvPr/>
        </p:nvSpPr>
        <p:spPr>
          <a:xfrm>
            <a:off x="4059936" y="4572000"/>
            <a:ext cx="0" cy="228600"/>
          </a:xfrm>
          <a:prstGeom prst="line">
            <a:avLst/>
          </a:prstGeom>
          <a:noFill/>
          <a:ln w="15875">
            <a:solidFill>
              <a:srgbClr val="A9B6C6"/>
            </a:solidFill>
            <a:prstDash val="solid"/>
          </a:ln>
        </p:spPr>
        <p:txBody>
          <a:bodyPr/>
          <a:p/>
        </p:txBody>
      </p:sp>
      <p:sp>
        <p:nvSpPr>
          <p:cNvPr id="30" name="Shape 27"/>
          <p:cNvSpPr/>
          <p:nvPr/>
        </p:nvSpPr>
        <p:spPr>
          <a:xfrm>
            <a:off x="3063240" y="4800600"/>
            <a:ext cx="1993392" cy="868680"/>
          </a:xfrm>
          <a:prstGeom prst="roundRect">
            <a:avLst>
              <a:gd name="adj" fmla="val 6316"/>
            </a:avLst>
          </a:prstGeom>
          <a:solidFill>
            <a:srgbClr val="FFFFFF"/>
          </a:solidFill>
          <a:ln w="15875">
            <a:solidFill>
              <a:srgbClr val="CDE2FB"/>
            </a:solidFill>
            <a:prstDash val="solid"/>
          </a:ln>
        </p:spPr>
        <p:txBody>
          <a:bodyPr/>
          <a:p/>
        </p:txBody>
      </p:sp>
      <p:sp>
        <p:nvSpPr>
          <p:cNvPr id="31" name="Text 28"/>
          <p:cNvSpPr txBox="1"/>
          <p:nvPr/>
        </p:nvSpPr>
        <p:spPr>
          <a:xfrm>
            <a:off x="3136392" y="4800600"/>
            <a:ext cx="1847088" cy="868680"/>
          </a:xfrm>
          <a:prstGeom prst="rect">
            <a:avLst/>
          </a:prstGeom>
          <a:noFill/>
          <a:ln/>
        </p:spPr>
        <p:txBody>
          <a:bodyPr wrap="square" lIns="0" tIns="0" rIns="0" bIns="0" rtlCol="0" anchor="ctr"/>
          <a:lstStyle/>
          <a:p>
            <a:pPr algn="ctr" indent="0" marL="0">
              <a:buNone/>
            </a:pPr>
            <a:r>
              <a:rPr lang="en-US" sz="1250" b="1" dirty="0">
                <a:solidFill>
                  <a:srgbClr val="13294B"/>
                </a:solidFill>
                <a:latin typeface="Calibri" pitchFamily="34" charset="0"/>
                <a:ea typeface="Calibri" pitchFamily="34" charset="-122"/>
                <a:cs typeface="Calibri" pitchFamily="34" charset="-120"/>
              </a:rPr>
              <a:t>Ciclo de vida</a:t>
            </a:r>
            <a:endParaRPr lang="en-US" sz="1250" dirty="0"/>
          </a:p>
          <a:p>
            <a:pPr algn="ctr" indent="0" marL="0">
              <a:buNone/>
            </a:pPr>
            <a:r>
              <a:rPr lang="en-US" sz="1250" dirty="0">
                <a:solidFill>
                  <a:srgbClr val="1B1F24"/>
                </a:solidFill>
                <a:latin typeface="Calibri" pitchFamily="34" charset="0"/>
                <a:ea typeface="Calibri" pitchFamily="34" charset="-122"/>
                <a:cs typeface="Calibri" pitchFamily="34" charset="-120"/>
              </a:rPr>
              <a:t>0–6 m: 52,9 % vs. 49–72 m: 9,5 %</a:t>
            </a:r>
            <a:endParaRPr lang="en-US" sz="1250" dirty="0"/>
          </a:p>
        </p:txBody>
      </p:sp>
      <p:sp>
        <p:nvSpPr>
          <p:cNvPr id="32" name="Text 29"/>
          <p:cNvSpPr txBox="1"/>
          <p:nvPr/>
        </p:nvSpPr>
        <p:spPr>
          <a:xfrm>
            <a:off x="3063240" y="5715000"/>
            <a:ext cx="1993392" cy="274320"/>
          </a:xfrm>
          <a:prstGeom prst="rect">
            <a:avLst/>
          </a:prstGeom>
          <a:noFill/>
          <a:ln/>
        </p:spPr>
        <p:txBody>
          <a:bodyPr wrap="square" lIns="0" tIns="0" rIns="0" bIns="0" rtlCol="0" anchor="ctr"/>
          <a:lstStyle/>
          <a:p>
            <a:pPr algn="ctr" indent="0" marL="0">
              <a:buNone/>
            </a:pPr>
            <a:r>
              <a:rPr lang="en-US" sz="1200" b="1" dirty="0">
                <a:solidFill>
                  <a:srgbClr val="2A78D6"/>
                </a:solidFill>
                <a:latin typeface="Calibri" pitchFamily="34" charset="0"/>
                <a:ea typeface="Calibri" pitchFamily="34" charset="-122"/>
                <a:cs typeface="Calibri" pitchFamily="34" charset="-120"/>
              </a:rPr>
              <a:t>L4 · Customer Success</a:t>
            </a:r>
            <a:endParaRPr lang="en-US" sz="1200" dirty="0"/>
          </a:p>
        </p:txBody>
      </p:sp>
      <p:sp>
        <p:nvSpPr>
          <p:cNvPr id="33" name="Shape 30"/>
          <p:cNvSpPr/>
          <p:nvPr/>
        </p:nvSpPr>
        <p:spPr>
          <a:xfrm>
            <a:off x="6208776" y="4572000"/>
            <a:ext cx="0" cy="228600"/>
          </a:xfrm>
          <a:prstGeom prst="line">
            <a:avLst/>
          </a:prstGeom>
          <a:noFill/>
          <a:ln w="15875">
            <a:solidFill>
              <a:srgbClr val="A9B6C6"/>
            </a:solidFill>
            <a:prstDash val="solid"/>
          </a:ln>
        </p:spPr>
        <p:txBody>
          <a:bodyPr/>
          <a:p/>
        </p:txBody>
      </p:sp>
      <p:sp>
        <p:nvSpPr>
          <p:cNvPr id="34" name="Shape 31"/>
          <p:cNvSpPr/>
          <p:nvPr/>
        </p:nvSpPr>
        <p:spPr>
          <a:xfrm>
            <a:off x="5212080" y="4800600"/>
            <a:ext cx="1993392" cy="868680"/>
          </a:xfrm>
          <a:prstGeom prst="roundRect">
            <a:avLst>
              <a:gd name="adj" fmla="val 6316"/>
            </a:avLst>
          </a:prstGeom>
          <a:solidFill>
            <a:srgbClr val="FFFFFF"/>
          </a:solidFill>
          <a:ln w="15875">
            <a:solidFill>
              <a:srgbClr val="CDE2FB"/>
            </a:solidFill>
            <a:prstDash val="solid"/>
          </a:ln>
        </p:spPr>
        <p:txBody>
          <a:bodyPr/>
          <a:p/>
        </p:txBody>
      </p:sp>
      <p:sp>
        <p:nvSpPr>
          <p:cNvPr id="35" name="Text 32"/>
          <p:cNvSpPr txBox="1"/>
          <p:nvPr/>
        </p:nvSpPr>
        <p:spPr>
          <a:xfrm>
            <a:off x="5285232" y="4800600"/>
            <a:ext cx="1847088" cy="868680"/>
          </a:xfrm>
          <a:prstGeom prst="rect">
            <a:avLst/>
          </a:prstGeom>
          <a:noFill/>
          <a:ln/>
        </p:spPr>
        <p:txBody>
          <a:bodyPr wrap="square" lIns="0" tIns="0" rIns="0" bIns="0" rtlCol="0" anchor="ctr"/>
          <a:lstStyle/>
          <a:p>
            <a:pPr algn="ctr" indent="0" marL="0">
              <a:buNone/>
            </a:pPr>
            <a:r>
              <a:rPr lang="en-US" sz="1250" b="1" dirty="0">
                <a:solidFill>
                  <a:srgbClr val="13294B"/>
                </a:solidFill>
                <a:latin typeface="Calibri" pitchFamily="34" charset="0"/>
                <a:ea typeface="Calibri" pitchFamily="34" charset="-122"/>
                <a:cs typeface="Calibri" pitchFamily="34" charset="-120"/>
              </a:rPr>
              <a:t>Propuesta de valor</a:t>
            </a:r>
            <a:endParaRPr lang="en-US" sz="1250" dirty="0"/>
          </a:p>
          <a:p>
            <a:pPr algn="ctr" indent="0" marL="0">
              <a:buNone/>
            </a:pPr>
            <a:r>
              <a:rPr lang="en-US" sz="1250" dirty="0">
                <a:solidFill>
                  <a:srgbClr val="1B1F24"/>
                </a:solidFill>
                <a:latin typeface="Calibri" pitchFamily="34" charset="0"/>
                <a:ea typeface="Calibri" pitchFamily="34" charset="-122"/>
                <a:cs typeface="Calibri" pitchFamily="34" charset="-120"/>
              </a:rPr>
              <a:t>Fibra 41,9 % vs. DSL 19,0 %</a:t>
            </a:r>
            <a:endParaRPr lang="en-US" sz="1250" dirty="0"/>
          </a:p>
        </p:txBody>
      </p:sp>
      <p:sp>
        <p:nvSpPr>
          <p:cNvPr id="36" name="Text 33"/>
          <p:cNvSpPr txBox="1"/>
          <p:nvPr/>
        </p:nvSpPr>
        <p:spPr>
          <a:xfrm>
            <a:off x="5212080" y="5715000"/>
            <a:ext cx="1993392" cy="274320"/>
          </a:xfrm>
          <a:prstGeom prst="rect">
            <a:avLst/>
          </a:prstGeom>
          <a:noFill/>
          <a:ln/>
        </p:spPr>
        <p:txBody>
          <a:bodyPr wrap="square" lIns="0" tIns="0" rIns="0" bIns="0" rtlCol="0" anchor="ctr"/>
          <a:lstStyle/>
          <a:p>
            <a:pPr algn="ctr" indent="0" marL="0">
              <a:buNone/>
            </a:pPr>
            <a:r>
              <a:rPr lang="en-US" sz="1200" b="1" dirty="0">
                <a:solidFill>
                  <a:srgbClr val="2A78D6"/>
                </a:solidFill>
                <a:latin typeface="Calibri" pitchFamily="34" charset="0"/>
                <a:ea typeface="Calibri" pitchFamily="34" charset="-122"/>
                <a:cs typeface="Calibri" pitchFamily="34" charset="-120"/>
              </a:rPr>
              <a:t>D · Producto</a:t>
            </a:r>
            <a:endParaRPr lang="en-US" sz="1200" dirty="0"/>
          </a:p>
        </p:txBody>
      </p:sp>
      <p:sp>
        <p:nvSpPr>
          <p:cNvPr id="37" name="Shape 34"/>
          <p:cNvSpPr/>
          <p:nvPr/>
        </p:nvSpPr>
        <p:spPr>
          <a:xfrm>
            <a:off x="8357616" y="4572000"/>
            <a:ext cx="0" cy="228600"/>
          </a:xfrm>
          <a:prstGeom prst="line">
            <a:avLst/>
          </a:prstGeom>
          <a:noFill/>
          <a:ln w="15875">
            <a:solidFill>
              <a:srgbClr val="A9B6C6"/>
            </a:solidFill>
            <a:prstDash val="solid"/>
          </a:ln>
        </p:spPr>
        <p:txBody>
          <a:bodyPr/>
          <a:p/>
        </p:txBody>
      </p:sp>
      <p:sp>
        <p:nvSpPr>
          <p:cNvPr id="38" name="Shape 35"/>
          <p:cNvSpPr/>
          <p:nvPr/>
        </p:nvSpPr>
        <p:spPr>
          <a:xfrm>
            <a:off x="7360920" y="4800600"/>
            <a:ext cx="1993392" cy="868680"/>
          </a:xfrm>
          <a:prstGeom prst="roundRect">
            <a:avLst>
              <a:gd name="adj" fmla="val 6316"/>
            </a:avLst>
          </a:prstGeom>
          <a:solidFill>
            <a:srgbClr val="FFFFFF"/>
          </a:solidFill>
          <a:ln w="15875">
            <a:solidFill>
              <a:srgbClr val="CDE2FB"/>
            </a:solidFill>
            <a:prstDash val="solid"/>
          </a:ln>
        </p:spPr>
        <p:txBody>
          <a:bodyPr/>
          <a:p/>
        </p:txBody>
      </p:sp>
      <p:sp>
        <p:nvSpPr>
          <p:cNvPr id="39" name="Text 36"/>
          <p:cNvSpPr txBox="1"/>
          <p:nvPr/>
        </p:nvSpPr>
        <p:spPr>
          <a:xfrm>
            <a:off x="7434072" y="4800600"/>
            <a:ext cx="1847088" cy="868680"/>
          </a:xfrm>
          <a:prstGeom prst="rect">
            <a:avLst/>
          </a:prstGeom>
          <a:noFill/>
          <a:ln/>
        </p:spPr>
        <p:txBody>
          <a:bodyPr wrap="square" lIns="0" tIns="0" rIns="0" bIns="0" rtlCol="0" anchor="ctr"/>
          <a:lstStyle/>
          <a:p>
            <a:pPr algn="ctr" indent="0" marL="0">
              <a:buNone/>
            </a:pPr>
            <a:r>
              <a:rPr lang="en-US" sz="1250" b="1" dirty="0">
                <a:solidFill>
                  <a:srgbClr val="13294B"/>
                </a:solidFill>
                <a:latin typeface="Calibri" pitchFamily="34" charset="0"/>
                <a:ea typeface="Calibri" pitchFamily="34" charset="-122"/>
                <a:cs typeface="Calibri" pitchFamily="34" charset="-120"/>
              </a:rPr>
              <a:t>Adopción de protección</a:t>
            </a:r>
            <a:endParaRPr lang="en-US" sz="1250" dirty="0"/>
          </a:p>
          <a:p>
            <a:pPr algn="ctr" indent="0" marL="0">
              <a:buNone/>
            </a:pPr>
            <a:r>
              <a:rPr lang="en-US" sz="1250" dirty="0">
                <a:solidFill>
                  <a:srgbClr val="1B1F24"/>
                </a:solidFill>
                <a:latin typeface="Calibri" pitchFamily="34" charset="0"/>
                <a:ea typeface="Calibri" pitchFamily="34" charset="-122"/>
                <a:cs typeface="Calibri" pitchFamily="34" charset="-120"/>
              </a:rPr>
              <a:t>17,1 % con vs. 49,0 % sin</a:t>
            </a:r>
            <a:endParaRPr lang="en-US" sz="1250" dirty="0"/>
          </a:p>
        </p:txBody>
      </p:sp>
      <p:sp>
        <p:nvSpPr>
          <p:cNvPr id="40" name="Text 37"/>
          <p:cNvSpPr txBox="1"/>
          <p:nvPr/>
        </p:nvSpPr>
        <p:spPr>
          <a:xfrm>
            <a:off x="7360920" y="5715000"/>
            <a:ext cx="1993392" cy="274320"/>
          </a:xfrm>
          <a:prstGeom prst="rect">
            <a:avLst/>
          </a:prstGeom>
          <a:noFill/>
          <a:ln/>
        </p:spPr>
        <p:txBody>
          <a:bodyPr wrap="square" lIns="0" tIns="0" rIns="0" bIns="0" rtlCol="0" anchor="ctr"/>
          <a:lstStyle/>
          <a:p>
            <a:pPr algn="ctr" indent="0" marL="0">
              <a:buNone/>
            </a:pPr>
            <a:r>
              <a:rPr lang="en-US" sz="1200" b="1" dirty="0">
                <a:solidFill>
                  <a:srgbClr val="2A78D6"/>
                </a:solidFill>
                <a:latin typeface="Calibri" pitchFamily="34" charset="0"/>
                <a:ea typeface="Calibri" pitchFamily="34" charset="-122"/>
                <a:cs typeface="Calibri" pitchFamily="34" charset="-120"/>
              </a:rPr>
              <a:t>L2 · Producto</a:t>
            </a:r>
            <a:endParaRPr lang="en-US" sz="1200" dirty="0"/>
          </a:p>
        </p:txBody>
      </p:sp>
      <p:sp>
        <p:nvSpPr>
          <p:cNvPr id="41" name="Shape 38"/>
          <p:cNvSpPr/>
          <p:nvPr/>
        </p:nvSpPr>
        <p:spPr>
          <a:xfrm>
            <a:off x="10506456" y="4572000"/>
            <a:ext cx="0" cy="228600"/>
          </a:xfrm>
          <a:prstGeom prst="line">
            <a:avLst/>
          </a:prstGeom>
          <a:noFill/>
          <a:ln w="15875">
            <a:solidFill>
              <a:srgbClr val="A9B6C6"/>
            </a:solidFill>
            <a:prstDash val="solid"/>
          </a:ln>
        </p:spPr>
        <p:txBody>
          <a:bodyPr/>
          <a:p/>
        </p:txBody>
      </p:sp>
      <p:sp>
        <p:nvSpPr>
          <p:cNvPr id="42" name="Shape 39"/>
          <p:cNvSpPr/>
          <p:nvPr/>
        </p:nvSpPr>
        <p:spPr>
          <a:xfrm>
            <a:off x="9509760" y="4800600"/>
            <a:ext cx="1993392" cy="868680"/>
          </a:xfrm>
          <a:prstGeom prst="roundRect">
            <a:avLst>
              <a:gd name="adj" fmla="val 6316"/>
            </a:avLst>
          </a:prstGeom>
          <a:solidFill>
            <a:srgbClr val="FFFFFF"/>
          </a:solidFill>
          <a:ln w="15875">
            <a:solidFill>
              <a:srgbClr val="CDE2FB"/>
            </a:solidFill>
            <a:prstDash val="solid"/>
          </a:ln>
        </p:spPr>
        <p:txBody>
          <a:bodyPr/>
          <a:p/>
        </p:txBody>
      </p:sp>
      <p:sp>
        <p:nvSpPr>
          <p:cNvPr id="43" name="Text 40"/>
          <p:cNvSpPr txBox="1"/>
          <p:nvPr/>
        </p:nvSpPr>
        <p:spPr>
          <a:xfrm>
            <a:off x="9582912" y="4800600"/>
            <a:ext cx="1847088" cy="868680"/>
          </a:xfrm>
          <a:prstGeom prst="rect">
            <a:avLst/>
          </a:prstGeom>
          <a:noFill/>
          <a:ln/>
        </p:spPr>
        <p:txBody>
          <a:bodyPr wrap="square" lIns="0" tIns="0" rIns="0" bIns="0" rtlCol="0" anchor="ctr"/>
          <a:lstStyle/>
          <a:p>
            <a:pPr algn="ctr" indent="0" marL="0">
              <a:buNone/>
            </a:pPr>
            <a:r>
              <a:rPr lang="en-US" sz="1250" b="1" dirty="0">
                <a:solidFill>
                  <a:srgbClr val="13294B"/>
                </a:solidFill>
                <a:latin typeface="Calibri" pitchFamily="34" charset="0"/>
                <a:ea typeface="Calibri" pitchFamily="34" charset="-122"/>
                <a:cs typeface="Calibri" pitchFamily="34" charset="-120"/>
              </a:rPr>
              <a:t>Fricción de pago</a:t>
            </a:r>
            <a:endParaRPr lang="en-US" sz="1250" dirty="0"/>
          </a:p>
          <a:p>
            <a:pPr algn="ctr" indent="0" marL="0">
              <a:buNone/>
            </a:pPr>
            <a:r>
              <a:rPr lang="en-US" sz="1250" dirty="0">
                <a:solidFill>
                  <a:srgbClr val="1B1F24"/>
                </a:solidFill>
                <a:latin typeface="Calibri" pitchFamily="34" charset="0"/>
                <a:ea typeface="Calibri" pitchFamily="34" charset="-122"/>
                <a:cs typeface="Calibri" pitchFamily="34" charset="-120"/>
              </a:rPr>
              <a:t>Cheque electr. 45,3 %; 43,5 % automático</a:t>
            </a:r>
            <a:endParaRPr lang="en-US" sz="1250" dirty="0"/>
          </a:p>
        </p:txBody>
      </p:sp>
      <p:sp>
        <p:nvSpPr>
          <p:cNvPr id="44" name="Text 41"/>
          <p:cNvSpPr txBox="1"/>
          <p:nvPr/>
        </p:nvSpPr>
        <p:spPr>
          <a:xfrm>
            <a:off x="9509760" y="5715000"/>
            <a:ext cx="1993392" cy="274320"/>
          </a:xfrm>
          <a:prstGeom prst="rect">
            <a:avLst/>
          </a:prstGeom>
          <a:noFill/>
          <a:ln/>
        </p:spPr>
        <p:txBody>
          <a:bodyPr wrap="square" lIns="0" tIns="0" rIns="0" bIns="0" rtlCol="0" anchor="ctr"/>
          <a:lstStyle/>
          <a:p>
            <a:pPr algn="ctr" indent="0" marL="0">
              <a:buNone/>
            </a:pPr>
            <a:r>
              <a:rPr lang="en-US" sz="1200" b="1" dirty="0">
                <a:solidFill>
                  <a:srgbClr val="2A78D6"/>
                </a:solidFill>
                <a:latin typeface="Calibri" pitchFamily="34" charset="0"/>
                <a:ea typeface="Calibri" pitchFamily="34" charset="-122"/>
                <a:cs typeface="Calibri" pitchFamily="34" charset="-120"/>
              </a:rPr>
              <a:t>L3 · Facturación</a:t>
            </a:r>
            <a:endParaRPr lang="en-US" sz="1200" dirty="0"/>
          </a:p>
        </p:txBody>
      </p:sp>
      <p:sp>
        <p:nvSpPr>
          <p:cNvPr id="45" name="Shape 42"/>
          <p:cNvSpPr/>
          <p:nvPr/>
        </p:nvSpPr>
        <p:spPr>
          <a:xfrm>
            <a:off x="548640" y="3520440"/>
            <a:ext cx="2926080" cy="914400"/>
          </a:xfrm>
          <a:prstGeom prst="roundRect">
            <a:avLst>
              <a:gd name="adj" fmla="val 6000"/>
            </a:avLst>
          </a:prstGeom>
          <a:solidFill>
            <a:srgbClr val="FCEBE3"/>
          </a:solidFill>
          <a:ln w="15875">
            <a:solidFill>
              <a:srgbClr val="EB6834"/>
            </a:solidFill>
            <a:prstDash val="dash"/>
          </a:ln>
        </p:spPr>
        <p:txBody>
          <a:bodyPr/>
          <a:p/>
        </p:txBody>
      </p:sp>
      <p:sp>
        <p:nvSpPr>
          <p:cNvPr id="46" name="Text 43"/>
          <p:cNvSpPr txBox="1"/>
          <p:nvPr/>
        </p:nvSpPr>
        <p:spPr>
          <a:xfrm>
            <a:off x="640080" y="3520440"/>
            <a:ext cx="2743200" cy="914400"/>
          </a:xfrm>
          <a:prstGeom prst="rect">
            <a:avLst/>
          </a:prstGeom>
          <a:noFill/>
          <a:ln/>
        </p:spPr>
        <p:txBody>
          <a:bodyPr wrap="square" lIns="0" tIns="0" rIns="0" bIns="0" rtlCol="0" anchor="ctr"/>
          <a:lstStyle/>
          <a:p>
            <a:pPr algn="ctr" indent="0" marL="0">
              <a:buNone/>
            </a:pPr>
            <a:r>
              <a:rPr lang="en-US" sz="1250" b="1" dirty="0">
                <a:solidFill>
                  <a:srgbClr val="13294B"/>
                </a:solidFill>
                <a:latin typeface="Calibri" pitchFamily="34" charset="0"/>
                <a:ea typeface="Calibri" pitchFamily="34" charset="-122"/>
                <a:cs typeface="Calibri" pitchFamily="34" charset="-120"/>
              </a:rPr>
              <a:t>Métricas de balance</a:t>
            </a:r>
            <a:endParaRPr lang="en-US" sz="1250" dirty="0"/>
          </a:p>
          <a:p>
            <a:pPr algn="ctr" indent="0" marL="0">
              <a:buNone/>
            </a:pPr>
            <a:r>
              <a:rPr lang="en-US" sz="1250" dirty="0">
                <a:solidFill>
                  <a:srgbClr val="1B1F24"/>
                </a:solidFill>
                <a:latin typeface="Calibri" pitchFamily="34" charset="0"/>
                <a:ea typeface="Calibri" pitchFamily="34" charset="-122"/>
                <a:cs typeface="Calibri" pitchFamily="34" charset="-120"/>
              </a:rPr>
              <a:t>ARPU (no caer &gt; 3 %) · costo por cliente salvado · ROI del programa</a:t>
            </a:r>
            <a:endParaRPr lang="en-US" sz="1250" dirty="0"/>
          </a:p>
        </p:txBody>
      </p:sp>
      <p:sp>
        <p:nvSpPr>
          <p:cNvPr id="25" name="Slide Number Placeholder 0"/>
          <p:cNvSpPr>
            <a:spLocks noGrp="1"/>
          </p:cNvSpPr>
          <p:nvPr>
            <p:ph type="sldNum" sz="quarter" idx="4294967295"/>
          </p:nvPr>
        </p:nvSpPr>
        <p:spPr>
          <a:xfrm>
            <a:off x="11091672"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5B657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164592"/>
            <a:ext cx="11091672" cy="256032"/>
          </a:xfrm>
          <a:prstGeom prst="rect">
            <a:avLst/>
          </a:prstGeom>
          <a:noFill/>
          <a:ln/>
        </p:spPr>
        <p:txBody>
          <a:bodyPr wrap="square" lIns="0" tIns="0" rIns="0" bIns="0" rtlCol="0" anchor="ctr"/>
          <a:lstStyle/>
          <a:p>
            <a:pPr indent="0" marL="0">
              <a:buNone/>
            </a:pPr>
            <a:r>
              <a:rPr lang="en-US" sz="1100" b="1" spc="50" kern="0" dirty="0">
                <a:solidFill>
                  <a:srgbClr val="2A78D6"/>
                </a:solidFill>
                <a:latin typeface="Calibri" pitchFamily="34" charset="0"/>
                <a:ea typeface="Calibri" pitchFamily="34" charset="-122"/>
                <a:cs typeface="Calibri" pitchFamily="34" charset="-120"/>
              </a:rPr>
              <a:t>02 · SISTEMA DE MÉTRICAS Y DATOS</a:t>
            </a:r>
            <a:pPr indent="0" marL="0">
              <a:buNone/>
            </a:pPr>
            <a:endParaRPr lang="en-US" sz="1100" dirty="0"/>
          </a:p>
        </p:txBody>
      </p:sp>
      <p:sp>
        <p:nvSpPr>
          <p:cNvPr id="3" name="Text 0"/>
          <p:cNvSpPr/>
          <p:nvPr>
            <p:ph idx="100" type="title" hasCustomPrompt="1"/>
          </p:nvPr>
        </p:nvSpPr>
        <p:spPr>
          <a:xfrm>
            <a:off x="548640" y="457200"/>
            <a:ext cx="11091672" cy="841248"/>
          </a:xfrm>
          <a:prstGeom prst="rect">
            <a:avLst/>
          </a:prstGeom>
          <a:noFill/>
          <a:ln/>
        </p:spPr>
        <p:txBody>
          <a:bodyPr wrap="square" lIns="0" tIns="0" rIns="0" bIns="0" rtlCol="0" anchor="t"/>
          <a:lstStyle/>
          <a:p>
            <a:pPr algn="l" indent="0" marL="0">
              <a:buNone/>
            </a:pPr>
            <a:r>
              <a:rPr lang="en-US" sz="2400" b="1" dirty="0">
                <a:solidFill>
                  <a:srgbClr val="13294B"/>
                </a:solidFill>
                <a:latin typeface="Cambria" pitchFamily="34" charset="0"/>
                <a:ea typeface="Cambria" pitchFamily="34" charset="-122"/>
                <a:cs typeface="Cambria" pitchFamily="34" charset="-120"/>
              </a:rPr>
              <a:t>Los indicadores se organizan en cuatro niveles: estratégicos, operativos, diagnósticos y de balance</a:t>
            </a:r>
            <a:endParaRPr lang="en-US" sz="2400" dirty="0"/>
          </a:p>
        </p:txBody>
      </p:sp>
      <p:sp>
        <p:nvSpPr>
          <p:cNvPr id="5" name="Shape 2"/>
          <p:cNvSpPr/>
          <p:nvPr/>
        </p:nvSpPr>
        <p:spPr>
          <a:xfrm>
            <a:off x="548640" y="1417320"/>
            <a:ext cx="2670048" cy="4526280"/>
          </a:xfrm>
          <a:prstGeom prst="roundRect">
            <a:avLst>
              <a:gd name="adj" fmla="val 2740"/>
            </a:avLst>
          </a:prstGeom>
          <a:solidFill>
            <a:srgbClr val="F3F5F8"/>
          </a:solidFill>
          <a:ln w="12700">
            <a:solidFill>
              <a:srgbClr val="F3F5F8"/>
            </a:solidFill>
            <a:prstDash val="solid"/>
          </a:ln>
        </p:spPr>
        <p:txBody>
          <a:bodyPr/>
          <a:p/>
        </p:txBody>
      </p:sp>
      <p:sp>
        <p:nvSpPr>
          <p:cNvPr id="6" name="Shape 3"/>
          <p:cNvSpPr/>
          <p:nvPr/>
        </p:nvSpPr>
        <p:spPr>
          <a:xfrm>
            <a:off x="548640" y="1417320"/>
            <a:ext cx="2670048" cy="777240"/>
          </a:xfrm>
          <a:prstGeom prst="roundRect">
            <a:avLst>
              <a:gd name="adj" fmla="val 9412"/>
            </a:avLst>
          </a:prstGeom>
          <a:solidFill>
            <a:srgbClr val="13294B"/>
          </a:solidFill>
          <a:ln w="12700">
            <a:solidFill>
              <a:srgbClr val="13294B"/>
            </a:solidFill>
            <a:prstDash val="solid"/>
          </a:ln>
        </p:spPr>
        <p:txBody>
          <a:bodyPr/>
          <a:p/>
        </p:txBody>
      </p:sp>
      <p:sp>
        <p:nvSpPr>
          <p:cNvPr id="7" name="Shape 4"/>
          <p:cNvSpPr/>
          <p:nvPr/>
        </p:nvSpPr>
        <p:spPr>
          <a:xfrm>
            <a:off x="548640" y="1965960"/>
            <a:ext cx="2670048" cy="228600"/>
          </a:xfrm>
          <a:prstGeom prst="rect">
            <a:avLst/>
          </a:prstGeom>
          <a:solidFill>
            <a:srgbClr val="13294B"/>
          </a:solidFill>
          <a:ln w="12700">
            <a:solidFill>
              <a:srgbClr val="13294B"/>
            </a:solidFill>
            <a:prstDash val="solid"/>
          </a:ln>
        </p:spPr>
        <p:txBody>
          <a:bodyPr/>
          <a:p/>
        </p:txBody>
      </p:sp>
      <p:sp>
        <p:nvSpPr>
          <p:cNvPr id="8" name="Text 5"/>
          <p:cNvSpPr txBox="1"/>
          <p:nvPr/>
        </p:nvSpPr>
        <p:spPr>
          <a:xfrm>
            <a:off x="731520" y="1417320"/>
            <a:ext cx="2304288" cy="7772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Estratégicos</a:t>
            </a:r>
            <a:endParaRPr lang="en-US" sz="1700" dirty="0"/>
          </a:p>
          <a:p>
            <a:pPr indent="0" marL="0">
              <a:buNone/>
            </a:pPr>
            <a:r>
              <a:rPr lang="en-US" sz="1200" dirty="0">
                <a:solidFill>
                  <a:srgbClr val="FFFFFF"/>
                </a:solidFill>
                <a:latin typeface="Calibri" pitchFamily="34" charset="0"/>
                <a:ea typeface="Calibri" pitchFamily="34" charset="-122"/>
                <a:cs typeface="Calibri" pitchFamily="34" charset="-120"/>
              </a:rPr>
              <a:t>Comité · mensual</a:t>
            </a:r>
            <a:endParaRPr lang="en-US" sz="1700" dirty="0"/>
          </a:p>
        </p:txBody>
      </p:sp>
      <p:sp>
        <p:nvSpPr>
          <p:cNvPr id="9" name="Text 6"/>
          <p:cNvSpPr txBox="1"/>
          <p:nvPr/>
        </p:nvSpPr>
        <p:spPr>
          <a:xfrm>
            <a:off x="731520" y="2377440"/>
            <a:ext cx="2304288" cy="274320"/>
          </a:xfrm>
          <a:prstGeom prst="rect">
            <a:avLst/>
          </a:prstGeom>
          <a:noFill/>
          <a:ln/>
        </p:spPr>
        <p:txBody>
          <a:bodyPr wrap="square" lIns="0" tIns="0" rIns="0" bIns="0" rtlCol="0" anchor="ctr"/>
          <a:lstStyle/>
          <a:p>
            <a:pPr indent="0" marL="0">
              <a:buNone/>
            </a:pPr>
            <a:r>
              <a:rPr lang="en-US" sz="1400" b="1" dirty="0">
                <a:solidFill>
                  <a:srgbClr val="1B1F24"/>
                </a:solidFill>
                <a:latin typeface="Calibri" pitchFamily="34" charset="0"/>
                <a:ea typeface="Calibri" pitchFamily="34" charset="-122"/>
                <a:cs typeface="Calibri" pitchFamily="34" charset="-120"/>
              </a:rPr>
              <a:t>% MRR retenido</a:t>
            </a:r>
            <a:endParaRPr lang="en-US" sz="1400" dirty="0"/>
          </a:p>
        </p:txBody>
      </p:sp>
      <p:sp>
        <p:nvSpPr>
          <p:cNvPr id="10" name="Text 7"/>
          <p:cNvSpPr txBox="1"/>
          <p:nvPr/>
        </p:nvSpPr>
        <p:spPr>
          <a:xfrm>
            <a:off x="731520" y="2651760"/>
            <a:ext cx="2304288" cy="274320"/>
          </a:xfrm>
          <a:prstGeom prst="rect">
            <a:avLst/>
          </a:prstGeom>
          <a:noFill/>
          <a:ln/>
        </p:spPr>
        <p:txBody>
          <a:bodyPr wrap="square" lIns="0" tIns="0" rIns="0" bIns="0" rtlCol="0" anchor="ctr"/>
          <a:lstStyle/>
          <a:p>
            <a:pPr indent="0" marL="0">
              <a:buNone/>
            </a:pPr>
            <a:r>
              <a:rPr lang="en-US" sz="1300" b="1" dirty="0">
                <a:solidFill>
                  <a:srgbClr val="13294B"/>
                </a:solidFill>
                <a:latin typeface="Calibri" pitchFamily="34" charset="0"/>
                <a:ea typeface="Calibri" pitchFamily="34" charset="-122"/>
                <a:cs typeface="Calibri" pitchFamily="34" charset="-120"/>
              </a:rPr>
              <a:t>69,5 %</a:t>
            </a:r>
            <a:pPr indent="0" marL="0">
              <a:buNone/>
            </a:pPr>
            <a:r>
              <a:rPr lang="en-US" sz="1300" dirty="0">
                <a:solidFill>
                  <a:srgbClr val="5B6573"/>
                </a:solidFill>
                <a:latin typeface="Calibri" pitchFamily="34" charset="0"/>
                <a:ea typeface="Calibri" pitchFamily="34" charset="-122"/>
                <a:cs typeface="Calibri" pitchFamily="34" charset="-120"/>
              </a:rPr>
              <a:t>   meta ≥ 75 %</a:t>
            </a:r>
            <a:endParaRPr lang="en-US" sz="1300" dirty="0"/>
          </a:p>
        </p:txBody>
      </p:sp>
      <p:sp>
        <p:nvSpPr>
          <p:cNvPr id="11" name="Shape 8"/>
          <p:cNvSpPr/>
          <p:nvPr/>
        </p:nvSpPr>
        <p:spPr>
          <a:xfrm>
            <a:off x="731520" y="3090672"/>
            <a:ext cx="2304288" cy="0"/>
          </a:xfrm>
          <a:prstGeom prst="line">
            <a:avLst/>
          </a:prstGeom>
          <a:noFill/>
          <a:ln w="9525">
            <a:solidFill>
              <a:srgbClr val="DDE3EA"/>
            </a:solidFill>
            <a:prstDash val="solid"/>
          </a:ln>
        </p:spPr>
        <p:txBody>
          <a:bodyPr/>
          <a:p/>
        </p:txBody>
      </p:sp>
      <p:sp>
        <p:nvSpPr>
          <p:cNvPr id="12" name="Text 9"/>
          <p:cNvSpPr txBox="1"/>
          <p:nvPr/>
        </p:nvSpPr>
        <p:spPr>
          <a:xfrm>
            <a:off x="731520" y="3246120"/>
            <a:ext cx="2304288" cy="274320"/>
          </a:xfrm>
          <a:prstGeom prst="rect">
            <a:avLst/>
          </a:prstGeom>
          <a:noFill/>
          <a:ln/>
        </p:spPr>
        <p:txBody>
          <a:bodyPr wrap="square" lIns="0" tIns="0" rIns="0" bIns="0" rtlCol="0" anchor="ctr"/>
          <a:lstStyle/>
          <a:p>
            <a:pPr indent="0" marL="0">
              <a:buNone/>
            </a:pPr>
            <a:r>
              <a:rPr lang="en-US" sz="1400" b="1" dirty="0">
                <a:solidFill>
                  <a:srgbClr val="1B1F24"/>
                </a:solidFill>
                <a:latin typeface="Calibri" pitchFamily="34" charset="0"/>
                <a:ea typeface="Calibri" pitchFamily="34" charset="-122"/>
                <a:cs typeface="Calibri" pitchFamily="34" charset="-120"/>
              </a:rPr>
              <a:t>Tasa de churn</a:t>
            </a:r>
            <a:endParaRPr lang="en-US" sz="1400" dirty="0"/>
          </a:p>
        </p:txBody>
      </p:sp>
      <p:sp>
        <p:nvSpPr>
          <p:cNvPr id="13" name="Text 10"/>
          <p:cNvSpPr txBox="1"/>
          <p:nvPr/>
        </p:nvSpPr>
        <p:spPr>
          <a:xfrm>
            <a:off x="731520" y="3520440"/>
            <a:ext cx="2304288" cy="274320"/>
          </a:xfrm>
          <a:prstGeom prst="rect">
            <a:avLst/>
          </a:prstGeom>
          <a:noFill/>
          <a:ln/>
        </p:spPr>
        <p:txBody>
          <a:bodyPr wrap="square" lIns="0" tIns="0" rIns="0" bIns="0" rtlCol="0" anchor="ctr"/>
          <a:lstStyle/>
          <a:p>
            <a:pPr indent="0" marL="0">
              <a:buNone/>
            </a:pPr>
            <a:r>
              <a:rPr lang="en-US" sz="1300" b="1" dirty="0">
                <a:solidFill>
                  <a:srgbClr val="13294B"/>
                </a:solidFill>
                <a:latin typeface="Calibri" pitchFamily="34" charset="0"/>
                <a:ea typeface="Calibri" pitchFamily="34" charset="-122"/>
                <a:cs typeface="Calibri" pitchFamily="34" charset="-120"/>
              </a:rPr>
              <a:t>26,5 %</a:t>
            </a:r>
            <a:pPr indent="0" marL="0">
              <a:buNone/>
            </a:pPr>
            <a:r>
              <a:rPr lang="en-US" sz="1300" dirty="0">
                <a:solidFill>
                  <a:srgbClr val="5B6573"/>
                </a:solidFill>
                <a:latin typeface="Calibri" pitchFamily="34" charset="0"/>
                <a:ea typeface="Calibri" pitchFamily="34" charset="-122"/>
                <a:cs typeface="Calibri" pitchFamily="34" charset="-120"/>
              </a:rPr>
              <a:t>   meta ≤ 22 %</a:t>
            </a:r>
            <a:endParaRPr lang="en-US" sz="1300" dirty="0"/>
          </a:p>
        </p:txBody>
      </p:sp>
      <p:sp>
        <p:nvSpPr>
          <p:cNvPr id="14" name="Shape 11"/>
          <p:cNvSpPr/>
          <p:nvPr/>
        </p:nvSpPr>
        <p:spPr>
          <a:xfrm>
            <a:off x="731520" y="3959352"/>
            <a:ext cx="2304288" cy="0"/>
          </a:xfrm>
          <a:prstGeom prst="line">
            <a:avLst/>
          </a:prstGeom>
          <a:noFill/>
          <a:ln w="9525">
            <a:solidFill>
              <a:srgbClr val="DDE3EA"/>
            </a:solidFill>
            <a:prstDash val="solid"/>
          </a:ln>
        </p:spPr>
        <p:txBody>
          <a:bodyPr/>
          <a:p/>
        </p:txBody>
      </p:sp>
      <p:sp>
        <p:nvSpPr>
          <p:cNvPr id="15" name="Text 12"/>
          <p:cNvSpPr txBox="1"/>
          <p:nvPr/>
        </p:nvSpPr>
        <p:spPr>
          <a:xfrm>
            <a:off x="731520" y="4114800"/>
            <a:ext cx="2304288" cy="274320"/>
          </a:xfrm>
          <a:prstGeom prst="rect">
            <a:avLst/>
          </a:prstGeom>
          <a:noFill/>
          <a:ln/>
        </p:spPr>
        <p:txBody>
          <a:bodyPr wrap="square" lIns="0" tIns="0" rIns="0" bIns="0" rtlCol="0" anchor="ctr"/>
          <a:lstStyle/>
          <a:p>
            <a:pPr indent="0" marL="0">
              <a:buNone/>
            </a:pPr>
            <a:r>
              <a:rPr lang="en-US" sz="1400" b="1" dirty="0">
                <a:solidFill>
                  <a:srgbClr val="1B1F24"/>
                </a:solidFill>
                <a:latin typeface="Calibri" pitchFamily="34" charset="0"/>
                <a:ea typeface="Calibri" pitchFamily="34" charset="-122"/>
                <a:cs typeface="Calibri" pitchFamily="34" charset="-120"/>
              </a:rPr>
              <a:t>MRR perdido</a:t>
            </a:r>
            <a:endParaRPr lang="en-US" sz="1400" dirty="0"/>
          </a:p>
        </p:txBody>
      </p:sp>
      <p:sp>
        <p:nvSpPr>
          <p:cNvPr id="16" name="Text 13"/>
          <p:cNvSpPr txBox="1"/>
          <p:nvPr/>
        </p:nvSpPr>
        <p:spPr>
          <a:xfrm>
            <a:off x="731520" y="4389120"/>
            <a:ext cx="2304288" cy="274320"/>
          </a:xfrm>
          <a:prstGeom prst="rect">
            <a:avLst/>
          </a:prstGeom>
          <a:noFill/>
          <a:ln/>
        </p:spPr>
        <p:txBody>
          <a:bodyPr wrap="square" lIns="0" tIns="0" rIns="0" bIns="0" rtlCol="0" anchor="ctr"/>
          <a:lstStyle/>
          <a:p>
            <a:pPr indent="0" marL="0">
              <a:buNone/>
            </a:pPr>
            <a:r>
              <a:rPr lang="en-US" sz="1300" b="1" dirty="0">
                <a:solidFill>
                  <a:srgbClr val="13294B"/>
                </a:solidFill>
                <a:latin typeface="Calibri" pitchFamily="34" charset="0"/>
                <a:ea typeface="Calibri" pitchFamily="34" charset="-122"/>
                <a:cs typeface="Calibri" pitchFamily="34" charset="-120"/>
              </a:rPr>
              <a:t>USD 139 mil</a:t>
            </a:r>
            <a:pPr indent="0" marL="0">
              <a:buNone/>
            </a:pPr>
            <a:r>
              <a:rPr lang="en-US" sz="1300" dirty="0">
                <a:solidFill>
                  <a:srgbClr val="5B6573"/>
                </a:solidFill>
                <a:latin typeface="Calibri" pitchFamily="34" charset="0"/>
                <a:ea typeface="Calibri" pitchFamily="34" charset="-122"/>
                <a:cs typeface="Calibri" pitchFamily="34" charset="-120"/>
              </a:rPr>
              <a:t>   meta ≤ 25 % MRR</a:t>
            </a:r>
            <a:endParaRPr lang="en-US" sz="1300" dirty="0"/>
          </a:p>
        </p:txBody>
      </p:sp>
      <p:sp>
        <p:nvSpPr>
          <p:cNvPr id="17" name="Shape 14"/>
          <p:cNvSpPr/>
          <p:nvPr/>
        </p:nvSpPr>
        <p:spPr>
          <a:xfrm>
            <a:off x="731520" y="4828032"/>
            <a:ext cx="2304288" cy="0"/>
          </a:xfrm>
          <a:prstGeom prst="line">
            <a:avLst/>
          </a:prstGeom>
          <a:noFill/>
          <a:ln w="9525">
            <a:solidFill>
              <a:srgbClr val="DDE3EA"/>
            </a:solidFill>
            <a:prstDash val="solid"/>
          </a:ln>
        </p:spPr>
        <p:txBody>
          <a:bodyPr/>
          <a:p/>
        </p:txBody>
      </p:sp>
      <p:sp>
        <p:nvSpPr>
          <p:cNvPr id="18" name="Text 15"/>
          <p:cNvSpPr txBox="1"/>
          <p:nvPr/>
        </p:nvSpPr>
        <p:spPr>
          <a:xfrm>
            <a:off x="731520" y="4983480"/>
            <a:ext cx="2304288" cy="274320"/>
          </a:xfrm>
          <a:prstGeom prst="rect">
            <a:avLst/>
          </a:prstGeom>
          <a:noFill/>
          <a:ln/>
        </p:spPr>
        <p:txBody>
          <a:bodyPr wrap="square" lIns="0" tIns="0" rIns="0" bIns="0" rtlCol="0" anchor="ctr"/>
          <a:lstStyle/>
          <a:p>
            <a:pPr indent="0" marL="0">
              <a:buNone/>
            </a:pPr>
            <a:r>
              <a:rPr lang="en-US" sz="1400" b="1" dirty="0">
                <a:solidFill>
                  <a:srgbClr val="1B1F24"/>
                </a:solidFill>
                <a:latin typeface="Calibri" pitchFamily="34" charset="0"/>
                <a:ea typeface="Calibri" pitchFamily="34" charset="-122"/>
                <a:cs typeface="Calibri" pitchFamily="34" charset="-120"/>
              </a:rPr>
              <a:t>% contrato a plazo</a:t>
            </a:r>
            <a:endParaRPr lang="en-US" sz="1400" dirty="0"/>
          </a:p>
        </p:txBody>
      </p:sp>
      <p:sp>
        <p:nvSpPr>
          <p:cNvPr id="19" name="Text 16"/>
          <p:cNvSpPr txBox="1"/>
          <p:nvPr/>
        </p:nvSpPr>
        <p:spPr>
          <a:xfrm>
            <a:off x="731520" y="5257800"/>
            <a:ext cx="2304288" cy="274320"/>
          </a:xfrm>
          <a:prstGeom prst="rect">
            <a:avLst/>
          </a:prstGeom>
          <a:noFill/>
          <a:ln/>
        </p:spPr>
        <p:txBody>
          <a:bodyPr wrap="square" lIns="0" tIns="0" rIns="0" bIns="0" rtlCol="0" anchor="ctr"/>
          <a:lstStyle/>
          <a:p>
            <a:pPr indent="0" marL="0">
              <a:buNone/>
            </a:pPr>
            <a:r>
              <a:rPr lang="en-US" sz="1300" b="1" dirty="0">
                <a:solidFill>
                  <a:srgbClr val="13294B"/>
                </a:solidFill>
                <a:latin typeface="Calibri" pitchFamily="34" charset="0"/>
                <a:ea typeface="Calibri" pitchFamily="34" charset="-122"/>
                <a:cs typeface="Calibri" pitchFamily="34" charset="-120"/>
              </a:rPr>
              <a:t>45,0 %</a:t>
            </a:r>
            <a:pPr indent="0" marL="0">
              <a:buNone/>
            </a:pPr>
            <a:r>
              <a:rPr lang="en-US" sz="1300" dirty="0">
                <a:solidFill>
                  <a:srgbClr val="5B6573"/>
                </a:solidFill>
                <a:latin typeface="Calibri" pitchFamily="34" charset="0"/>
                <a:ea typeface="Calibri" pitchFamily="34" charset="-122"/>
                <a:cs typeface="Calibri" pitchFamily="34" charset="-120"/>
              </a:rPr>
              <a:t>   meta ≥ 50 %</a:t>
            </a:r>
            <a:endParaRPr lang="en-US" sz="1300" dirty="0"/>
          </a:p>
        </p:txBody>
      </p:sp>
      <p:sp>
        <p:nvSpPr>
          <p:cNvPr id="20" name="Shape 17"/>
          <p:cNvSpPr/>
          <p:nvPr/>
        </p:nvSpPr>
        <p:spPr>
          <a:xfrm>
            <a:off x="3355848" y="1417320"/>
            <a:ext cx="2670048" cy="4526280"/>
          </a:xfrm>
          <a:prstGeom prst="roundRect">
            <a:avLst>
              <a:gd name="adj" fmla="val 2740"/>
            </a:avLst>
          </a:prstGeom>
          <a:solidFill>
            <a:srgbClr val="F3F5F8"/>
          </a:solidFill>
          <a:ln w="12700">
            <a:solidFill>
              <a:srgbClr val="F3F5F8"/>
            </a:solidFill>
            <a:prstDash val="solid"/>
          </a:ln>
        </p:spPr>
        <p:txBody>
          <a:bodyPr/>
          <a:p/>
        </p:txBody>
      </p:sp>
      <p:sp>
        <p:nvSpPr>
          <p:cNvPr id="21" name="Shape 18"/>
          <p:cNvSpPr/>
          <p:nvPr/>
        </p:nvSpPr>
        <p:spPr>
          <a:xfrm>
            <a:off x="3355848" y="1417320"/>
            <a:ext cx="2670048" cy="777240"/>
          </a:xfrm>
          <a:prstGeom prst="roundRect">
            <a:avLst>
              <a:gd name="adj" fmla="val 9412"/>
            </a:avLst>
          </a:prstGeom>
          <a:solidFill>
            <a:srgbClr val="2A78D6"/>
          </a:solidFill>
          <a:ln w="12700">
            <a:solidFill>
              <a:srgbClr val="2A78D6"/>
            </a:solidFill>
            <a:prstDash val="solid"/>
          </a:ln>
        </p:spPr>
        <p:txBody>
          <a:bodyPr/>
          <a:p/>
        </p:txBody>
      </p:sp>
      <p:sp>
        <p:nvSpPr>
          <p:cNvPr id="22" name="Shape 19"/>
          <p:cNvSpPr/>
          <p:nvPr/>
        </p:nvSpPr>
        <p:spPr>
          <a:xfrm>
            <a:off x="3355848" y="1965960"/>
            <a:ext cx="2670048" cy="228600"/>
          </a:xfrm>
          <a:prstGeom prst="rect">
            <a:avLst/>
          </a:prstGeom>
          <a:solidFill>
            <a:srgbClr val="2A78D6"/>
          </a:solidFill>
          <a:ln w="12700">
            <a:solidFill>
              <a:srgbClr val="2A78D6"/>
            </a:solidFill>
            <a:prstDash val="solid"/>
          </a:ln>
        </p:spPr>
        <p:txBody>
          <a:bodyPr/>
          <a:p/>
        </p:txBody>
      </p:sp>
      <p:sp>
        <p:nvSpPr>
          <p:cNvPr id="23" name="Text 20"/>
          <p:cNvSpPr txBox="1"/>
          <p:nvPr/>
        </p:nvSpPr>
        <p:spPr>
          <a:xfrm>
            <a:off x="3538728" y="1417320"/>
            <a:ext cx="2304288" cy="7772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Operativos</a:t>
            </a:r>
            <a:endParaRPr lang="en-US" sz="1700" dirty="0"/>
          </a:p>
          <a:p>
            <a:pPr indent="0" marL="0">
              <a:buNone/>
            </a:pPr>
            <a:r>
              <a:rPr lang="en-US" sz="1200" dirty="0">
                <a:solidFill>
                  <a:srgbClr val="FFFFFF"/>
                </a:solidFill>
                <a:latin typeface="Calibri" pitchFamily="34" charset="0"/>
                <a:ea typeface="Calibri" pitchFamily="34" charset="-122"/>
                <a:cs typeface="Calibri" pitchFamily="34" charset="-120"/>
              </a:rPr>
              <a:t>Gerencia · semanal</a:t>
            </a:r>
            <a:endParaRPr lang="en-US" sz="1700" dirty="0"/>
          </a:p>
        </p:txBody>
      </p:sp>
      <p:sp>
        <p:nvSpPr>
          <p:cNvPr id="24" name="Text 21"/>
          <p:cNvSpPr txBox="1"/>
          <p:nvPr/>
        </p:nvSpPr>
        <p:spPr>
          <a:xfrm>
            <a:off x="3538728" y="2377440"/>
            <a:ext cx="2304288" cy="274320"/>
          </a:xfrm>
          <a:prstGeom prst="rect">
            <a:avLst/>
          </a:prstGeom>
          <a:noFill/>
          <a:ln/>
        </p:spPr>
        <p:txBody>
          <a:bodyPr wrap="square" lIns="0" tIns="0" rIns="0" bIns="0" rtlCol="0" anchor="ctr"/>
          <a:lstStyle/>
          <a:p>
            <a:pPr indent="0" marL="0">
              <a:buNone/>
            </a:pPr>
            <a:r>
              <a:rPr lang="en-US" sz="1400" b="1" dirty="0">
                <a:solidFill>
                  <a:srgbClr val="1B1F24"/>
                </a:solidFill>
                <a:latin typeface="Calibri" pitchFamily="34" charset="0"/>
                <a:ea typeface="Calibri" pitchFamily="34" charset="-122"/>
                <a:cs typeface="Calibri" pitchFamily="34" charset="-120"/>
              </a:rPr>
              <a:t>Churn temprano 0–6 m</a:t>
            </a:r>
            <a:endParaRPr lang="en-US" sz="1400" dirty="0"/>
          </a:p>
        </p:txBody>
      </p:sp>
      <p:sp>
        <p:nvSpPr>
          <p:cNvPr id="25" name="Text 22"/>
          <p:cNvSpPr txBox="1"/>
          <p:nvPr/>
        </p:nvSpPr>
        <p:spPr>
          <a:xfrm>
            <a:off x="3538728" y="2651760"/>
            <a:ext cx="2304288" cy="274320"/>
          </a:xfrm>
          <a:prstGeom prst="rect">
            <a:avLst/>
          </a:prstGeom>
          <a:noFill/>
          <a:ln/>
        </p:spPr>
        <p:txBody>
          <a:bodyPr wrap="square" lIns="0" tIns="0" rIns="0" bIns="0" rtlCol="0" anchor="ctr"/>
          <a:lstStyle/>
          <a:p>
            <a:pPr indent="0" marL="0">
              <a:buNone/>
            </a:pPr>
            <a:r>
              <a:rPr lang="en-US" sz="1300" b="1" dirty="0">
                <a:solidFill>
                  <a:srgbClr val="13294B"/>
                </a:solidFill>
                <a:latin typeface="Calibri" pitchFamily="34" charset="0"/>
                <a:ea typeface="Calibri" pitchFamily="34" charset="-122"/>
                <a:cs typeface="Calibri" pitchFamily="34" charset="-120"/>
              </a:rPr>
              <a:t>52,9 %</a:t>
            </a:r>
            <a:pPr indent="0" marL="0">
              <a:buNone/>
            </a:pPr>
            <a:r>
              <a:rPr lang="en-US" sz="1300" dirty="0">
                <a:solidFill>
                  <a:srgbClr val="5B6573"/>
                </a:solidFill>
                <a:latin typeface="Calibri" pitchFamily="34" charset="0"/>
                <a:ea typeface="Calibri" pitchFamily="34" charset="-122"/>
                <a:cs typeface="Calibri" pitchFamily="34" charset="-120"/>
              </a:rPr>
              <a:t>   meta ≤ 45 %</a:t>
            </a:r>
            <a:endParaRPr lang="en-US" sz="1300" dirty="0"/>
          </a:p>
        </p:txBody>
      </p:sp>
      <p:sp>
        <p:nvSpPr>
          <p:cNvPr id="26" name="Shape 23"/>
          <p:cNvSpPr/>
          <p:nvPr/>
        </p:nvSpPr>
        <p:spPr>
          <a:xfrm>
            <a:off x="3538728" y="3090672"/>
            <a:ext cx="2304288" cy="0"/>
          </a:xfrm>
          <a:prstGeom prst="line">
            <a:avLst/>
          </a:prstGeom>
          <a:noFill/>
          <a:ln w="9525">
            <a:solidFill>
              <a:srgbClr val="DDE3EA"/>
            </a:solidFill>
            <a:prstDash val="solid"/>
          </a:ln>
        </p:spPr>
        <p:txBody>
          <a:bodyPr/>
          <a:p/>
        </p:txBody>
      </p:sp>
      <p:sp>
        <p:nvSpPr>
          <p:cNvPr id="27" name="Text 24"/>
          <p:cNvSpPr txBox="1"/>
          <p:nvPr/>
        </p:nvSpPr>
        <p:spPr>
          <a:xfrm>
            <a:off x="3538728" y="3246120"/>
            <a:ext cx="2304288" cy="274320"/>
          </a:xfrm>
          <a:prstGeom prst="rect">
            <a:avLst/>
          </a:prstGeom>
          <a:noFill/>
          <a:ln/>
        </p:spPr>
        <p:txBody>
          <a:bodyPr wrap="square" lIns="0" tIns="0" rIns="0" bIns="0" rtlCol="0" anchor="ctr"/>
          <a:lstStyle/>
          <a:p>
            <a:pPr indent="0" marL="0">
              <a:buNone/>
            </a:pPr>
            <a:r>
              <a:rPr lang="en-US" sz="1400" b="1" dirty="0">
                <a:solidFill>
                  <a:srgbClr val="1B1F24"/>
                </a:solidFill>
                <a:latin typeface="Calibri" pitchFamily="34" charset="0"/>
                <a:ea typeface="Calibri" pitchFamily="34" charset="-122"/>
                <a:cs typeface="Calibri" pitchFamily="34" charset="-120"/>
              </a:rPr>
              <a:t>% pago automático</a:t>
            </a:r>
            <a:endParaRPr lang="en-US" sz="1400" dirty="0"/>
          </a:p>
        </p:txBody>
      </p:sp>
      <p:sp>
        <p:nvSpPr>
          <p:cNvPr id="28" name="Text 25"/>
          <p:cNvSpPr txBox="1"/>
          <p:nvPr/>
        </p:nvSpPr>
        <p:spPr>
          <a:xfrm>
            <a:off x="3538728" y="3520440"/>
            <a:ext cx="2304288" cy="274320"/>
          </a:xfrm>
          <a:prstGeom prst="rect">
            <a:avLst/>
          </a:prstGeom>
          <a:noFill/>
          <a:ln/>
        </p:spPr>
        <p:txBody>
          <a:bodyPr wrap="square" lIns="0" tIns="0" rIns="0" bIns="0" rtlCol="0" anchor="ctr"/>
          <a:lstStyle/>
          <a:p>
            <a:pPr indent="0" marL="0">
              <a:buNone/>
            </a:pPr>
            <a:r>
              <a:rPr lang="en-US" sz="1300" b="1" dirty="0">
                <a:solidFill>
                  <a:srgbClr val="13294B"/>
                </a:solidFill>
                <a:latin typeface="Calibri" pitchFamily="34" charset="0"/>
                <a:ea typeface="Calibri" pitchFamily="34" charset="-122"/>
                <a:cs typeface="Calibri" pitchFamily="34" charset="-120"/>
              </a:rPr>
              <a:t>43,5 %</a:t>
            </a:r>
            <a:pPr indent="0" marL="0">
              <a:buNone/>
            </a:pPr>
            <a:r>
              <a:rPr lang="en-US" sz="1300" dirty="0">
                <a:solidFill>
                  <a:srgbClr val="5B6573"/>
                </a:solidFill>
                <a:latin typeface="Calibri" pitchFamily="34" charset="0"/>
                <a:ea typeface="Calibri" pitchFamily="34" charset="-122"/>
                <a:cs typeface="Calibri" pitchFamily="34" charset="-120"/>
              </a:rPr>
              <a:t>   meta ≥ 50 %</a:t>
            </a:r>
            <a:endParaRPr lang="en-US" sz="1300" dirty="0"/>
          </a:p>
        </p:txBody>
      </p:sp>
      <p:sp>
        <p:nvSpPr>
          <p:cNvPr id="29" name="Shape 26"/>
          <p:cNvSpPr/>
          <p:nvPr/>
        </p:nvSpPr>
        <p:spPr>
          <a:xfrm>
            <a:off x="3538728" y="3959352"/>
            <a:ext cx="2304288" cy="0"/>
          </a:xfrm>
          <a:prstGeom prst="line">
            <a:avLst/>
          </a:prstGeom>
          <a:noFill/>
          <a:ln w="9525">
            <a:solidFill>
              <a:srgbClr val="DDE3EA"/>
            </a:solidFill>
            <a:prstDash val="solid"/>
          </a:ln>
        </p:spPr>
        <p:txBody>
          <a:bodyPr/>
          <a:p/>
        </p:txBody>
      </p:sp>
      <p:sp>
        <p:nvSpPr>
          <p:cNvPr id="30" name="Text 27"/>
          <p:cNvSpPr txBox="1"/>
          <p:nvPr/>
        </p:nvSpPr>
        <p:spPr>
          <a:xfrm>
            <a:off x="3538728" y="4114800"/>
            <a:ext cx="2304288" cy="274320"/>
          </a:xfrm>
          <a:prstGeom prst="rect">
            <a:avLst/>
          </a:prstGeom>
          <a:noFill/>
          <a:ln/>
        </p:spPr>
        <p:txBody>
          <a:bodyPr wrap="square" lIns="0" tIns="0" rIns="0" bIns="0" rtlCol="0" anchor="ctr"/>
          <a:lstStyle/>
          <a:p>
            <a:pPr indent="0" marL="0">
              <a:buNone/>
            </a:pPr>
            <a:r>
              <a:rPr lang="en-US" sz="1400" b="1" dirty="0">
                <a:solidFill>
                  <a:srgbClr val="1B1F24"/>
                </a:solidFill>
                <a:latin typeface="Calibri" pitchFamily="34" charset="0"/>
                <a:ea typeface="Calibri" pitchFamily="34" charset="-122"/>
                <a:cs typeface="Calibri" pitchFamily="34" charset="-120"/>
              </a:rPr>
              <a:t>Adopción de protección</a:t>
            </a:r>
            <a:endParaRPr lang="en-US" sz="1400" dirty="0"/>
          </a:p>
        </p:txBody>
      </p:sp>
      <p:sp>
        <p:nvSpPr>
          <p:cNvPr id="31" name="Text 28"/>
          <p:cNvSpPr txBox="1"/>
          <p:nvPr/>
        </p:nvSpPr>
        <p:spPr>
          <a:xfrm>
            <a:off x="3538728" y="4389120"/>
            <a:ext cx="2304288" cy="274320"/>
          </a:xfrm>
          <a:prstGeom prst="rect">
            <a:avLst/>
          </a:prstGeom>
          <a:noFill/>
          <a:ln/>
        </p:spPr>
        <p:txBody>
          <a:bodyPr wrap="square" lIns="0" tIns="0" rIns="0" bIns="0" rtlCol="0" anchor="ctr"/>
          <a:lstStyle/>
          <a:p>
            <a:pPr indent="0" marL="0">
              <a:buNone/>
            </a:pPr>
            <a:r>
              <a:rPr lang="en-US" sz="1300" b="1" dirty="0">
                <a:solidFill>
                  <a:srgbClr val="13294B"/>
                </a:solidFill>
                <a:latin typeface="Calibri" pitchFamily="34" charset="0"/>
                <a:ea typeface="Calibri" pitchFamily="34" charset="-122"/>
                <a:cs typeface="Calibri" pitchFamily="34" charset="-120"/>
              </a:rPr>
              <a:t>53,7 %</a:t>
            </a:r>
            <a:pPr indent="0" marL="0">
              <a:buNone/>
            </a:pPr>
            <a:r>
              <a:rPr lang="en-US" sz="1300" dirty="0">
                <a:solidFill>
                  <a:srgbClr val="5B6573"/>
                </a:solidFill>
                <a:latin typeface="Calibri" pitchFamily="34" charset="0"/>
                <a:ea typeface="Calibri" pitchFamily="34" charset="-122"/>
                <a:cs typeface="Calibri" pitchFamily="34" charset="-120"/>
              </a:rPr>
              <a:t>   meta ≥ 58,7 %</a:t>
            </a:r>
            <a:endParaRPr lang="en-US" sz="1300" dirty="0"/>
          </a:p>
        </p:txBody>
      </p:sp>
      <p:sp>
        <p:nvSpPr>
          <p:cNvPr id="32" name="Shape 29"/>
          <p:cNvSpPr/>
          <p:nvPr/>
        </p:nvSpPr>
        <p:spPr>
          <a:xfrm>
            <a:off x="3538728" y="4828032"/>
            <a:ext cx="2304288" cy="0"/>
          </a:xfrm>
          <a:prstGeom prst="line">
            <a:avLst/>
          </a:prstGeom>
          <a:noFill/>
          <a:ln w="9525">
            <a:solidFill>
              <a:srgbClr val="DDE3EA"/>
            </a:solidFill>
            <a:prstDash val="solid"/>
          </a:ln>
        </p:spPr>
        <p:txBody>
          <a:bodyPr/>
          <a:p/>
        </p:txBody>
      </p:sp>
      <p:sp>
        <p:nvSpPr>
          <p:cNvPr id="33" name="Text 30"/>
          <p:cNvSpPr txBox="1"/>
          <p:nvPr/>
        </p:nvSpPr>
        <p:spPr>
          <a:xfrm>
            <a:off x="3538728" y="4983480"/>
            <a:ext cx="2304288" cy="274320"/>
          </a:xfrm>
          <a:prstGeom prst="rect">
            <a:avLst/>
          </a:prstGeom>
          <a:noFill/>
          <a:ln/>
        </p:spPr>
        <p:txBody>
          <a:bodyPr wrap="square" lIns="0" tIns="0" rIns="0" bIns="0" rtlCol="0" anchor="ctr"/>
          <a:lstStyle/>
          <a:p>
            <a:pPr indent="0" marL="0">
              <a:buNone/>
            </a:pPr>
            <a:r>
              <a:rPr lang="en-US" sz="1400" b="1" dirty="0">
                <a:solidFill>
                  <a:srgbClr val="1B1F24"/>
                </a:solidFill>
                <a:latin typeface="Calibri" pitchFamily="34" charset="0"/>
                <a:ea typeface="Calibri" pitchFamily="34" charset="-122"/>
                <a:cs typeface="Calibri" pitchFamily="34" charset="-120"/>
              </a:rPr>
              <a:t>MRR activo riesgo alto</a:t>
            </a:r>
            <a:endParaRPr lang="en-US" sz="1400" dirty="0"/>
          </a:p>
        </p:txBody>
      </p:sp>
      <p:sp>
        <p:nvSpPr>
          <p:cNvPr id="34" name="Text 31"/>
          <p:cNvSpPr txBox="1"/>
          <p:nvPr/>
        </p:nvSpPr>
        <p:spPr>
          <a:xfrm>
            <a:off x="3538728" y="5257800"/>
            <a:ext cx="2304288" cy="274320"/>
          </a:xfrm>
          <a:prstGeom prst="rect">
            <a:avLst/>
          </a:prstGeom>
          <a:noFill/>
          <a:ln/>
        </p:spPr>
        <p:txBody>
          <a:bodyPr wrap="square" lIns="0" tIns="0" rIns="0" bIns="0" rtlCol="0" anchor="ctr"/>
          <a:lstStyle/>
          <a:p>
            <a:pPr indent="0" marL="0">
              <a:buNone/>
            </a:pPr>
            <a:r>
              <a:rPr lang="en-US" sz="1300" b="1" dirty="0">
                <a:solidFill>
                  <a:srgbClr val="13294B"/>
                </a:solidFill>
                <a:latin typeface="Calibri" pitchFamily="34" charset="0"/>
                <a:ea typeface="Calibri" pitchFamily="34" charset="-122"/>
                <a:cs typeface="Calibri" pitchFamily="34" charset="-120"/>
              </a:rPr>
              <a:t>USD 64 mil</a:t>
            </a:r>
            <a:pPr indent="0" marL="0">
              <a:buNone/>
            </a:pPr>
            <a:r>
              <a:rPr lang="en-US" sz="1300" dirty="0">
                <a:solidFill>
                  <a:srgbClr val="5B6573"/>
                </a:solidFill>
                <a:latin typeface="Calibri" pitchFamily="34" charset="0"/>
                <a:ea typeface="Calibri" pitchFamily="34" charset="-122"/>
                <a:cs typeface="Calibri" pitchFamily="34" charset="-120"/>
              </a:rPr>
              <a:t>   meta −15 %</a:t>
            </a:r>
            <a:endParaRPr lang="en-US" sz="1300" dirty="0"/>
          </a:p>
        </p:txBody>
      </p:sp>
      <p:sp>
        <p:nvSpPr>
          <p:cNvPr id="35" name="Shape 32"/>
          <p:cNvSpPr/>
          <p:nvPr/>
        </p:nvSpPr>
        <p:spPr>
          <a:xfrm>
            <a:off x="6163056" y="1417320"/>
            <a:ext cx="2670048" cy="4526280"/>
          </a:xfrm>
          <a:prstGeom prst="roundRect">
            <a:avLst>
              <a:gd name="adj" fmla="val 2740"/>
            </a:avLst>
          </a:prstGeom>
          <a:solidFill>
            <a:srgbClr val="F3F5F8"/>
          </a:solidFill>
          <a:ln w="12700">
            <a:solidFill>
              <a:srgbClr val="F3F5F8"/>
            </a:solidFill>
            <a:prstDash val="solid"/>
          </a:ln>
        </p:spPr>
        <p:txBody>
          <a:bodyPr/>
          <a:p/>
        </p:txBody>
      </p:sp>
      <p:sp>
        <p:nvSpPr>
          <p:cNvPr id="36" name="Shape 33"/>
          <p:cNvSpPr/>
          <p:nvPr/>
        </p:nvSpPr>
        <p:spPr>
          <a:xfrm>
            <a:off x="6163056" y="1417320"/>
            <a:ext cx="2670048" cy="777240"/>
          </a:xfrm>
          <a:prstGeom prst="roundRect">
            <a:avLst>
              <a:gd name="adj" fmla="val 9412"/>
            </a:avLst>
          </a:prstGeom>
          <a:solidFill>
            <a:srgbClr val="1BAF7A"/>
          </a:solidFill>
          <a:ln w="12700">
            <a:solidFill>
              <a:srgbClr val="1BAF7A"/>
            </a:solidFill>
            <a:prstDash val="solid"/>
          </a:ln>
        </p:spPr>
        <p:txBody>
          <a:bodyPr/>
          <a:p/>
        </p:txBody>
      </p:sp>
      <p:sp>
        <p:nvSpPr>
          <p:cNvPr id="37" name="Shape 34"/>
          <p:cNvSpPr/>
          <p:nvPr/>
        </p:nvSpPr>
        <p:spPr>
          <a:xfrm>
            <a:off x="6163056" y="1965960"/>
            <a:ext cx="2670048" cy="228600"/>
          </a:xfrm>
          <a:prstGeom prst="rect">
            <a:avLst/>
          </a:prstGeom>
          <a:solidFill>
            <a:srgbClr val="1BAF7A"/>
          </a:solidFill>
          <a:ln w="12700">
            <a:solidFill>
              <a:srgbClr val="1BAF7A"/>
            </a:solidFill>
            <a:prstDash val="solid"/>
          </a:ln>
        </p:spPr>
        <p:txBody>
          <a:bodyPr/>
          <a:p/>
        </p:txBody>
      </p:sp>
      <p:sp>
        <p:nvSpPr>
          <p:cNvPr id="38" name="Text 35"/>
          <p:cNvSpPr txBox="1"/>
          <p:nvPr/>
        </p:nvSpPr>
        <p:spPr>
          <a:xfrm>
            <a:off x="6345936" y="1417320"/>
            <a:ext cx="2304288" cy="7772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Diagnósticos</a:t>
            </a:r>
            <a:endParaRPr lang="en-US" sz="1700" dirty="0"/>
          </a:p>
          <a:p>
            <a:pPr indent="0" marL="0">
              <a:buNone/>
            </a:pPr>
            <a:r>
              <a:rPr lang="en-US" sz="1200" dirty="0">
                <a:solidFill>
                  <a:srgbClr val="FFFFFF"/>
                </a:solidFill>
                <a:latin typeface="Calibri" pitchFamily="34" charset="0"/>
                <a:ea typeface="Calibri" pitchFamily="34" charset="-122"/>
                <a:cs typeface="Calibri" pitchFamily="34" charset="-120"/>
              </a:rPr>
              <a:t>Analítica · mensual</a:t>
            </a:r>
            <a:endParaRPr lang="en-US" sz="1700" dirty="0"/>
          </a:p>
        </p:txBody>
      </p:sp>
      <p:sp>
        <p:nvSpPr>
          <p:cNvPr id="39" name="Text 36"/>
          <p:cNvSpPr txBox="1"/>
          <p:nvPr/>
        </p:nvSpPr>
        <p:spPr>
          <a:xfrm>
            <a:off x="6345936" y="2377440"/>
            <a:ext cx="2304288" cy="274320"/>
          </a:xfrm>
          <a:prstGeom prst="rect">
            <a:avLst/>
          </a:prstGeom>
          <a:noFill/>
          <a:ln/>
        </p:spPr>
        <p:txBody>
          <a:bodyPr wrap="square" lIns="0" tIns="0" rIns="0" bIns="0" rtlCol="0" anchor="ctr"/>
          <a:lstStyle/>
          <a:p>
            <a:pPr indent="0" marL="0">
              <a:buNone/>
            </a:pPr>
            <a:r>
              <a:rPr lang="en-US" sz="1400" b="1" dirty="0">
                <a:solidFill>
                  <a:srgbClr val="1B1F24"/>
                </a:solidFill>
                <a:latin typeface="Calibri" pitchFamily="34" charset="0"/>
                <a:ea typeface="Calibri" pitchFamily="34" charset="-122"/>
                <a:cs typeface="Calibri" pitchFamily="34" charset="-120"/>
              </a:rPr>
              <a:t>Churn por segmento</a:t>
            </a:r>
            <a:endParaRPr lang="en-US" sz="1400" dirty="0"/>
          </a:p>
        </p:txBody>
      </p:sp>
      <p:sp>
        <p:nvSpPr>
          <p:cNvPr id="40" name="Text 37"/>
          <p:cNvSpPr txBox="1"/>
          <p:nvPr/>
        </p:nvSpPr>
        <p:spPr>
          <a:xfrm>
            <a:off x="6345936" y="2651760"/>
            <a:ext cx="2304288" cy="274320"/>
          </a:xfrm>
          <a:prstGeom prst="rect">
            <a:avLst/>
          </a:prstGeom>
          <a:noFill/>
          <a:ln/>
        </p:spPr>
        <p:txBody>
          <a:bodyPr wrap="square" lIns="0" tIns="0" rIns="0" bIns="0" rtlCol="0" anchor="ctr"/>
          <a:lstStyle/>
          <a:p>
            <a:pPr indent="0" marL="0">
              <a:buNone/>
            </a:pPr>
            <a:r>
              <a:rPr lang="en-US" sz="1300" b="1" dirty="0">
                <a:solidFill>
                  <a:srgbClr val="13294B"/>
                </a:solidFill>
                <a:latin typeface="Calibri" pitchFamily="34" charset="0"/>
                <a:ea typeface="Calibri" pitchFamily="34" charset="-122"/>
                <a:cs typeface="Calibri" pitchFamily="34" charset="-120"/>
              </a:rPr>
              <a:t>contrato, servicio, pago</a:t>
            </a:r>
            <a:pPr indent="0" marL="0">
              <a:buNone/>
            </a:pPr>
            <a:endParaRPr lang="en-US" sz="1300" dirty="0"/>
          </a:p>
        </p:txBody>
      </p:sp>
      <p:sp>
        <p:nvSpPr>
          <p:cNvPr id="41" name="Shape 38"/>
          <p:cNvSpPr/>
          <p:nvPr/>
        </p:nvSpPr>
        <p:spPr>
          <a:xfrm>
            <a:off x="6345936" y="3090672"/>
            <a:ext cx="2304288" cy="0"/>
          </a:xfrm>
          <a:prstGeom prst="line">
            <a:avLst/>
          </a:prstGeom>
          <a:noFill/>
          <a:ln w="9525">
            <a:solidFill>
              <a:srgbClr val="DDE3EA"/>
            </a:solidFill>
            <a:prstDash val="solid"/>
          </a:ln>
        </p:spPr>
        <p:txBody>
          <a:bodyPr/>
          <a:p/>
        </p:txBody>
      </p:sp>
      <p:sp>
        <p:nvSpPr>
          <p:cNvPr id="42" name="Text 39"/>
          <p:cNvSpPr txBox="1"/>
          <p:nvPr/>
        </p:nvSpPr>
        <p:spPr>
          <a:xfrm>
            <a:off x="6345936" y="3246120"/>
            <a:ext cx="2304288" cy="274320"/>
          </a:xfrm>
          <a:prstGeom prst="rect">
            <a:avLst/>
          </a:prstGeom>
          <a:noFill/>
          <a:ln/>
        </p:spPr>
        <p:txBody>
          <a:bodyPr wrap="square" lIns="0" tIns="0" rIns="0" bIns="0" rtlCol="0" anchor="ctr"/>
          <a:lstStyle/>
          <a:p>
            <a:pPr indent="0" marL="0">
              <a:buNone/>
            </a:pPr>
            <a:r>
              <a:rPr lang="en-US" sz="1400" b="1" dirty="0">
                <a:solidFill>
                  <a:srgbClr val="1B1F24"/>
                </a:solidFill>
                <a:latin typeface="Calibri" pitchFamily="34" charset="0"/>
                <a:ea typeface="Calibri" pitchFamily="34" charset="-122"/>
                <a:cs typeface="Calibri" pitchFamily="34" charset="-120"/>
              </a:rPr>
              <a:t>Odds ratios ajustados</a:t>
            </a:r>
            <a:endParaRPr lang="en-US" sz="1400" dirty="0"/>
          </a:p>
        </p:txBody>
      </p:sp>
      <p:sp>
        <p:nvSpPr>
          <p:cNvPr id="43" name="Text 40"/>
          <p:cNvSpPr txBox="1"/>
          <p:nvPr/>
        </p:nvSpPr>
        <p:spPr>
          <a:xfrm>
            <a:off x="6345936" y="3520440"/>
            <a:ext cx="2304288" cy="274320"/>
          </a:xfrm>
          <a:prstGeom prst="rect">
            <a:avLst/>
          </a:prstGeom>
          <a:noFill/>
          <a:ln/>
        </p:spPr>
        <p:txBody>
          <a:bodyPr wrap="square" lIns="0" tIns="0" rIns="0" bIns="0" rtlCol="0" anchor="ctr"/>
          <a:lstStyle/>
          <a:p>
            <a:pPr indent="0" marL="0">
              <a:buNone/>
            </a:pPr>
            <a:r>
              <a:rPr lang="en-US" sz="1300" b="1" dirty="0">
                <a:solidFill>
                  <a:srgbClr val="13294B"/>
                </a:solidFill>
                <a:latin typeface="Calibri" pitchFamily="34" charset="0"/>
                <a:ea typeface="Calibri" pitchFamily="34" charset="-122"/>
                <a:cs typeface="Calibri" pitchFamily="34" charset="-120"/>
              </a:rPr>
              <a:t>modelo logístico</a:t>
            </a:r>
            <a:pPr indent="0" marL="0">
              <a:buNone/>
            </a:pPr>
            <a:endParaRPr lang="en-US" sz="1300" dirty="0"/>
          </a:p>
        </p:txBody>
      </p:sp>
      <p:sp>
        <p:nvSpPr>
          <p:cNvPr id="44" name="Shape 41"/>
          <p:cNvSpPr/>
          <p:nvPr/>
        </p:nvSpPr>
        <p:spPr>
          <a:xfrm>
            <a:off x="6345936" y="3959352"/>
            <a:ext cx="2304288" cy="0"/>
          </a:xfrm>
          <a:prstGeom prst="line">
            <a:avLst/>
          </a:prstGeom>
          <a:noFill/>
          <a:ln w="9525">
            <a:solidFill>
              <a:srgbClr val="DDE3EA"/>
            </a:solidFill>
            <a:prstDash val="solid"/>
          </a:ln>
        </p:spPr>
        <p:txBody>
          <a:bodyPr/>
          <a:p/>
        </p:txBody>
      </p:sp>
      <p:sp>
        <p:nvSpPr>
          <p:cNvPr id="45" name="Text 42"/>
          <p:cNvSpPr txBox="1"/>
          <p:nvPr/>
        </p:nvSpPr>
        <p:spPr>
          <a:xfrm>
            <a:off x="6345936" y="4114800"/>
            <a:ext cx="2304288" cy="274320"/>
          </a:xfrm>
          <a:prstGeom prst="rect">
            <a:avLst/>
          </a:prstGeom>
          <a:noFill/>
          <a:ln/>
        </p:spPr>
        <p:txBody>
          <a:bodyPr wrap="square" lIns="0" tIns="0" rIns="0" bIns="0" rtlCol="0" anchor="ctr"/>
          <a:lstStyle/>
          <a:p>
            <a:pPr indent="0" marL="0">
              <a:buNone/>
            </a:pPr>
            <a:r>
              <a:rPr lang="en-US" sz="1400" b="1" dirty="0">
                <a:solidFill>
                  <a:srgbClr val="1B1F24"/>
                </a:solidFill>
                <a:latin typeface="Calibri" pitchFamily="34" charset="0"/>
                <a:ea typeface="Calibri" pitchFamily="34" charset="-122"/>
                <a:cs typeface="Calibri" pitchFamily="34" charset="-120"/>
              </a:rPr>
              <a:t>ARPU que se va vs. activo</a:t>
            </a:r>
            <a:endParaRPr lang="en-US" sz="1400" dirty="0"/>
          </a:p>
        </p:txBody>
      </p:sp>
      <p:sp>
        <p:nvSpPr>
          <p:cNvPr id="46" name="Text 43"/>
          <p:cNvSpPr txBox="1"/>
          <p:nvPr/>
        </p:nvSpPr>
        <p:spPr>
          <a:xfrm>
            <a:off x="6345936" y="4389120"/>
            <a:ext cx="2304288" cy="274320"/>
          </a:xfrm>
          <a:prstGeom prst="rect">
            <a:avLst/>
          </a:prstGeom>
          <a:noFill/>
          <a:ln/>
        </p:spPr>
        <p:txBody>
          <a:bodyPr wrap="square" lIns="0" tIns="0" rIns="0" bIns="0" rtlCol="0" anchor="ctr"/>
          <a:lstStyle/>
          <a:p>
            <a:pPr indent="0" marL="0">
              <a:buNone/>
            </a:pPr>
            <a:r>
              <a:rPr lang="en-US" sz="1300" b="1" dirty="0">
                <a:solidFill>
                  <a:srgbClr val="13294B"/>
                </a:solidFill>
                <a:latin typeface="Calibri" pitchFamily="34" charset="0"/>
                <a:ea typeface="Calibri" pitchFamily="34" charset="-122"/>
                <a:cs typeface="Calibri" pitchFamily="34" charset="-120"/>
              </a:rPr>
              <a:t>74,44 vs. 61,27</a:t>
            </a:r>
            <a:pPr indent="0" marL="0">
              <a:buNone/>
            </a:pPr>
            <a:endParaRPr lang="en-US" sz="1300" dirty="0"/>
          </a:p>
        </p:txBody>
      </p:sp>
      <p:sp>
        <p:nvSpPr>
          <p:cNvPr id="47" name="Shape 44"/>
          <p:cNvSpPr/>
          <p:nvPr/>
        </p:nvSpPr>
        <p:spPr>
          <a:xfrm>
            <a:off x="6345936" y="4828032"/>
            <a:ext cx="2304288" cy="0"/>
          </a:xfrm>
          <a:prstGeom prst="line">
            <a:avLst/>
          </a:prstGeom>
          <a:noFill/>
          <a:ln w="9525">
            <a:solidFill>
              <a:srgbClr val="DDE3EA"/>
            </a:solidFill>
            <a:prstDash val="solid"/>
          </a:ln>
        </p:spPr>
        <p:txBody>
          <a:bodyPr/>
          <a:p/>
        </p:txBody>
      </p:sp>
      <p:sp>
        <p:nvSpPr>
          <p:cNvPr id="48" name="Text 45"/>
          <p:cNvSpPr txBox="1"/>
          <p:nvPr/>
        </p:nvSpPr>
        <p:spPr>
          <a:xfrm>
            <a:off x="6345936" y="4983480"/>
            <a:ext cx="2304288" cy="274320"/>
          </a:xfrm>
          <a:prstGeom prst="rect">
            <a:avLst/>
          </a:prstGeom>
          <a:noFill/>
          <a:ln/>
        </p:spPr>
        <p:txBody>
          <a:bodyPr wrap="square" lIns="0" tIns="0" rIns="0" bIns="0" rtlCol="0" anchor="ctr"/>
          <a:lstStyle/>
          <a:p>
            <a:pPr indent="0" marL="0">
              <a:buNone/>
            </a:pPr>
            <a:r>
              <a:rPr lang="en-US" sz="1400" b="1" dirty="0">
                <a:solidFill>
                  <a:srgbClr val="1B1F24"/>
                </a:solidFill>
                <a:latin typeface="Calibri" pitchFamily="34" charset="0"/>
                <a:ea typeface="Calibri" pitchFamily="34" charset="-122"/>
                <a:cs typeface="Calibri" pitchFamily="34" charset="-120"/>
              </a:rPr>
              <a:t>Score de riesgo (AUC)</a:t>
            </a:r>
            <a:endParaRPr lang="en-US" sz="1400" dirty="0"/>
          </a:p>
        </p:txBody>
      </p:sp>
      <p:sp>
        <p:nvSpPr>
          <p:cNvPr id="49" name="Text 46"/>
          <p:cNvSpPr txBox="1"/>
          <p:nvPr/>
        </p:nvSpPr>
        <p:spPr>
          <a:xfrm>
            <a:off x="6345936" y="5257800"/>
            <a:ext cx="2304288" cy="274320"/>
          </a:xfrm>
          <a:prstGeom prst="rect">
            <a:avLst/>
          </a:prstGeom>
          <a:noFill/>
          <a:ln/>
        </p:spPr>
        <p:txBody>
          <a:bodyPr wrap="square" lIns="0" tIns="0" rIns="0" bIns="0" rtlCol="0" anchor="ctr"/>
          <a:lstStyle/>
          <a:p>
            <a:pPr indent="0" marL="0">
              <a:buNone/>
            </a:pPr>
            <a:r>
              <a:rPr lang="en-US" sz="1300" b="1" dirty="0">
                <a:solidFill>
                  <a:srgbClr val="13294B"/>
                </a:solidFill>
                <a:latin typeface="Calibri" pitchFamily="34" charset="0"/>
                <a:ea typeface="Calibri" pitchFamily="34" charset="-122"/>
                <a:cs typeface="Calibri" pitchFamily="34" charset="-120"/>
              </a:rPr>
              <a:t>0,85</a:t>
            </a:r>
            <a:pPr indent="0" marL="0">
              <a:buNone/>
            </a:pPr>
            <a:endParaRPr lang="en-US" sz="1300" dirty="0"/>
          </a:p>
        </p:txBody>
      </p:sp>
      <p:sp>
        <p:nvSpPr>
          <p:cNvPr id="50" name="Shape 47"/>
          <p:cNvSpPr/>
          <p:nvPr/>
        </p:nvSpPr>
        <p:spPr>
          <a:xfrm>
            <a:off x="8970264" y="1417320"/>
            <a:ext cx="2670048" cy="4526280"/>
          </a:xfrm>
          <a:prstGeom prst="roundRect">
            <a:avLst>
              <a:gd name="adj" fmla="val 2740"/>
            </a:avLst>
          </a:prstGeom>
          <a:solidFill>
            <a:srgbClr val="F3F5F8"/>
          </a:solidFill>
          <a:ln w="12700">
            <a:solidFill>
              <a:srgbClr val="F3F5F8"/>
            </a:solidFill>
            <a:prstDash val="solid"/>
          </a:ln>
        </p:spPr>
        <p:txBody>
          <a:bodyPr/>
          <a:p/>
        </p:txBody>
      </p:sp>
      <p:sp>
        <p:nvSpPr>
          <p:cNvPr id="51" name="Shape 48"/>
          <p:cNvSpPr/>
          <p:nvPr/>
        </p:nvSpPr>
        <p:spPr>
          <a:xfrm>
            <a:off x="8970264" y="1417320"/>
            <a:ext cx="2670048" cy="777240"/>
          </a:xfrm>
          <a:prstGeom prst="roundRect">
            <a:avLst>
              <a:gd name="adj" fmla="val 9412"/>
            </a:avLst>
          </a:prstGeom>
          <a:solidFill>
            <a:srgbClr val="EB6834"/>
          </a:solidFill>
          <a:ln w="12700">
            <a:solidFill>
              <a:srgbClr val="EB6834"/>
            </a:solidFill>
            <a:prstDash val="solid"/>
          </a:ln>
        </p:spPr>
        <p:txBody>
          <a:bodyPr/>
          <a:p/>
        </p:txBody>
      </p:sp>
      <p:sp>
        <p:nvSpPr>
          <p:cNvPr id="52" name="Shape 49"/>
          <p:cNvSpPr/>
          <p:nvPr/>
        </p:nvSpPr>
        <p:spPr>
          <a:xfrm>
            <a:off x="8970264" y="1965960"/>
            <a:ext cx="2670048" cy="228600"/>
          </a:xfrm>
          <a:prstGeom prst="rect">
            <a:avLst/>
          </a:prstGeom>
          <a:solidFill>
            <a:srgbClr val="EB6834"/>
          </a:solidFill>
          <a:ln w="12700">
            <a:solidFill>
              <a:srgbClr val="EB6834"/>
            </a:solidFill>
            <a:prstDash val="solid"/>
          </a:ln>
        </p:spPr>
        <p:txBody>
          <a:bodyPr/>
          <a:p/>
        </p:txBody>
      </p:sp>
      <p:sp>
        <p:nvSpPr>
          <p:cNvPr id="53" name="Text 50"/>
          <p:cNvSpPr txBox="1"/>
          <p:nvPr/>
        </p:nvSpPr>
        <p:spPr>
          <a:xfrm>
            <a:off x="9153144" y="1417320"/>
            <a:ext cx="2304288" cy="7772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Balance</a:t>
            </a:r>
            <a:endParaRPr lang="en-US" sz="1700" dirty="0"/>
          </a:p>
          <a:p>
            <a:pPr indent="0" marL="0">
              <a:buNone/>
            </a:pPr>
            <a:r>
              <a:rPr lang="en-US" sz="1200" dirty="0">
                <a:solidFill>
                  <a:srgbClr val="FFFFFF"/>
                </a:solidFill>
                <a:latin typeface="Calibri" pitchFamily="34" charset="0"/>
                <a:ea typeface="Calibri" pitchFamily="34" charset="-122"/>
                <a:cs typeface="Calibri" pitchFamily="34" charset="-120"/>
              </a:rPr>
              <a:t>CFO · mensual / trimestral</a:t>
            </a:r>
            <a:endParaRPr lang="en-US" sz="1700" dirty="0"/>
          </a:p>
        </p:txBody>
      </p:sp>
      <p:sp>
        <p:nvSpPr>
          <p:cNvPr id="54" name="Text 51"/>
          <p:cNvSpPr txBox="1"/>
          <p:nvPr/>
        </p:nvSpPr>
        <p:spPr>
          <a:xfrm>
            <a:off x="9153144" y="2377440"/>
            <a:ext cx="2304288" cy="274320"/>
          </a:xfrm>
          <a:prstGeom prst="rect">
            <a:avLst/>
          </a:prstGeom>
          <a:noFill/>
          <a:ln/>
        </p:spPr>
        <p:txBody>
          <a:bodyPr wrap="square" lIns="0" tIns="0" rIns="0" bIns="0" rtlCol="0" anchor="ctr"/>
          <a:lstStyle/>
          <a:p>
            <a:pPr indent="0" marL="0">
              <a:buNone/>
            </a:pPr>
            <a:r>
              <a:rPr lang="en-US" sz="1400" b="1" dirty="0">
                <a:solidFill>
                  <a:srgbClr val="1B1F24"/>
                </a:solidFill>
                <a:latin typeface="Calibri" pitchFamily="34" charset="0"/>
                <a:ea typeface="Calibri" pitchFamily="34" charset="-122"/>
                <a:cs typeface="Calibri" pitchFamily="34" charset="-120"/>
              </a:rPr>
              <a:t>ARPU</a:t>
            </a:r>
            <a:endParaRPr lang="en-US" sz="1400" dirty="0"/>
          </a:p>
        </p:txBody>
      </p:sp>
      <p:sp>
        <p:nvSpPr>
          <p:cNvPr id="55" name="Text 52"/>
          <p:cNvSpPr txBox="1"/>
          <p:nvPr/>
        </p:nvSpPr>
        <p:spPr>
          <a:xfrm>
            <a:off x="9153144" y="2651760"/>
            <a:ext cx="2304288" cy="274320"/>
          </a:xfrm>
          <a:prstGeom prst="rect">
            <a:avLst/>
          </a:prstGeom>
          <a:noFill/>
          <a:ln/>
        </p:spPr>
        <p:txBody>
          <a:bodyPr wrap="square" lIns="0" tIns="0" rIns="0" bIns="0" rtlCol="0" anchor="ctr"/>
          <a:lstStyle/>
          <a:p>
            <a:pPr indent="0" marL="0">
              <a:buNone/>
            </a:pPr>
            <a:r>
              <a:rPr lang="en-US" sz="1300" b="1" dirty="0">
                <a:solidFill>
                  <a:srgbClr val="13294B"/>
                </a:solidFill>
                <a:latin typeface="Calibri" pitchFamily="34" charset="0"/>
                <a:ea typeface="Calibri" pitchFamily="34" charset="-122"/>
                <a:cs typeface="Calibri" pitchFamily="34" charset="-120"/>
              </a:rPr>
              <a:t>USD 64,76</a:t>
            </a:r>
            <a:pPr indent="0" marL="0">
              <a:buNone/>
            </a:pPr>
            <a:r>
              <a:rPr lang="en-US" sz="1300" dirty="0">
                <a:solidFill>
                  <a:srgbClr val="5B6573"/>
                </a:solidFill>
                <a:latin typeface="Calibri" pitchFamily="34" charset="0"/>
                <a:ea typeface="Calibri" pitchFamily="34" charset="-122"/>
                <a:cs typeface="Calibri" pitchFamily="34" charset="-120"/>
              </a:rPr>
              <a:t>   meta ≥ USD 62,82</a:t>
            </a:r>
            <a:endParaRPr lang="en-US" sz="1300" dirty="0"/>
          </a:p>
        </p:txBody>
      </p:sp>
      <p:sp>
        <p:nvSpPr>
          <p:cNvPr id="56" name="Shape 53"/>
          <p:cNvSpPr/>
          <p:nvPr/>
        </p:nvSpPr>
        <p:spPr>
          <a:xfrm>
            <a:off x="9153144" y="3090672"/>
            <a:ext cx="2304288" cy="0"/>
          </a:xfrm>
          <a:prstGeom prst="line">
            <a:avLst/>
          </a:prstGeom>
          <a:noFill/>
          <a:ln w="9525">
            <a:solidFill>
              <a:srgbClr val="DDE3EA"/>
            </a:solidFill>
            <a:prstDash val="solid"/>
          </a:ln>
        </p:spPr>
        <p:txBody>
          <a:bodyPr/>
          <a:p/>
        </p:txBody>
      </p:sp>
      <p:sp>
        <p:nvSpPr>
          <p:cNvPr id="57" name="Text 54"/>
          <p:cNvSpPr txBox="1"/>
          <p:nvPr/>
        </p:nvSpPr>
        <p:spPr>
          <a:xfrm>
            <a:off x="9153144" y="3246120"/>
            <a:ext cx="2304288" cy="274320"/>
          </a:xfrm>
          <a:prstGeom prst="rect">
            <a:avLst/>
          </a:prstGeom>
          <a:noFill/>
          <a:ln/>
        </p:spPr>
        <p:txBody>
          <a:bodyPr wrap="square" lIns="0" tIns="0" rIns="0" bIns="0" rtlCol="0" anchor="ctr"/>
          <a:lstStyle/>
          <a:p>
            <a:pPr indent="0" marL="0">
              <a:buNone/>
            </a:pPr>
            <a:r>
              <a:rPr lang="en-US" sz="1400" b="1" dirty="0">
                <a:solidFill>
                  <a:srgbClr val="1B1F24"/>
                </a:solidFill>
                <a:latin typeface="Calibri" pitchFamily="34" charset="0"/>
                <a:ea typeface="Calibri" pitchFamily="34" charset="-122"/>
                <a:cs typeface="Calibri" pitchFamily="34" charset="-120"/>
              </a:rPr>
              <a:t>ROI del programa</a:t>
            </a:r>
            <a:endParaRPr lang="en-US" sz="1400" dirty="0"/>
          </a:p>
        </p:txBody>
      </p:sp>
      <p:sp>
        <p:nvSpPr>
          <p:cNvPr id="58" name="Text 55"/>
          <p:cNvSpPr txBox="1"/>
          <p:nvPr/>
        </p:nvSpPr>
        <p:spPr>
          <a:xfrm>
            <a:off x="9153144" y="3520440"/>
            <a:ext cx="2304288" cy="274320"/>
          </a:xfrm>
          <a:prstGeom prst="rect">
            <a:avLst/>
          </a:prstGeom>
          <a:noFill/>
          <a:ln/>
        </p:spPr>
        <p:txBody>
          <a:bodyPr wrap="square" lIns="0" tIns="0" rIns="0" bIns="0" rtlCol="0" anchor="ctr"/>
          <a:lstStyle/>
          <a:p>
            <a:pPr indent="0" marL="0">
              <a:buNone/>
            </a:pPr>
            <a:r>
              <a:rPr lang="en-US" sz="1300" b="1" dirty="0">
                <a:solidFill>
                  <a:srgbClr val="13294B"/>
                </a:solidFill>
                <a:latin typeface="Calibri" pitchFamily="34" charset="0"/>
                <a:ea typeface="Calibri" pitchFamily="34" charset="-122"/>
                <a:cs typeface="Calibri" pitchFamily="34" charset="-120"/>
              </a:rPr>
              <a:t>+179 % est.</a:t>
            </a:r>
            <a:pPr indent="0" marL="0">
              <a:buNone/>
            </a:pPr>
            <a:r>
              <a:rPr lang="en-US" sz="1300" dirty="0">
                <a:solidFill>
                  <a:srgbClr val="5B6573"/>
                </a:solidFill>
                <a:latin typeface="Calibri" pitchFamily="34" charset="0"/>
                <a:ea typeface="Calibri" pitchFamily="34" charset="-122"/>
                <a:cs typeface="Calibri" pitchFamily="34" charset="-120"/>
              </a:rPr>
              <a:t>   meta ≥ 0</a:t>
            </a:r>
            <a:endParaRPr lang="en-US" sz="1300" dirty="0"/>
          </a:p>
        </p:txBody>
      </p:sp>
      <p:sp>
        <p:nvSpPr>
          <p:cNvPr id="59" name="Shape 56"/>
          <p:cNvSpPr/>
          <p:nvPr/>
        </p:nvSpPr>
        <p:spPr>
          <a:xfrm>
            <a:off x="9153144" y="3959352"/>
            <a:ext cx="2304288" cy="0"/>
          </a:xfrm>
          <a:prstGeom prst="line">
            <a:avLst/>
          </a:prstGeom>
          <a:noFill/>
          <a:ln w="9525">
            <a:solidFill>
              <a:srgbClr val="DDE3EA"/>
            </a:solidFill>
            <a:prstDash val="solid"/>
          </a:ln>
        </p:spPr>
        <p:txBody>
          <a:bodyPr/>
          <a:p/>
        </p:txBody>
      </p:sp>
      <p:sp>
        <p:nvSpPr>
          <p:cNvPr id="60" name="Text 57"/>
          <p:cNvSpPr txBox="1"/>
          <p:nvPr/>
        </p:nvSpPr>
        <p:spPr>
          <a:xfrm>
            <a:off x="9153144" y="4114800"/>
            <a:ext cx="2304288" cy="274320"/>
          </a:xfrm>
          <a:prstGeom prst="rect">
            <a:avLst/>
          </a:prstGeom>
          <a:noFill/>
          <a:ln/>
        </p:spPr>
        <p:txBody>
          <a:bodyPr wrap="square" lIns="0" tIns="0" rIns="0" bIns="0" rtlCol="0" anchor="ctr"/>
          <a:lstStyle/>
          <a:p>
            <a:pPr indent="0" marL="0">
              <a:buNone/>
            </a:pPr>
            <a:r>
              <a:rPr lang="en-US" sz="1400" b="1" dirty="0">
                <a:solidFill>
                  <a:srgbClr val="1B1F24"/>
                </a:solidFill>
                <a:latin typeface="Calibri" pitchFamily="34" charset="0"/>
                <a:ea typeface="Calibri" pitchFamily="34" charset="-122"/>
                <a:cs typeface="Calibri" pitchFamily="34" charset="-120"/>
              </a:rPr>
              <a:t>Costo por salvado</a:t>
            </a:r>
            <a:endParaRPr lang="en-US" sz="1400" dirty="0"/>
          </a:p>
        </p:txBody>
      </p:sp>
      <p:sp>
        <p:nvSpPr>
          <p:cNvPr id="61" name="Text 58"/>
          <p:cNvSpPr txBox="1"/>
          <p:nvPr/>
        </p:nvSpPr>
        <p:spPr>
          <a:xfrm>
            <a:off x="9153144" y="4389120"/>
            <a:ext cx="2304288" cy="274320"/>
          </a:xfrm>
          <a:prstGeom prst="rect">
            <a:avLst/>
          </a:prstGeom>
          <a:noFill/>
          <a:ln/>
        </p:spPr>
        <p:txBody>
          <a:bodyPr wrap="square" lIns="0" tIns="0" rIns="0" bIns="0" rtlCol="0" anchor="ctr"/>
          <a:lstStyle/>
          <a:p>
            <a:pPr indent="0" marL="0">
              <a:buNone/>
            </a:pPr>
            <a:r>
              <a:rPr lang="en-US" sz="1300" b="1" dirty="0">
                <a:solidFill>
                  <a:srgbClr val="13294B"/>
                </a:solidFill>
                <a:latin typeface="Calibri" pitchFamily="34" charset="0"/>
                <a:ea typeface="Calibri" pitchFamily="34" charset="-122"/>
                <a:cs typeface="Calibri" pitchFamily="34" charset="-120"/>
              </a:rPr>
              <a:t>USD 184</a:t>
            </a:r>
            <a:pPr indent="0" marL="0">
              <a:buNone/>
            </a:pPr>
            <a:r>
              <a:rPr lang="en-US" sz="1300" dirty="0">
                <a:solidFill>
                  <a:srgbClr val="5B6573"/>
                </a:solidFill>
                <a:latin typeface="Calibri" pitchFamily="34" charset="0"/>
                <a:ea typeface="Calibri" pitchFamily="34" charset="-122"/>
                <a:cs typeface="Calibri" pitchFamily="34" charset="-120"/>
              </a:rPr>
              <a:t>   meta &lt; USD 200</a:t>
            </a:r>
            <a:endParaRPr lang="en-US" sz="1300" dirty="0"/>
          </a:p>
        </p:txBody>
      </p:sp>
      <p:sp>
        <p:nvSpPr>
          <p:cNvPr id="62" name="Text 59"/>
          <p:cNvSpPr txBox="1"/>
          <p:nvPr/>
        </p:nvSpPr>
        <p:spPr>
          <a:xfrm>
            <a:off x="548640" y="6053328"/>
            <a:ext cx="11091672" cy="310896"/>
          </a:xfrm>
          <a:prstGeom prst="rect">
            <a:avLst/>
          </a:prstGeom>
          <a:noFill/>
          <a:ln/>
        </p:spPr>
        <p:txBody>
          <a:bodyPr wrap="square" lIns="0" tIns="0" rIns="0" bIns="0" rtlCol="0" anchor="t"/>
          <a:lstStyle/>
          <a:p>
            <a:pPr indent="0" marL="0">
              <a:buNone/>
            </a:pPr>
            <a:r>
              <a:rPr lang="en-US" sz="1100" i="1" dirty="0">
                <a:solidFill>
                  <a:srgbClr val="5B6573"/>
                </a:solidFill>
                <a:latin typeface="Calibri" pitchFamily="34" charset="0"/>
                <a:ea typeface="Calibri" pitchFamily="34" charset="-122"/>
                <a:cs typeface="Calibri" pitchFamily="34" charset="-120"/>
              </a:rPr>
              <a:t>Frecuencia, dueño y umbrales de cada KPI: diccionario de métricas (Anexo A del informe) y página 5 del dashboard.</a:t>
            </a:r>
            <a:endParaRPr lang="en-US" sz="1100" dirty="0"/>
          </a:p>
        </p:txBody>
      </p:sp>
      <p:sp>
        <p:nvSpPr>
          <p:cNvPr id="25" name="Slide Number Placeholder 0"/>
          <p:cNvSpPr>
            <a:spLocks noGrp="1"/>
          </p:cNvSpPr>
          <p:nvPr>
            <p:ph type="sldNum" sz="quarter" idx="4294967295"/>
          </p:nvPr>
        </p:nvSpPr>
        <p:spPr>
          <a:xfrm>
            <a:off x="11091672"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5B657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164592"/>
            <a:ext cx="11091672" cy="256032"/>
          </a:xfrm>
          <a:prstGeom prst="rect">
            <a:avLst/>
          </a:prstGeom>
          <a:noFill/>
          <a:ln/>
        </p:spPr>
        <p:txBody>
          <a:bodyPr wrap="square" lIns="0" tIns="0" rIns="0" bIns="0" rtlCol="0" anchor="ctr"/>
          <a:lstStyle/>
          <a:p>
            <a:pPr indent="0" marL="0">
              <a:buNone/>
            </a:pPr>
            <a:r>
              <a:rPr lang="en-US" sz="1100" b="1" spc="50" kern="0" dirty="0">
                <a:solidFill>
                  <a:srgbClr val="2A78D6"/>
                </a:solidFill>
                <a:latin typeface="Calibri" pitchFamily="34" charset="0"/>
                <a:ea typeface="Calibri" pitchFamily="34" charset="-122"/>
                <a:cs typeface="Calibri" pitchFamily="34" charset="-120"/>
              </a:rPr>
              <a:t>02 · SISTEMA DE MÉTRICAS Y DATOS</a:t>
            </a:r>
            <a:pPr indent="0" marL="0">
              <a:buNone/>
            </a:pPr>
            <a:endParaRPr lang="en-US" sz="1100" dirty="0"/>
          </a:p>
        </p:txBody>
      </p:sp>
      <p:sp>
        <p:nvSpPr>
          <p:cNvPr id="3" name="Text 0"/>
          <p:cNvSpPr/>
          <p:nvPr>
            <p:ph idx="100" type="title" hasCustomPrompt="1"/>
          </p:nvPr>
        </p:nvSpPr>
        <p:spPr>
          <a:xfrm>
            <a:off x="548640" y="457200"/>
            <a:ext cx="11091672" cy="841248"/>
          </a:xfrm>
          <a:prstGeom prst="rect">
            <a:avLst/>
          </a:prstGeom>
          <a:noFill/>
          <a:ln/>
        </p:spPr>
        <p:txBody>
          <a:bodyPr wrap="square" lIns="0" tIns="0" rIns="0" bIns="0" rtlCol="0" anchor="t"/>
          <a:lstStyle/>
          <a:p>
            <a:pPr algn="l" indent="0" marL="0">
              <a:buNone/>
            </a:pPr>
            <a:r>
              <a:rPr lang="en-US" sz="2400" b="1" dirty="0">
                <a:solidFill>
                  <a:srgbClr val="13294B"/>
                </a:solidFill>
                <a:latin typeface="Cambria" pitchFamily="34" charset="0"/>
                <a:ea typeface="Cambria" pitchFamily="34" charset="-122"/>
                <a:cs typeface="Cambria" pitchFamily="34" charset="-120"/>
              </a:rPr>
              <a:t>Cada métrica tiene una definición reproducible: fórmula, ventana, fuente, meta y dueño</a:t>
            </a:r>
            <a:endParaRPr lang="en-US" sz="2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2011680"/>
                <a:gridCol w="4937760"/>
              </a:tblGrid>
              <a:tr h="0">
                <a:tc gridSpan="2">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Ficha técnica · % MRR retenido (North Star)</a:t>
                      </a:r>
                      <a:endParaRPr lang="en-US" sz="14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13294B"/>
                    </a:solidFill>
                  </a:tcPr>
                </a:tc>
                <a:tc hMerge="1">
                  <a:tcPr/>
                </a:tc>
              </a:tr>
              <a:tr h="0">
                <a:tc>
                  <a:txBody>
                    <a:bodyPr/>
                    <a:lstStyle/>
                    <a:p>
                      <a:pPr indent="0" marL="0">
                        <a:buNone/>
                      </a:pPr>
                      <a:r>
                        <a:rPr lang="en-US" sz="1200" b="1" dirty="0">
                          <a:solidFill>
                            <a:srgbClr val="13294B"/>
                          </a:solidFill>
                          <a:latin typeface="Calibri" pitchFamily="34" charset="0"/>
                          <a:ea typeface="Calibri" pitchFamily="34" charset="-122"/>
                          <a:cs typeface="Calibri" pitchFamily="34" charset="-120"/>
                        </a:rPr>
                        <a:t>Tipo</a:t>
                      </a:r>
                      <a:endParaRPr lang="en-US" sz="12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indent="0" marL="0">
                        <a:buNone/>
                      </a:pPr>
                      <a:r>
                        <a:rPr lang="en-US" sz="1200" dirty="0">
                          <a:solidFill>
                            <a:srgbClr val="1B1F24"/>
                          </a:solidFill>
                          <a:latin typeface="Calibri" pitchFamily="34" charset="0"/>
                          <a:ea typeface="Calibri" pitchFamily="34" charset="-122"/>
                          <a:cs typeface="Calibri" pitchFamily="34" charset="-120"/>
                        </a:rPr>
                        <a:t>Tasa / North Star Metric</a:t>
                      </a:r>
                      <a:endParaRPr lang="en-US" sz="12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r>
              <a:tr h="0">
                <a:tc>
                  <a:txBody>
                    <a:bodyPr/>
                    <a:lstStyle/>
                    <a:p>
                      <a:pPr indent="0" marL="0">
                        <a:buNone/>
                      </a:pPr>
                      <a:r>
                        <a:rPr lang="en-US" sz="1200" b="1" dirty="0">
                          <a:solidFill>
                            <a:srgbClr val="13294B"/>
                          </a:solidFill>
                          <a:latin typeface="Calibri" pitchFamily="34" charset="0"/>
                          <a:ea typeface="Calibri" pitchFamily="34" charset="-122"/>
                          <a:cs typeface="Calibri" pitchFamily="34" charset="-120"/>
                        </a:rPr>
                        <a:t>Definición</a:t>
                      </a:r>
                      <a:endParaRPr lang="en-US" sz="12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200" dirty="0">
                          <a:solidFill>
                            <a:srgbClr val="1B1F24"/>
                          </a:solidFill>
                          <a:latin typeface="Calibri" pitchFamily="34" charset="0"/>
                          <a:ea typeface="Calibri" pitchFamily="34" charset="-122"/>
                          <a:cs typeface="Calibri" pitchFamily="34" charset="-120"/>
                        </a:rPr>
                        <a:t>Proporción del ingreso recurrente mensual que se conserva al cierre del período</a:t>
                      </a:r>
                      <a:endParaRPr lang="en-US" sz="12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3294B"/>
                          </a:solidFill>
                          <a:latin typeface="Calibri" pitchFamily="34" charset="0"/>
                          <a:ea typeface="Calibri" pitchFamily="34" charset="-122"/>
                          <a:cs typeface="Calibri" pitchFamily="34" charset="-120"/>
                        </a:rPr>
                        <a:t>Fórmula</a:t>
                      </a:r>
                      <a:endParaRPr lang="en-US" sz="12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indent="0" marL="0">
                        <a:buNone/>
                      </a:pPr>
                      <a:r>
                        <a:rPr lang="en-US" sz="1200" dirty="0">
                          <a:solidFill>
                            <a:srgbClr val="1B1F24"/>
                          </a:solidFill>
                          <a:latin typeface="Calibri" pitchFamily="34" charset="0"/>
                          <a:ea typeface="Calibri" pitchFamily="34" charset="-122"/>
                          <a:cs typeface="Calibri" pitchFamily="34" charset="-120"/>
                        </a:rPr>
                        <a:t>1 − Σ cargo_mensual[churn = 1] / Σ cargo_mensual</a:t>
                      </a:r>
                      <a:endParaRPr lang="en-US" sz="12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r>
              <a:tr h="0">
                <a:tc>
                  <a:txBody>
                    <a:bodyPr/>
                    <a:lstStyle/>
                    <a:p>
                      <a:pPr indent="0" marL="0">
                        <a:buNone/>
                      </a:pPr>
                      <a:r>
                        <a:rPr lang="en-US" sz="1200" b="1" dirty="0">
                          <a:solidFill>
                            <a:srgbClr val="13294B"/>
                          </a:solidFill>
                          <a:latin typeface="Calibri" pitchFamily="34" charset="0"/>
                          <a:ea typeface="Calibri" pitchFamily="34" charset="-122"/>
                          <a:cs typeface="Calibri" pitchFamily="34" charset="-120"/>
                        </a:rPr>
                        <a:t>Numerador / denominador</a:t>
                      </a:r>
                      <a:endParaRPr lang="en-US" sz="12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200" dirty="0">
                          <a:solidFill>
                            <a:srgbClr val="1B1F24"/>
                          </a:solidFill>
                          <a:latin typeface="Calibri" pitchFamily="34" charset="0"/>
                          <a:ea typeface="Calibri" pitchFamily="34" charset="-122"/>
                          <a:cs typeface="Calibri" pitchFamily="34" charset="-120"/>
                        </a:rPr>
                        <a:t>MRR de clientes que abandonan en el período / MRR de todos los clientes al inicio del período</a:t>
                      </a:r>
                      <a:endParaRPr lang="en-US" sz="12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3294B"/>
                          </a:solidFill>
                          <a:latin typeface="Calibri" pitchFamily="34" charset="0"/>
                          <a:ea typeface="Calibri" pitchFamily="34" charset="-122"/>
                          <a:cs typeface="Calibri" pitchFamily="34" charset="-120"/>
                        </a:rPr>
                        <a:t>Granularidad</a:t>
                      </a:r>
                      <a:endParaRPr lang="en-US" sz="12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indent="0" marL="0">
                        <a:buNone/>
                      </a:pPr>
                      <a:r>
                        <a:rPr lang="en-US" sz="1200" dirty="0">
                          <a:solidFill>
                            <a:srgbClr val="1B1F24"/>
                          </a:solidFill>
                          <a:latin typeface="Calibri" pitchFamily="34" charset="0"/>
                          <a:ea typeface="Calibri" pitchFamily="34" charset="-122"/>
                          <a:cs typeface="Calibri" pitchFamily="34" charset="-120"/>
                        </a:rPr>
                        <a:t>Cliente (cálculo) → segmento y mes (reporte)</a:t>
                      </a:r>
                      <a:endParaRPr lang="en-US" sz="12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r>
              <a:tr h="0">
                <a:tc>
                  <a:txBody>
                    <a:bodyPr/>
                    <a:lstStyle/>
                    <a:p>
                      <a:pPr indent="0" marL="0">
                        <a:buNone/>
                      </a:pPr>
                      <a:r>
                        <a:rPr lang="en-US" sz="1200" b="1" dirty="0">
                          <a:solidFill>
                            <a:srgbClr val="13294B"/>
                          </a:solidFill>
                          <a:latin typeface="Calibri" pitchFamily="34" charset="0"/>
                          <a:ea typeface="Calibri" pitchFamily="34" charset="-122"/>
                          <a:cs typeface="Calibri" pitchFamily="34" charset="-120"/>
                        </a:rPr>
                        <a:t>Ventana y frecuencia</a:t>
                      </a:r>
                      <a:endParaRPr lang="en-US" sz="12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200" dirty="0">
                          <a:solidFill>
                            <a:srgbClr val="1B1F24"/>
                          </a:solidFill>
                          <a:latin typeface="Calibri" pitchFamily="34" charset="0"/>
                          <a:ea typeface="Calibri" pitchFamily="34" charset="-122"/>
                          <a:cs typeface="Calibri" pitchFamily="34" charset="-120"/>
                        </a:rPr>
                        <a:t>Período de corte (mensual a futuro) · Mensual</a:t>
                      </a:r>
                      <a:endParaRPr lang="en-US" sz="12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3294B"/>
                          </a:solidFill>
                          <a:latin typeface="Calibri" pitchFamily="34" charset="0"/>
                          <a:ea typeface="Calibri" pitchFamily="34" charset="-122"/>
                          <a:cs typeface="Calibri" pitchFamily="34" charset="-120"/>
                        </a:rPr>
                        <a:t>Meta o umbral</a:t>
                      </a:r>
                      <a:endParaRPr lang="en-US" sz="12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indent="0" marL="0">
                        <a:buNone/>
                      </a:pPr>
                      <a:r>
                        <a:rPr lang="en-US" sz="1200" dirty="0">
                          <a:solidFill>
                            <a:srgbClr val="1B1F24"/>
                          </a:solidFill>
                          <a:latin typeface="Calibri" pitchFamily="34" charset="0"/>
                          <a:ea typeface="Calibri" pitchFamily="34" charset="-122"/>
                          <a:cs typeface="Calibri" pitchFamily="34" charset="-120"/>
                        </a:rPr>
                        <a:t>≥ 75 % (verde); 69,5–75 % (amarillo); &lt; 69,5 % (rojo)</a:t>
                      </a:r>
                      <a:endParaRPr lang="en-US" sz="12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r>
              <a:tr h="0">
                <a:tc>
                  <a:txBody>
                    <a:bodyPr/>
                    <a:lstStyle/>
                    <a:p>
                      <a:pPr indent="0" marL="0">
                        <a:buNone/>
                      </a:pPr>
                      <a:r>
                        <a:rPr lang="en-US" sz="1200" b="1" dirty="0">
                          <a:solidFill>
                            <a:srgbClr val="13294B"/>
                          </a:solidFill>
                          <a:latin typeface="Calibri" pitchFamily="34" charset="0"/>
                          <a:ea typeface="Calibri" pitchFamily="34" charset="-122"/>
                          <a:cs typeface="Calibri" pitchFamily="34" charset="-120"/>
                        </a:rPr>
                        <a:t>Balance y dueño</a:t>
                      </a:r>
                      <a:endParaRPr lang="en-US" sz="12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200" dirty="0">
                          <a:solidFill>
                            <a:srgbClr val="1B1F24"/>
                          </a:solidFill>
                          <a:latin typeface="Calibri" pitchFamily="34" charset="0"/>
                          <a:ea typeface="Calibri" pitchFamily="34" charset="-122"/>
                          <a:cs typeface="Calibri" pitchFamily="34" charset="-120"/>
                        </a:rPr>
                        <a:t>ARPU, costo de retención, ROI del programa · Gerencia de Retención</a:t>
                      </a:r>
                      <a:endParaRPr lang="en-US" sz="12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3294B"/>
                          </a:solidFill>
                          <a:latin typeface="Calibri" pitchFamily="34" charset="0"/>
                          <a:ea typeface="Calibri" pitchFamily="34" charset="-122"/>
                          <a:cs typeface="Calibri" pitchFamily="34" charset="-120"/>
                        </a:rPr>
                        <a:t>Riesgo de interpretación</a:t>
                      </a:r>
                      <a:endParaRPr lang="en-US" sz="12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indent="0" marL="0">
                        <a:buNone/>
                      </a:pPr>
                      <a:r>
                        <a:rPr lang="en-US" sz="1200" dirty="0">
                          <a:solidFill>
                            <a:srgbClr val="1B1F24"/>
                          </a:solidFill>
                          <a:latin typeface="Calibri" pitchFamily="34" charset="0"/>
                          <a:ea typeface="Calibri" pitchFamily="34" charset="-122"/>
                          <a:cs typeface="Calibri" pitchFamily="34" charset="-120"/>
                        </a:rPr>
                        <a:t>Puede subir por alzas de precio a clientes que se quedan; con un solo corte no hay tendencia; la ventana del churn es ambigua</a:t>
                      </a:r>
                      <a:endParaRPr lang="en-US" sz="12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r>
            </a:tbl>
          </a:graphicData>
        </a:graphic>
      </p:graphicFrame>
      <p:sp>
        <p:nvSpPr>
          <p:cNvPr id="6" name="Shape 2"/>
          <p:cNvSpPr/>
          <p:nvPr/>
        </p:nvSpPr>
        <p:spPr>
          <a:xfrm>
            <a:off x="7818120" y="1417320"/>
            <a:ext cx="3822192" cy="4526280"/>
          </a:xfrm>
          <a:prstGeom prst="roundRect">
            <a:avLst>
              <a:gd name="adj" fmla="val 1914"/>
            </a:avLst>
          </a:prstGeom>
          <a:solidFill>
            <a:srgbClr val="EEF4FC"/>
          </a:solidFill>
          <a:ln w="12700">
            <a:solidFill>
              <a:srgbClr val="EEF4FC"/>
            </a:solidFill>
            <a:prstDash val="solid"/>
          </a:ln>
        </p:spPr>
        <p:txBody>
          <a:bodyPr/>
          <a:p/>
        </p:txBody>
      </p:sp>
      <p:sp>
        <p:nvSpPr>
          <p:cNvPr id="7" name="Text 3"/>
          <p:cNvSpPr txBox="1"/>
          <p:nvPr/>
        </p:nvSpPr>
        <p:spPr>
          <a:xfrm>
            <a:off x="8046720" y="1572768"/>
            <a:ext cx="3474720" cy="310896"/>
          </a:xfrm>
          <a:prstGeom prst="rect">
            <a:avLst/>
          </a:prstGeom>
          <a:noFill/>
          <a:ln/>
        </p:spPr>
        <p:txBody>
          <a:bodyPr wrap="square" lIns="0" tIns="0" rIns="0" bIns="0" rtlCol="0" anchor="t"/>
          <a:lstStyle/>
          <a:p>
            <a:pPr indent="0" marL="0">
              <a:buNone/>
            </a:pPr>
            <a:r>
              <a:rPr lang="en-US" sz="1500" b="1" dirty="0">
                <a:solidFill>
                  <a:srgbClr val="13294B"/>
                </a:solidFill>
                <a:latin typeface="Calibri" pitchFamily="34" charset="0"/>
                <a:ea typeface="Calibri" pitchFamily="34" charset="-122"/>
                <a:cs typeface="Calibri" pitchFamily="34" charset="-120"/>
              </a:rPr>
              <a:t>Las 9 métricas del diccionario</a:t>
            </a:r>
            <a:endParaRPr lang="en-US" sz="1500" dirty="0"/>
          </a:p>
        </p:txBody>
      </p:sp>
      <p:sp>
        <p:nvSpPr>
          <p:cNvPr id="8" name="Shape 4"/>
          <p:cNvSpPr/>
          <p:nvPr/>
        </p:nvSpPr>
        <p:spPr>
          <a:xfrm>
            <a:off x="8046720" y="1993392"/>
            <a:ext cx="310896" cy="310896"/>
          </a:xfrm>
          <a:prstGeom prst="ellipse">
            <a:avLst/>
          </a:prstGeom>
          <a:solidFill>
            <a:srgbClr val="EB6834"/>
          </a:solidFill>
          <a:ln w="12700">
            <a:solidFill>
              <a:srgbClr val="EB6834"/>
            </a:solidFill>
            <a:prstDash val="solid"/>
          </a:ln>
        </p:spPr>
        <p:txBody>
          <a:bodyPr/>
          <a:p/>
        </p:txBody>
      </p:sp>
      <p:sp>
        <p:nvSpPr>
          <p:cNvPr id="9" name="Text 5"/>
          <p:cNvSpPr txBox="1"/>
          <p:nvPr/>
        </p:nvSpPr>
        <p:spPr>
          <a:xfrm>
            <a:off x="8046720" y="199339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6"/>
          <p:cNvSpPr txBox="1"/>
          <p:nvPr/>
        </p:nvSpPr>
        <p:spPr>
          <a:xfrm>
            <a:off x="8458200" y="1975104"/>
            <a:ext cx="3063240" cy="347472"/>
          </a:xfrm>
          <a:prstGeom prst="rect">
            <a:avLst/>
          </a:prstGeom>
          <a:noFill/>
          <a:ln/>
        </p:spPr>
        <p:txBody>
          <a:bodyPr wrap="square" lIns="0" tIns="0" rIns="0" bIns="0" rtlCol="0" anchor="ctr"/>
          <a:lstStyle/>
          <a:p>
            <a:pPr indent="0" marL="0">
              <a:buNone/>
            </a:pPr>
            <a:r>
              <a:rPr lang="en-US" sz="1300" dirty="0">
                <a:solidFill>
                  <a:srgbClr val="1B1F24"/>
                </a:solidFill>
                <a:latin typeface="Calibri" pitchFamily="34" charset="0"/>
                <a:ea typeface="Calibri" pitchFamily="34" charset="-122"/>
                <a:cs typeface="Calibri" pitchFamily="34" charset="-120"/>
              </a:rPr>
              <a:t>% MRR retenido (North Star)</a:t>
            </a:r>
            <a:endParaRPr lang="en-US" sz="1300" dirty="0"/>
          </a:p>
        </p:txBody>
      </p:sp>
      <p:sp>
        <p:nvSpPr>
          <p:cNvPr id="11" name="Shape 7"/>
          <p:cNvSpPr/>
          <p:nvPr/>
        </p:nvSpPr>
        <p:spPr>
          <a:xfrm>
            <a:off x="8046720" y="2423160"/>
            <a:ext cx="310896" cy="310896"/>
          </a:xfrm>
          <a:prstGeom prst="ellipse">
            <a:avLst/>
          </a:prstGeom>
          <a:solidFill>
            <a:srgbClr val="2A78D6"/>
          </a:solidFill>
          <a:ln w="12700">
            <a:solidFill>
              <a:srgbClr val="2A78D6"/>
            </a:solidFill>
            <a:prstDash val="solid"/>
          </a:ln>
        </p:spPr>
        <p:txBody>
          <a:bodyPr/>
          <a:p/>
        </p:txBody>
      </p:sp>
      <p:sp>
        <p:nvSpPr>
          <p:cNvPr id="12" name="Text 8"/>
          <p:cNvSpPr txBox="1"/>
          <p:nvPr/>
        </p:nvSpPr>
        <p:spPr>
          <a:xfrm>
            <a:off x="8046720" y="2423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9"/>
          <p:cNvSpPr txBox="1"/>
          <p:nvPr/>
        </p:nvSpPr>
        <p:spPr>
          <a:xfrm>
            <a:off x="8458200" y="2404872"/>
            <a:ext cx="3063240" cy="347472"/>
          </a:xfrm>
          <a:prstGeom prst="rect">
            <a:avLst/>
          </a:prstGeom>
          <a:noFill/>
          <a:ln/>
        </p:spPr>
        <p:txBody>
          <a:bodyPr wrap="square" lIns="0" tIns="0" rIns="0" bIns="0" rtlCol="0" anchor="ctr"/>
          <a:lstStyle/>
          <a:p>
            <a:pPr indent="0" marL="0">
              <a:buNone/>
            </a:pPr>
            <a:r>
              <a:rPr lang="en-US" sz="1300" dirty="0">
                <a:solidFill>
                  <a:srgbClr val="1B1F24"/>
                </a:solidFill>
                <a:latin typeface="Calibri" pitchFamily="34" charset="0"/>
                <a:ea typeface="Calibri" pitchFamily="34" charset="-122"/>
                <a:cs typeface="Calibri" pitchFamily="34" charset="-120"/>
              </a:rPr>
              <a:t>Tasa de churn de clientes</a:t>
            </a:r>
            <a:endParaRPr lang="en-US" sz="1300" dirty="0"/>
          </a:p>
        </p:txBody>
      </p:sp>
      <p:sp>
        <p:nvSpPr>
          <p:cNvPr id="14" name="Shape 10"/>
          <p:cNvSpPr/>
          <p:nvPr/>
        </p:nvSpPr>
        <p:spPr>
          <a:xfrm>
            <a:off x="8046720" y="2852928"/>
            <a:ext cx="310896" cy="310896"/>
          </a:xfrm>
          <a:prstGeom prst="ellipse">
            <a:avLst/>
          </a:prstGeom>
          <a:solidFill>
            <a:srgbClr val="2A78D6"/>
          </a:solidFill>
          <a:ln w="12700">
            <a:solidFill>
              <a:srgbClr val="2A78D6"/>
            </a:solidFill>
            <a:prstDash val="solid"/>
          </a:ln>
        </p:spPr>
        <p:txBody>
          <a:bodyPr/>
          <a:p/>
        </p:txBody>
      </p:sp>
      <p:sp>
        <p:nvSpPr>
          <p:cNvPr id="15" name="Text 11"/>
          <p:cNvSpPr txBox="1"/>
          <p:nvPr/>
        </p:nvSpPr>
        <p:spPr>
          <a:xfrm>
            <a:off x="8046720" y="28529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2"/>
          <p:cNvSpPr txBox="1"/>
          <p:nvPr/>
        </p:nvSpPr>
        <p:spPr>
          <a:xfrm>
            <a:off x="8458200" y="2834640"/>
            <a:ext cx="3063240" cy="347472"/>
          </a:xfrm>
          <a:prstGeom prst="rect">
            <a:avLst/>
          </a:prstGeom>
          <a:noFill/>
          <a:ln/>
        </p:spPr>
        <p:txBody>
          <a:bodyPr wrap="square" lIns="0" tIns="0" rIns="0" bIns="0" rtlCol="0" anchor="ctr"/>
          <a:lstStyle/>
          <a:p>
            <a:pPr indent="0" marL="0">
              <a:buNone/>
            </a:pPr>
            <a:r>
              <a:rPr lang="en-US" sz="1300" dirty="0">
                <a:solidFill>
                  <a:srgbClr val="1B1F24"/>
                </a:solidFill>
                <a:latin typeface="Calibri" pitchFamily="34" charset="0"/>
                <a:ea typeface="Calibri" pitchFamily="34" charset="-122"/>
                <a:cs typeface="Calibri" pitchFamily="34" charset="-120"/>
              </a:rPr>
              <a:t>MRR perdido por churn</a:t>
            </a:r>
            <a:endParaRPr lang="en-US" sz="1300" dirty="0"/>
          </a:p>
        </p:txBody>
      </p:sp>
      <p:sp>
        <p:nvSpPr>
          <p:cNvPr id="17" name="Shape 13"/>
          <p:cNvSpPr/>
          <p:nvPr/>
        </p:nvSpPr>
        <p:spPr>
          <a:xfrm>
            <a:off x="8046720" y="3282696"/>
            <a:ext cx="310896" cy="310896"/>
          </a:xfrm>
          <a:prstGeom prst="ellipse">
            <a:avLst/>
          </a:prstGeom>
          <a:solidFill>
            <a:srgbClr val="2A78D6"/>
          </a:solidFill>
          <a:ln w="12700">
            <a:solidFill>
              <a:srgbClr val="2A78D6"/>
            </a:solidFill>
            <a:prstDash val="solid"/>
          </a:ln>
        </p:spPr>
        <p:txBody>
          <a:bodyPr/>
          <a:p/>
        </p:txBody>
      </p:sp>
      <p:sp>
        <p:nvSpPr>
          <p:cNvPr id="18" name="Text 14"/>
          <p:cNvSpPr txBox="1"/>
          <p:nvPr/>
        </p:nvSpPr>
        <p:spPr>
          <a:xfrm>
            <a:off x="8046720" y="328269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9" name="Text 15"/>
          <p:cNvSpPr txBox="1"/>
          <p:nvPr/>
        </p:nvSpPr>
        <p:spPr>
          <a:xfrm>
            <a:off x="8458200" y="3264408"/>
            <a:ext cx="3063240" cy="347472"/>
          </a:xfrm>
          <a:prstGeom prst="rect">
            <a:avLst/>
          </a:prstGeom>
          <a:noFill/>
          <a:ln/>
        </p:spPr>
        <p:txBody>
          <a:bodyPr wrap="square" lIns="0" tIns="0" rIns="0" bIns="0" rtlCol="0" anchor="ctr"/>
          <a:lstStyle/>
          <a:p>
            <a:pPr indent="0" marL="0">
              <a:buNone/>
            </a:pPr>
            <a:r>
              <a:rPr lang="en-US" sz="1300" dirty="0">
                <a:solidFill>
                  <a:srgbClr val="1B1F24"/>
                </a:solidFill>
                <a:latin typeface="Calibri" pitchFamily="34" charset="0"/>
                <a:ea typeface="Calibri" pitchFamily="34" charset="-122"/>
                <a:cs typeface="Calibri" pitchFamily="34" charset="-120"/>
              </a:rPr>
              <a:t>Churn temprano (0–6 meses)</a:t>
            </a:r>
            <a:endParaRPr lang="en-US" sz="1300" dirty="0"/>
          </a:p>
        </p:txBody>
      </p:sp>
      <p:sp>
        <p:nvSpPr>
          <p:cNvPr id="20" name="Shape 16"/>
          <p:cNvSpPr/>
          <p:nvPr/>
        </p:nvSpPr>
        <p:spPr>
          <a:xfrm>
            <a:off x="8046720" y="3712464"/>
            <a:ext cx="310896" cy="310896"/>
          </a:xfrm>
          <a:prstGeom prst="ellipse">
            <a:avLst/>
          </a:prstGeom>
          <a:solidFill>
            <a:srgbClr val="2A78D6"/>
          </a:solidFill>
          <a:ln w="12700">
            <a:solidFill>
              <a:srgbClr val="2A78D6"/>
            </a:solidFill>
            <a:prstDash val="solid"/>
          </a:ln>
        </p:spPr>
        <p:txBody>
          <a:bodyPr/>
          <a:p/>
        </p:txBody>
      </p:sp>
      <p:sp>
        <p:nvSpPr>
          <p:cNvPr id="21" name="Text 17"/>
          <p:cNvSpPr txBox="1"/>
          <p:nvPr/>
        </p:nvSpPr>
        <p:spPr>
          <a:xfrm>
            <a:off x="8046720" y="371246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2" name="Text 18"/>
          <p:cNvSpPr txBox="1"/>
          <p:nvPr/>
        </p:nvSpPr>
        <p:spPr>
          <a:xfrm>
            <a:off x="8458200" y="3694176"/>
            <a:ext cx="3063240" cy="347472"/>
          </a:xfrm>
          <a:prstGeom prst="rect">
            <a:avLst/>
          </a:prstGeom>
          <a:noFill/>
          <a:ln/>
        </p:spPr>
        <p:txBody>
          <a:bodyPr wrap="square" lIns="0" tIns="0" rIns="0" bIns="0" rtlCol="0" anchor="ctr"/>
          <a:lstStyle/>
          <a:p>
            <a:pPr indent="0" marL="0">
              <a:buNone/>
            </a:pPr>
            <a:r>
              <a:rPr lang="en-US" sz="1300" dirty="0">
                <a:solidFill>
                  <a:srgbClr val="1B1F24"/>
                </a:solidFill>
                <a:latin typeface="Calibri" pitchFamily="34" charset="0"/>
                <a:ea typeface="Calibri" pitchFamily="34" charset="-122"/>
                <a:cs typeface="Calibri" pitchFamily="34" charset="-120"/>
              </a:rPr>
              <a:t>% clientes con contrato a plazo</a:t>
            </a:r>
            <a:endParaRPr lang="en-US" sz="1300" dirty="0"/>
          </a:p>
        </p:txBody>
      </p:sp>
      <p:sp>
        <p:nvSpPr>
          <p:cNvPr id="23" name="Shape 19"/>
          <p:cNvSpPr/>
          <p:nvPr/>
        </p:nvSpPr>
        <p:spPr>
          <a:xfrm>
            <a:off x="8046720" y="4142232"/>
            <a:ext cx="310896" cy="310896"/>
          </a:xfrm>
          <a:prstGeom prst="ellipse">
            <a:avLst/>
          </a:prstGeom>
          <a:solidFill>
            <a:srgbClr val="2A78D6"/>
          </a:solidFill>
          <a:ln w="12700">
            <a:solidFill>
              <a:srgbClr val="2A78D6"/>
            </a:solidFill>
            <a:prstDash val="solid"/>
          </a:ln>
        </p:spPr>
        <p:txBody>
          <a:bodyPr/>
          <a:p/>
        </p:txBody>
      </p:sp>
      <p:sp>
        <p:nvSpPr>
          <p:cNvPr id="24" name="Text 20"/>
          <p:cNvSpPr txBox="1"/>
          <p:nvPr/>
        </p:nvSpPr>
        <p:spPr>
          <a:xfrm>
            <a:off x="8046720" y="414223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5" name="Text 21"/>
          <p:cNvSpPr txBox="1"/>
          <p:nvPr/>
        </p:nvSpPr>
        <p:spPr>
          <a:xfrm>
            <a:off x="8458200" y="4123944"/>
            <a:ext cx="3063240" cy="347472"/>
          </a:xfrm>
          <a:prstGeom prst="rect">
            <a:avLst/>
          </a:prstGeom>
          <a:noFill/>
          <a:ln/>
        </p:spPr>
        <p:txBody>
          <a:bodyPr wrap="square" lIns="0" tIns="0" rIns="0" bIns="0" rtlCol="0" anchor="ctr"/>
          <a:lstStyle/>
          <a:p>
            <a:pPr indent="0" marL="0">
              <a:buNone/>
            </a:pPr>
            <a:r>
              <a:rPr lang="en-US" sz="1300" dirty="0">
                <a:solidFill>
                  <a:srgbClr val="1B1F24"/>
                </a:solidFill>
                <a:latin typeface="Calibri" pitchFamily="34" charset="0"/>
                <a:ea typeface="Calibri" pitchFamily="34" charset="-122"/>
                <a:cs typeface="Calibri" pitchFamily="34" charset="-120"/>
              </a:rPr>
              <a:t>% clientes con pago automático</a:t>
            </a:r>
            <a:endParaRPr lang="en-US" sz="1300" dirty="0"/>
          </a:p>
        </p:txBody>
      </p:sp>
      <p:sp>
        <p:nvSpPr>
          <p:cNvPr id="26" name="Shape 22"/>
          <p:cNvSpPr/>
          <p:nvPr/>
        </p:nvSpPr>
        <p:spPr>
          <a:xfrm>
            <a:off x="8046720" y="4572000"/>
            <a:ext cx="310896" cy="310896"/>
          </a:xfrm>
          <a:prstGeom prst="ellipse">
            <a:avLst/>
          </a:prstGeom>
          <a:solidFill>
            <a:srgbClr val="2A78D6"/>
          </a:solidFill>
          <a:ln w="12700">
            <a:solidFill>
              <a:srgbClr val="2A78D6"/>
            </a:solidFill>
            <a:prstDash val="solid"/>
          </a:ln>
        </p:spPr>
        <p:txBody>
          <a:bodyPr/>
          <a:p/>
        </p:txBody>
      </p:sp>
      <p:sp>
        <p:nvSpPr>
          <p:cNvPr id="27" name="Text 23"/>
          <p:cNvSpPr txBox="1"/>
          <p:nvPr/>
        </p:nvSpPr>
        <p:spPr>
          <a:xfrm>
            <a:off x="8046720" y="457200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28" name="Text 24"/>
          <p:cNvSpPr txBox="1"/>
          <p:nvPr/>
        </p:nvSpPr>
        <p:spPr>
          <a:xfrm>
            <a:off x="8458200" y="4553712"/>
            <a:ext cx="3063240" cy="347472"/>
          </a:xfrm>
          <a:prstGeom prst="rect">
            <a:avLst/>
          </a:prstGeom>
          <a:noFill/>
          <a:ln/>
        </p:spPr>
        <p:txBody>
          <a:bodyPr wrap="square" lIns="0" tIns="0" rIns="0" bIns="0" rtlCol="0" anchor="ctr"/>
          <a:lstStyle/>
          <a:p>
            <a:pPr indent="0" marL="0">
              <a:buNone/>
            </a:pPr>
            <a:r>
              <a:rPr lang="en-US" sz="1300" dirty="0">
                <a:solidFill>
                  <a:srgbClr val="1B1F24"/>
                </a:solidFill>
                <a:latin typeface="Calibri" pitchFamily="34" charset="0"/>
                <a:ea typeface="Calibri" pitchFamily="34" charset="-122"/>
                <a:cs typeface="Calibri" pitchFamily="34" charset="-120"/>
              </a:rPr>
              <a:t>Adopción de protección</a:t>
            </a:r>
            <a:endParaRPr lang="en-US" sz="1300" dirty="0"/>
          </a:p>
        </p:txBody>
      </p:sp>
      <p:sp>
        <p:nvSpPr>
          <p:cNvPr id="29" name="Shape 25"/>
          <p:cNvSpPr/>
          <p:nvPr/>
        </p:nvSpPr>
        <p:spPr>
          <a:xfrm>
            <a:off x="8046720" y="5001768"/>
            <a:ext cx="310896" cy="310896"/>
          </a:xfrm>
          <a:prstGeom prst="ellipse">
            <a:avLst/>
          </a:prstGeom>
          <a:solidFill>
            <a:srgbClr val="2A78D6"/>
          </a:solidFill>
          <a:ln w="12700">
            <a:solidFill>
              <a:srgbClr val="2A78D6"/>
            </a:solidFill>
            <a:prstDash val="solid"/>
          </a:ln>
        </p:spPr>
        <p:txBody>
          <a:bodyPr/>
          <a:p/>
        </p:txBody>
      </p:sp>
      <p:sp>
        <p:nvSpPr>
          <p:cNvPr id="30" name="Text 26"/>
          <p:cNvSpPr txBox="1"/>
          <p:nvPr/>
        </p:nvSpPr>
        <p:spPr>
          <a:xfrm>
            <a:off x="8046720" y="500176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1" name="Text 27"/>
          <p:cNvSpPr txBox="1"/>
          <p:nvPr/>
        </p:nvSpPr>
        <p:spPr>
          <a:xfrm>
            <a:off x="8458200" y="4983480"/>
            <a:ext cx="3063240" cy="347472"/>
          </a:xfrm>
          <a:prstGeom prst="rect">
            <a:avLst/>
          </a:prstGeom>
          <a:noFill/>
          <a:ln/>
        </p:spPr>
        <p:txBody>
          <a:bodyPr wrap="square" lIns="0" tIns="0" rIns="0" bIns="0" rtlCol="0" anchor="ctr"/>
          <a:lstStyle/>
          <a:p>
            <a:pPr indent="0" marL="0">
              <a:buNone/>
            </a:pPr>
            <a:r>
              <a:rPr lang="en-US" sz="1300" dirty="0">
                <a:solidFill>
                  <a:srgbClr val="1B1F24"/>
                </a:solidFill>
                <a:latin typeface="Calibri" pitchFamily="34" charset="0"/>
                <a:ea typeface="Calibri" pitchFamily="34" charset="-122"/>
                <a:cs typeface="Calibri" pitchFamily="34" charset="-120"/>
              </a:rPr>
              <a:t>ARPU (balance)</a:t>
            </a:r>
            <a:endParaRPr lang="en-US" sz="1300" dirty="0"/>
          </a:p>
        </p:txBody>
      </p:sp>
      <p:sp>
        <p:nvSpPr>
          <p:cNvPr id="32" name="Shape 28"/>
          <p:cNvSpPr/>
          <p:nvPr/>
        </p:nvSpPr>
        <p:spPr>
          <a:xfrm>
            <a:off x="8046720" y="5431536"/>
            <a:ext cx="310896" cy="310896"/>
          </a:xfrm>
          <a:prstGeom prst="ellipse">
            <a:avLst/>
          </a:prstGeom>
          <a:solidFill>
            <a:srgbClr val="2A78D6"/>
          </a:solidFill>
          <a:ln w="12700">
            <a:solidFill>
              <a:srgbClr val="2A78D6"/>
            </a:solidFill>
            <a:prstDash val="solid"/>
          </a:ln>
        </p:spPr>
        <p:txBody>
          <a:bodyPr/>
          <a:p/>
        </p:txBody>
      </p:sp>
      <p:sp>
        <p:nvSpPr>
          <p:cNvPr id="33" name="Text 29"/>
          <p:cNvSpPr txBox="1"/>
          <p:nvPr/>
        </p:nvSpPr>
        <p:spPr>
          <a:xfrm>
            <a:off x="8046720" y="5431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34" name="Text 30"/>
          <p:cNvSpPr txBox="1"/>
          <p:nvPr/>
        </p:nvSpPr>
        <p:spPr>
          <a:xfrm>
            <a:off x="8458200" y="5413248"/>
            <a:ext cx="3063240" cy="347472"/>
          </a:xfrm>
          <a:prstGeom prst="rect">
            <a:avLst/>
          </a:prstGeom>
          <a:noFill/>
          <a:ln/>
        </p:spPr>
        <p:txBody>
          <a:bodyPr wrap="square" lIns="0" tIns="0" rIns="0" bIns="0" rtlCol="0" anchor="ctr"/>
          <a:lstStyle/>
          <a:p>
            <a:pPr indent="0" marL="0">
              <a:buNone/>
            </a:pPr>
            <a:r>
              <a:rPr lang="en-US" sz="1300" dirty="0">
                <a:solidFill>
                  <a:srgbClr val="1B1F24"/>
                </a:solidFill>
                <a:latin typeface="Calibri" pitchFamily="34" charset="0"/>
                <a:ea typeface="Calibri" pitchFamily="34" charset="-122"/>
                <a:cs typeface="Calibri" pitchFamily="34" charset="-120"/>
              </a:rPr>
              <a:t>MRR en riesgo esperado</a:t>
            </a:r>
            <a:endParaRPr lang="en-US" sz="1300" dirty="0"/>
          </a:p>
        </p:txBody>
      </p:sp>
      <p:sp>
        <p:nvSpPr>
          <p:cNvPr id="25" name="Slide Number Placeholder 0"/>
          <p:cNvSpPr>
            <a:spLocks noGrp="1"/>
          </p:cNvSpPr>
          <p:nvPr>
            <p:ph type="sldNum" sz="quarter" idx="4294967295"/>
          </p:nvPr>
        </p:nvSpPr>
        <p:spPr>
          <a:xfrm>
            <a:off x="11091672"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5B657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164592"/>
            <a:ext cx="11091672" cy="256032"/>
          </a:xfrm>
          <a:prstGeom prst="rect">
            <a:avLst/>
          </a:prstGeom>
          <a:noFill/>
          <a:ln/>
        </p:spPr>
        <p:txBody>
          <a:bodyPr wrap="square" lIns="0" tIns="0" rIns="0" bIns="0" rtlCol="0" anchor="ctr"/>
          <a:lstStyle/>
          <a:p>
            <a:pPr indent="0" marL="0">
              <a:buNone/>
            </a:pPr>
            <a:r>
              <a:rPr lang="en-US" sz="1100" b="1" spc="50" kern="0" dirty="0">
                <a:solidFill>
                  <a:srgbClr val="2A78D6"/>
                </a:solidFill>
                <a:latin typeface="Calibri" pitchFamily="34" charset="0"/>
                <a:ea typeface="Calibri" pitchFamily="34" charset="-122"/>
                <a:cs typeface="Calibri" pitchFamily="34" charset="-120"/>
              </a:rPr>
              <a:t>02 · SISTEMA DE MÉTRICAS Y DATOS</a:t>
            </a:r>
            <a:pPr indent="0" marL="0">
              <a:buNone/>
            </a:pPr>
            <a:endParaRPr lang="en-US" sz="1100" dirty="0"/>
          </a:p>
        </p:txBody>
      </p:sp>
      <p:sp>
        <p:nvSpPr>
          <p:cNvPr id="3" name="Text 0"/>
          <p:cNvSpPr/>
          <p:nvPr>
            <p:ph idx="100" type="title" hasCustomPrompt="1"/>
          </p:nvPr>
        </p:nvSpPr>
        <p:spPr>
          <a:xfrm>
            <a:off x="548640" y="457200"/>
            <a:ext cx="11091672" cy="841248"/>
          </a:xfrm>
          <a:prstGeom prst="rect">
            <a:avLst/>
          </a:prstGeom>
          <a:noFill/>
          <a:ln/>
        </p:spPr>
        <p:txBody>
          <a:bodyPr wrap="square" lIns="0" tIns="0" rIns="0" bIns="0" rtlCol="0" anchor="t"/>
          <a:lstStyle/>
          <a:p>
            <a:pPr algn="l" indent="0" marL="0">
              <a:buNone/>
            </a:pPr>
            <a:r>
              <a:rPr lang="en-US" sz="2400" b="1" dirty="0">
                <a:solidFill>
                  <a:srgbClr val="13294B"/>
                </a:solidFill>
                <a:latin typeface="Cambria" pitchFamily="34" charset="0"/>
                <a:ea typeface="Cambria" pitchFamily="34" charset="-122"/>
                <a:cs typeface="Cambria" pitchFamily="34" charset="-120"/>
              </a:rPr>
              <a:t>Trabajamos sobre una tabla analítica cliente-corte, auditada y reproducible</a:t>
            </a:r>
            <a:endParaRPr lang="en-US" sz="2400" dirty="0"/>
          </a:p>
        </p:txBody>
      </p:sp>
      <p:sp>
        <p:nvSpPr>
          <p:cNvPr id="5" name="Shape 2"/>
          <p:cNvSpPr/>
          <p:nvPr/>
        </p:nvSpPr>
        <p:spPr>
          <a:xfrm>
            <a:off x="548640" y="1417320"/>
            <a:ext cx="2057400" cy="1051560"/>
          </a:xfrm>
          <a:prstGeom prst="roundRect">
            <a:avLst>
              <a:gd name="adj" fmla="val 6957"/>
            </a:avLst>
          </a:prstGeom>
          <a:solidFill>
            <a:srgbClr val="F3F5F8"/>
          </a:solidFill>
          <a:ln w="12700">
            <a:solidFill>
              <a:srgbClr val="F3F5F8"/>
            </a:solidFill>
            <a:prstDash val="solid"/>
          </a:ln>
        </p:spPr>
        <p:txBody>
          <a:bodyPr/>
          <a:p/>
        </p:txBody>
      </p:sp>
      <p:sp>
        <p:nvSpPr>
          <p:cNvPr id="6" name="Shape 3"/>
          <p:cNvSpPr/>
          <p:nvPr/>
        </p:nvSpPr>
        <p:spPr>
          <a:xfrm>
            <a:off x="713232" y="1572768"/>
            <a:ext cx="384048" cy="384048"/>
          </a:xfrm>
          <a:prstGeom prst="ellipse">
            <a:avLst/>
          </a:prstGeom>
          <a:solidFill>
            <a:srgbClr val="2A78D6"/>
          </a:solidFill>
          <a:ln w="12700">
            <a:solidFill>
              <a:srgbClr val="2A78D6"/>
            </a:solidFill>
            <a:prstDash val="solid"/>
          </a:ln>
        </p:spPr>
        <p:txBody>
          <a:bodyPr/>
          <a:p/>
        </p:txBody>
      </p:sp>
      <p:sp>
        <p:nvSpPr>
          <p:cNvPr id="7" name="Text 4"/>
          <p:cNvSpPr txBox="1"/>
          <p:nvPr/>
        </p:nvSpPr>
        <p:spPr>
          <a:xfrm>
            <a:off x="713232" y="15727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5"/>
          <p:cNvSpPr txBox="1"/>
          <p:nvPr/>
        </p:nvSpPr>
        <p:spPr>
          <a:xfrm>
            <a:off x="1188720" y="1463040"/>
            <a:ext cx="1371600" cy="960120"/>
          </a:xfrm>
          <a:prstGeom prst="rect">
            <a:avLst/>
          </a:prstGeom>
          <a:noFill/>
          <a:ln/>
        </p:spPr>
        <p:txBody>
          <a:bodyPr wrap="square" lIns="0" tIns="0" rIns="0" bIns="0" rtlCol="0" anchor="ctr"/>
          <a:lstStyle/>
          <a:p>
            <a:pPr indent="0" marL="0">
              <a:buNone/>
            </a:pPr>
            <a:r>
              <a:rPr lang="en-US" sz="1400" b="1" dirty="0">
                <a:solidFill>
                  <a:srgbClr val="1B1F24"/>
                </a:solidFill>
                <a:latin typeface="Calibri" pitchFamily="34" charset="0"/>
                <a:ea typeface="Calibri" pitchFamily="34" charset="-122"/>
                <a:cs typeface="Calibri" pitchFamily="34" charset="-120"/>
              </a:rPr>
              <a:t>CSV crudo</a:t>
            </a:r>
            <a:endParaRPr lang="en-US" sz="1400" dirty="0"/>
          </a:p>
          <a:p>
            <a:pPr indent="0" marL="0">
              <a:buNone/>
            </a:pPr>
            <a:r>
              <a:rPr lang="en-US" sz="1200" dirty="0">
                <a:solidFill>
                  <a:srgbClr val="1B1F24"/>
                </a:solidFill>
                <a:latin typeface="Calibri" pitchFamily="34" charset="0"/>
                <a:ea typeface="Calibri" pitchFamily="34" charset="-122"/>
                <a:cs typeface="Calibri" pitchFamily="34" charset="-120"/>
              </a:rPr>
              <a:t>7.043 × 21</a:t>
            </a:r>
            <a:endParaRPr lang="en-US" sz="1400" dirty="0"/>
          </a:p>
        </p:txBody>
      </p:sp>
      <p:sp>
        <p:nvSpPr>
          <p:cNvPr id="9" name="Shape 6"/>
          <p:cNvSpPr/>
          <p:nvPr/>
        </p:nvSpPr>
        <p:spPr>
          <a:xfrm>
            <a:off x="2624328" y="1847088"/>
            <a:ext cx="173736" cy="201168"/>
          </a:xfrm>
          <a:prstGeom prst="rightArrow">
            <a:avLst/>
          </a:prstGeom>
          <a:solidFill>
            <a:srgbClr val="A9B6C6"/>
          </a:solidFill>
          <a:ln w="12700">
            <a:solidFill>
              <a:srgbClr val="A9B6C6"/>
            </a:solidFill>
            <a:prstDash val="solid"/>
          </a:ln>
        </p:spPr>
        <p:txBody>
          <a:bodyPr/>
          <a:p/>
        </p:txBody>
      </p:sp>
      <p:sp>
        <p:nvSpPr>
          <p:cNvPr id="10" name="Shape 7"/>
          <p:cNvSpPr/>
          <p:nvPr/>
        </p:nvSpPr>
        <p:spPr>
          <a:xfrm>
            <a:off x="2816352" y="1417320"/>
            <a:ext cx="2057400" cy="1051560"/>
          </a:xfrm>
          <a:prstGeom prst="roundRect">
            <a:avLst>
              <a:gd name="adj" fmla="val 6957"/>
            </a:avLst>
          </a:prstGeom>
          <a:solidFill>
            <a:srgbClr val="F3F5F8"/>
          </a:solidFill>
          <a:ln w="12700">
            <a:solidFill>
              <a:srgbClr val="F3F5F8"/>
            </a:solidFill>
            <a:prstDash val="solid"/>
          </a:ln>
        </p:spPr>
        <p:txBody>
          <a:bodyPr/>
          <a:p/>
        </p:txBody>
      </p:sp>
      <p:sp>
        <p:nvSpPr>
          <p:cNvPr id="11" name="Shape 8"/>
          <p:cNvSpPr/>
          <p:nvPr/>
        </p:nvSpPr>
        <p:spPr>
          <a:xfrm>
            <a:off x="2980944" y="1572768"/>
            <a:ext cx="384048" cy="384048"/>
          </a:xfrm>
          <a:prstGeom prst="ellipse">
            <a:avLst/>
          </a:prstGeom>
          <a:solidFill>
            <a:srgbClr val="2A78D6"/>
          </a:solidFill>
          <a:ln w="12700">
            <a:solidFill>
              <a:srgbClr val="2A78D6"/>
            </a:solidFill>
            <a:prstDash val="solid"/>
          </a:ln>
        </p:spPr>
        <p:txBody>
          <a:bodyPr/>
          <a:p/>
        </p:txBody>
      </p:sp>
      <p:sp>
        <p:nvSpPr>
          <p:cNvPr id="12" name="Text 9"/>
          <p:cNvSpPr txBox="1"/>
          <p:nvPr/>
        </p:nvSpPr>
        <p:spPr>
          <a:xfrm>
            <a:off x="2980944" y="15727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0"/>
          <p:cNvSpPr txBox="1"/>
          <p:nvPr/>
        </p:nvSpPr>
        <p:spPr>
          <a:xfrm>
            <a:off x="3456432" y="1463040"/>
            <a:ext cx="1371600" cy="960120"/>
          </a:xfrm>
          <a:prstGeom prst="rect">
            <a:avLst/>
          </a:prstGeom>
          <a:noFill/>
          <a:ln/>
        </p:spPr>
        <p:txBody>
          <a:bodyPr wrap="square" lIns="0" tIns="0" rIns="0" bIns="0" rtlCol="0" anchor="ctr"/>
          <a:lstStyle/>
          <a:p>
            <a:pPr indent="0" marL="0">
              <a:buNone/>
            </a:pPr>
            <a:r>
              <a:rPr lang="en-US" sz="1400" b="1" dirty="0">
                <a:solidFill>
                  <a:srgbClr val="1B1F24"/>
                </a:solidFill>
                <a:latin typeface="Calibri" pitchFamily="34" charset="0"/>
                <a:ea typeface="Calibri" pitchFamily="34" charset="-122"/>
                <a:cs typeface="Calibri" pitchFamily="34" charset="-120"/>
              </a:rPr>
              <a:t>Auditoría</a:t>
            </a:r>
            <a:endParaRPr lang="en-US" sz="1400" dirty="0"/>
          </a:p>
          <a:p>
            <a:pPr indent="0" marL="0">
              <a:buNone/>
            </a:pPr>
            <a:r>
              <a:rPr lang="en-US" sz="1200" dirty="0">
                <a:solidFill>
                  <a:srgbClr val="1B1F24"/>
                </a:solidFill>
                <a:latin typeface="Calibri" pitchFamily="34" charset="0"/>
                <a:ea typeface="Calibri" pitchFamily="34" charset="-122"/>
                <a:cs typeface="Calibri" pitchFamily="34" charset="-120"/>
              </a:rPr>
              <a:t>11 revisiones</a:t>
            </a:r>
            <a:endParaRPr lang="en-US" sz="1400" dirty="0"/>
          </a:p>
        </p:txBody>
      </p:sp>
      <p:sp>
        <p:nvSpPr>
          <p:cNvPr id="14" name="Shape 11"/>
          <p:cNvSpPr/>
          <p:nvPr/>
        </p:nvSpPr>
        <p:spPr>
          <a:xfrm>
            <a:off x="4892040" y="1847088"/>
            <a:ext cx="173736" cy="201168"/>
          </a:xfrm>
          <a:prstGeom prst="rightArrow">
            <a:avLst/>
          </a:prstGeom>
          <a:solidFill>
            <a:srgbClr val="A9B6C6"/>
          </a:solidFill>
          <a:ln w="12700">
            <a:solidFill>
              <a:srgbClr val="A9B6C6"/>
            </a:solidFill>
            <a:prstDash val="solid"/>
          </a:ln>
        </p:spPr>
        <p:txBody>
          <a:bodyPr/>
          <a:p/>
        </p:txBody>
      </p:sp>
      <p:sp>
        <p:nvSpPr>
          <p:cNvPr id="15" name="Shape 12"/>
          <p:cNvSpPr/>
          <p:nvPr/>
        </p:nvSpPr>
        <p:spPr>
          <a:xfrm>
            <a:off x="5084064" y="1417320"/>
            <a:ext cx="2057400" cy="1051560"/>
          </a:xfrm>
          <a:prstGeom prst="roundRect">
            <a:avLst>
              <a:gd name="adj" fmla="val 6957"/>
            </a:avLst>
          </a:prstGeom>
          <a:solidFill>
            <a:srgbClr val="F3F5F8"/>
          </a:solidFill>
          <a:ln w="12700">
            <a:solidFill>
              <a:srgbClr val="F3F5F8"/>
            </a:solidFill>
            <a:prstDash val="solid"/>
          </a:ln>
        </p:spPr>
        <p:txBody>
          <a:bodyPr/>
          <a:p/>
        </p:txBody>
      </p:sp>
      <p:sp>
        <p:nvSpPr>
          <p:cNvPr id="16" name="Shape 13"/>
          <p:cNvSpPr/>
          <p:nvPr/>
        </p:nvSpPr>
        <p:spPr>
          <a:xfrm>
            <a:off x="5248656" y="1572768"/>
            <a:ext cx="384048" cy="384048"/>
          </a:xfrm>
          <a:prstGeom prst="ellipse">
            <a:avLst/>
          </a:prstGeom>
          <a:solidFill>
            <a:srgbClr val="2A78D6"/>
          </a:solidFill>
          <a:ln w="12700">
            <a:solidFill>
              <a:srgbClr val="2A78D6"/>
            </a:solidFill>
            <a:prstDash val="solid"/>
          </a:ln>
        </p:spPr>
        <p:txBody>
          <a:bodyPr/>
          <a:p/>
        </p:txBody>
      </p:sp>
      <p:sp>
        <p:nvSpPr>
          <p:cNvPr id="17" name="Text 14"/>
          <p:cNvSpPr txBox="1"/>
          <p:nvPr/>
        </p:nvSpPr>
        <p:spPr>
          <a:xfrm>
            <a:off x="5248656" y="15727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5"/>
          <p:cNvSpPr txBox="1"/>
          <p:nvPr/>
        </p:nvSpPr>
        <p:spPr>
          <a:xfrm>
            <a:off x="5724144" y="1463040"/>
            <a:ext cx="1371600" cy="960120"/>
          </a:xfrm>
          <a:prstGeom prst="rect">
            <a:avLst/>
          </a:prstGeom>
          <a:noFill/>
          <a:ln/>
        </p:spPr>
        <p:txBody>
          <a:bodyPr wrap="square" lIns="0" tIns="0" rIns="0" bIns="0" rtlCol="0" anchor="ctr"/>
          <a:lstStyle/>
          <a:p>
            <a:pPr indent="0" marL="0">
              <a:buNone/>
            </a:pPr>
            <a:r>
              <a:rPr lang="en-US" sz="1400" b="1" dirty="0">
                <a:solidFill>
                  <a:srgbClr val="1B1F24"/>
                </a:solidFill>
                <a:latin typeface="Calibri" pitchFamily="34" charset="0"/>
                <a:ea typeface="Calibri" pitchFamily="34" charset="-122"/>
                <a:cs typeface="Calibri" pitchFamily="34" charset="-120"/>
              </a:rPr>
              <a:t>Limpieza</a:t>
            </a:r>
            <a:endParaRPr lang="en-US" sz="1400" dirty="0"/>
          </a:p>
          <a:p>
            <a:pPr indent="0" marL="0">
              <a:buNone/>
            </a:pPr>
            <a:r>
              <a:rPr lang="en-US" sz="1200" dirty="0">
                <a:solidFill>
                  <a:srgbClr val="1B1F24"/>
                </a:solidFill>
                <a:latin typeface="Calibri" pitchFamily="34" charset="0"/>
                <a:ea typeface="Calibri" pitchFamily="34" charset="-122"/>
                <a:cs typeface="Calibri" pitchFamily="34" charset="-120"/>
              </a:rPr>
              <a:t>10 reglas</a:t>
            </a:r>
            <a:endParaRPr lang="en-US" sz="1400" dirty="0"/>
          </a:p>
        </p:txBody>
      </p:sp>
      <p:sp>
        <p:nvSpPr>
          <p:cNvPr id="19" name="Shape 16"/>
          <p:cNvSpPr/>
          <p:nvPr/>
        </p:nvSpPr>
        <p:spPr>
          <a:xfrm>
            <a:off x="7159752" y="1847088"/>
            <a:ext cx="173736" cy="201168"/>
          </a:xfrm>
          <a:prstGeom prst="rightArrow">
            <a:avLst/>
          </a:prstGeom>
          <a:solidFill>
            <a:srgbClr val="A9B6C6"/>
          </a:solidFill>
          <a:ln w="12700">
            <a:solidFill>
              <a:srgbClr val="A9B6C6"/>
            </a:solidFill>
            <a:prstDash val="solid"/>
          </a:ln>
        </p:spPr>
        <p:txBody>
          <a:bodyPr/>
          <a:p/>
        </p:txBody>
      </p:sp>
      <p:sp>
        <p:nvSpPr>
          <p:cNvPr id="20" name="Shape 17"/>
          <p:cNvSpPr/>
          <p:nvPr/>
        </p:nvSpPr>
        <p:spPr>
          <a:xfrm>
            <a:off x="7351776" y="1417320"/>
            <a:ext cx="2057400" cy="1051560"/>
          </a:xfrm>
          <a:prstGeom prst="roundRect">
            <a:avLst>
              <a:gd name="adj" fmla="val 6957"/>
            </a:avLst>
          </a:prstGeom>
          <a:solidFill>
            <a:srgbClr val="13294B"/>
          </a:solidFill>
          <a:ln w="12700">
            <a:solidFill>
              <a:srgbClr val="13294B"/>
            </a:solidFill>
            <a:prstDash val="solid"/>
          </a:ln>
        </p:spPr>
        <p:txBody>
          <a:bodyPr/>
          <a:p/>
        </p:txBody>
      </p:sp>
      <p:sp>
        <p:nvSpPr>
          <p:cNvPr id="21" name="Shape 18"/>
          <p:cNvSpPr/>
          <p:nvPr/>
        </p:nvSpPr>
        <p:spPr>
          <a:xfrm>
            <a:off x="7516368" y="1572768"/>
            <a:ext cx="384048" cy="384048"/>
          </a:xfrm>
          <a:prstGeom prst="ellipse">
            <a:avLst/>
          </a:prstGeom>
          <a:solidFill>
            <a:srgbClr val="EB6834"/>
          </a:solidFill>
          <a:ln w="12700">
            <a:solidFill>
              <a:srgbClr val="EB6834"/>
            </a:solidFill>
            <a:prstDash val="solid"/>
          </a:ln>
        </p:spPr>
        <p:txBody>
          <a:bodyPr/>
          <a:p/>
        </p:txBody>
      </p:sp>
      <p:sp>
        <p:nvSpPr>
          <p:cNvPr id="22" name="Text 19"/>
          <p:cNvSpPr txBox="1"/>
          <p:nvPr/>
        </p:nvSpPr>
        <p:spPr>
          <a:xfrm>
            <a:off x="7516368" y="15727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0"/>
          <p:cNvSpPr txBox="1"/>
          <p:nvPr/>
        </p:nvSpPr>
        <p:spPr>
          <a:xfrm>
            <a:off x="7991856" y="1463040"/>
            <a:ext cx="1371600" cy="9601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df_analitico</a:t>
            </a:r>
            <a:endParaRPr lang="en-US" sz="1400" dirty="0"/>
          </a:p>
          <a:p>
            <a:pPr indent="0" marL="0">
              <a:buNone/>
            </a:pPr>
            <a:r>
              <a:rPr lang="en-US" sz="1200" dirty="0">
                <a:solidFill>
                  <a:srgbClr val="FFFFFF"/>
                </a:solidFill>
                <a:latin typeface="Calibri" pitchFamily="34" charset="0"/>
                <a:ea typeface="Calibri" pitchFamily="34" charset="-122"/>
                <a:cs typeface="Calibri" pitchFamily="34" charset="-120"/>
              </a:rPr>
              <a:t>7.043 × 33</a:t>
            </a:r>
            <a:endParaRPr lang="en-US" sz="1400" dirty="0"/>
          </a:p>
        </p:txBody>
      </p:sp>
      <p:sp>
        <p:nvSpPr>
          <p:cNvPr id="24" name="Shape 21"/>
          <p:cNvSpPr/>
          <p:nvPr/>
        </p:nvSpPr>
        <p:spPr>
          <a:xfrm>
            <a:off x="9427464" y="1847088"/>
            <a:ext cx="173736" cy="201168"/>
          </a:xfrm>
          <a:prstGeom prst="rightArrow">
            <a:avLst/>
          </a:prstGeom>
          <a:solidFill>
            <a:srgbClr val="A9B6C6"/>
          </a:solidFill>
          <a:ln w="12700">
            <a:solidFill>
              <a:srgbClr val="A9B6C6"/>
            </a:solidFill>
            <a:prstDash val="solid"/>
          </a:ln>
        </p:spPr>
        <p:txBody>
          <a:bodyPr/>
          <a:p/>
        </p:txBody>
      </p:sp>
      <p:sp>
        <p:nvSpPr>
          <p:cNvPr id="25" name="Shape 22"/>
          <p:cNvSpPr/>
          <p:nvPr/>
        </p:nvSpPr>
        <p:spPr>
          <a:xfrm>
            <a:off x="9619488" y="1417320"/>
            <a:ext cx="2057400" cy="1051560"/>
          </a:xfrm>
          <a:prstGeom prst="roundRect">
            <a:avLst>
              <a:gd name="adj" fmla="val 6957"/>
            </a:avLst>
          </a:prstGeom>
          <a:solidFill>
            <a:srgbClr val="F3F5F8"/>
          </a:solidFill>
          <a:ln w="12700">
            <a:solidFill>
              <a:srgbClr val="F3F5F8"/>
            </a:solidFill>
            <a:prstDash val="solid"/>
          </a:ln>
        </p:spPr>
        <p:txBody>
          <a:bodyPr/>
          <a:p/>
        </p:txBody>
      </p:sp>
      <p:sp>
        <p:nvSpPr>
          <p:cNvPr id="26" name="Shape 23"/>
          <p:cNvSpPr/>
          <p:nvPr/>
        </p:nvSpPr>
        <p:spPr>
          <a:xfrm>
            <a:off x="9784080" y="1572768"/>
            <a:ext cx="384048" cy="384048"/>
          </a:xfrm>
          <a:prstGeom prst="ellipse">
            <a:avLst/>
          </a:prstGeom>
          <a:solidFill>
            <a:srgbClr val="2A78D6"/>
          </a:solidFill>
          <a:ln w="12700">
            <a:solidFill>
              <a:srgbClr val="2A78D6"/>
            </a:solidFill>
            <a:prstDash val="solid"/>
          </a:ln>
        </p:spPr>
        <p:txBody>
          <a:bodyPr/>
          <a:p/>
        </p:txBody>
      </p:sp>
      <p:sp>
        <p:nvSpPr>
          <p:cNvPr id="27" name="Text 24"/>
          <p:cNvSpPr txBox="1"/>
          <p:nvPr/>
        </p:nvSpPr>
        <p:spPr>
          <a:xfrm>
            <a:off x="9784080" y="15727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8" name="Text 25"/>
          <p:cNvSpPr txBox="1"/>
          <p:nvPr/>
        </p:nvSpPr>
        <p:spPr>
          <a:xfrm>
            <a:off x="10259568" y="1463040"/>
            <a:ext cx="1371600" cy="960120"/>
          </a:xfrm>
          <a:prstGeom prst="rect">
            <a:avLst/>
          </a:prstGeom>
          <a:noFill/>
          <a:ln/>
        </p:spPr>
        <p:txBody>
          <a:bodyPr wrap="square" lIns="0" tIns="0" rIns="0" bIns="0" rtlCol="0" anchor="ctr"/>
          <a:lstStyle/>
          <a:p>
            <a:pPr indent="0" marL="0">
              <a:buNone/>
            </a:pPr>
            <a:r>
              <a:rPr lang="en-US" sz="1400" b="1" dirty="0">
                <a:solidFill>
                  <a:srgbClr val="1B1F24"/>
                </a:solidFill>
                <a:latin typeface="Calibri" pitchFamily="34" charset="0"/>
                <a:ea typeface="Calibri" pitchFamily="34" charset="-122"/>
                <a:cs typeface="Calibri" pitchFamily="34" charset="-120"/>
              </a:rPr>
              <a:t>Modelo estrella</a:t>
            </a:r>
            <a:endParaRPr lang="en-US" sz="1400" dirty="0"/>
          </a:p>
          <a:p>
            <a:pPr indent="0" marL="0">
              <a:buNone/>
            </a:pPr>
            <a:r>
              <a:rPr lang="en-US" sz="1200" dirty="0">
                <a:solidFill>
                  <a:srgbClr val="1B1F24"/>
                </a:solidFill>
                <a:latin typeface="Calibri" pitchFamily="34" charset="0"/>
                <a:ea typeface="Calibri" pitchFamily="34" charset="-122"/>
                <a:cs typeface="Calibri" pitchFamily="34" charset="-120"/>
              </a:rPr>
              <a:t>1 hecho + 7 dimensiones</a:t>
            </a:r>
            <a:endParaRPr lang="en-US" sz="1400" dirty="0"/>
          </a:p>
        </p:txBody>
      </p:sp>
      <p:sp>
        <p:nvSpPr>
          <p:cNvPr id="29" name="Shape 26"/>
          <p:cNvSpPr/>
          <p:nvPr/>
        </p:nvSpPr>
        <p:spPr>
          <a:xfrm>
            <a:off x="548640" y="2743200"/>
            <a:ext cx="5394960" cy="3200400"/>
          </a:xfrm>
          <a:prstGeom prst="roundRect">
            <a:avLst>
              <a:gd name="adj" fmla="val 2286"/>
            </a:avLst>
          </a:prstGeom>
          <a:solidFill>
            <a:srgbClr val="F3F5F8"/>
          </a:solidFill>
          <a:ln w="12700">
            <a:solidFill>
              <a:srgbClr val="F3F5F8"/>
            </a:solidFill>
            <a:prstDash val="solid"/>
          </a:ln>
        </p:spPr>
        <p:txBody>
          <a:bodyPr/>
          <a:p/>
        </p:txBody>
      </p:sp>
      <p:sp>
        <p:nvSpPr>
          <p:cNvPr id="30" name="Text 27"/>
          <p:cNvSpPr txBox="1"/>
          <p:nvPr/>
        </p:nvSpPr>
        <p:spPr>
          <a:xfrm>
            <a:off x="777240" y="2898648"/>
            <a:ext cx="4937760" cy="310896"/>
          </a:xfrm>
          <a:prstGeom prst="rect">
            <a:avLst/>
          </a:prstGeom>
          <a:noFill/>
          <a:ln/>
        </p:spPr>
        <p:txBody>
          <a:bodyPr wrap="square" lIns="0" tIns="0" rIns="0" bIns="0" rtlCol="0" anchor="t"/>
          <a:lstStyle/>
          <a:p>
            <a:pPr indent="0" marL="0">
              <a:buNone/>
            </a:pPr>
            <a:r>
              <a:rPr lang="en-US" sz="1500" b="1" dirty="0">
                <a:solidFill>
                  <a:srgbClr val="13294B"/>
                </a:solidFill>
                <a:latin typeface="Calibri" pitchFamily="34" charset="0"/>
                <a:ea typeface="Calibri" pitchFamily="34" charset="-122"/>
                <a:cs typeface="Calibri" pitchFamily="34" charset="-120"/>
              </a:rPr>
              <a:t>Unidad de análisis y granularidad</a:t>
            </a:r>
            <a:endParaRPr lang="en-US" sz="1500" dirty="0"/>
          </a:p>
        </p:txBody>
      </p:sp>
      <p:sp>
        <p:nvSpPr>
          <p:cNvPr id="31" name="Text 28"/>
          <p:cNvSpPr txBox="1"/>
          <p:nvPr/>
        </p:nvSpPr>
        <p:spPr>
          <a:xfrm>
            <a:off x="777240" y="3291840"/>
            <a:ext cx="4983480" cy="2560320"/>
          </a:xfrm>
          <a:prstGeom prst="rect">
            <a:avLst/>
          </a:prstGeom>
          <a:noFill/>
          <a:ln/>
        </p:spPr>
        <p:txBody>
          <a:bodyPr wrap="square" lIns="0" tIns="0" rIns="0" bIns="0" rtlCol="0" anchor="t"/>
          <a:lstStyle/>
          <a:p>
            <a:pPr marL="177800" indent="-177800">
              <a:spcAft>
                <a:spcPts val="700"/>
              </a:spcAft>
              <a:buSzPct val="100000"/>
              <a:buChar char="•"/>
            </a:pPr>
            <a:r>
              <a:rPr lang="en-US" sz="1500" b="1" dirty="0">
                <a:solidFill>
                  <a:srgbClr val="13294B"/>
                </a:solidFill>
                <a:latin typeface="Calibri" pitchFamily="34" charset="0"/>
                <a:ea typeface="Calibri" pitchFamily="34" charset="-122"/>
                <a:cs typeface="Calibri" pitchFamily="34" charset="-120"/>
              </a:rPr>
              <a:t>Una fila = </a:t>
            </a:r>
            <a:pPr indent="0" marL="0">
              <a:spcAft>
                <a:spcPts val="700"/>
              </a:spcAft>
              <a:buNone/>
            </a:pPr>
            <a:r>
              <a:rPr lang="en-US" sz="1500" dirty="0">
                <a:solidFill>
                  <a:srgbClr val="1B1F24"/>
                </a:solidFill>
                <a:latin typeface="Calibri" pitchFamily="34" charset="0"/>
                <a:ea typeface="Calibri" pitchFamily="34" charset="-122"/>
                <a:cs typeface="Calibri" pitchFamily="34" charset="-120"/>
              </a:rPr>
              <a:t>un cliente en un corte (entidad, no evento).</a:t>
            </a:r>
            <a:endParaRPr lang="en-US" sz="1500" dirty="0"/>
          </a:p>
          <a:p>
            <a:pPr marL="177800" indent="-177800">
              <a:spcAft>
                <a:spcPts val="700"/>
              </a:spcAft>
              <a:buSzPct val="100000"/>
              <a:buChar char="•"/>
            </a:pPr>
            <a:r>
              <a:rPr lang="en-US" sz="1500" b="1" dirty="0">
                <a:solidFill>
                  <a:srgbClr val="13294B"/>
                </a:solidFill>
                <a:latin typeface="Calibri" pitchFamily="34" charset="0"/>
                <a:ea typeface="Calibri" pitchFamily="34" charset="-122"/>
                <a:cs typeface="Calibri" pitchFamily="34" charset="-120"/>
              </a:rPr>
              <a:t>Llave: </a:t>
            </a:r>
            <a:pPr indent="0" marL="0">
              <a:spcAft>
                <a:spcPts val="700"/>
              </a:spcAft>
              <a:buNone/>
            </a:pPr>
            <a:r>
              <a:rPr lang="en-US" sz="1500" dirty="0">
                <a:solidFill>
                  <a:srgbClr val="1B1F24"/>
                </a:solidFill>
                <a:latin typeface="Calibri" pitchFamily="34" charset="0"/>
                <a:ea typeface="Calibri" pitchFamily="34" charset="-122"/>
                <a:cs typeface="Calibri" pitchFamily="34" charset="-120"/>
              </a:rPr>
              <a:t>customer_id, única y sin nulos.</a:t>
            </a:r>
            <a:endParaRPr lang="en-US" sz="1500" dirty="0"/>
          </a:p>
          <a:p>
            <a:pPr marL="177800" indent="-177800">
              <a:spcAft>
                <a:spcPts val="700"/>
              </a:spcAft>
              <a:buSzPct val="100000"/>
              <a:buChar char="•"/>
            </a:pPr>
            <a:r>
              <a:rPr lang="en-US" sz="1500" b="1" dirty="0">
                <a:solidFill>
                  <a:srgbClr val="13294B"/>
                </a:solidFill>
                <a:latin typeface="Calibri" pitchFamily="34" charset="0"/>
                <a:ea typeface="Calibri" pitchFamily="34" charset="-122"/>
                <a:cs typeface="Calibri" pitchFamily="34" charset="-120"/>
              </a:rPr>
              <a:t>Eje temporal: </a:t>
            </a:r>
            <a:pPr indent="0" marL="0">
              <a:spcAft>
                <a:spcPts val="700"/>
              </a:spcAft>
              <a:buNone/>
            </a:pPr>
            <a:r>
              <a:rPr lang="en-US" sz="1500" dirty="0">
                <a:solidFill>
                  <a:srgbClr val="1B1F24"/>
                </a:solidFill>
                <a:latin typeface="Calibri" pitchFamily="34" charset="0"/>
                <a:ea typeface="Calibri" pitchFamily="34" charset="-122"/>
                <a:cs typeface="Calibri" pitchFamily="34" charset="-120"/>
              </a:rPr>
              <a:t>antigüedad de 0 a 72 meses; no hay fecha calendario.</a:t>
            </a:r>
            <a:endParaRPr lang="en-US" sz="1500" dirty="0"/>
          </a:p>
          <a:p>
            <a:pPr marL="177800" indent="-177800">
              <a:spcAft>
                <a:spcPts val="700"/>
              </a:spcAft>
              <a:buSzPct val="100000"/>
              <a:buChar char="•"/>
            </a:pPr>
            <a:r>
              <a:rPr lang="en-US" sz="1500" b="1" dirty="0">
                <a:solidFill>
                  <a:srgbClr val="13294B"/>
                </a:solidFill>
                <a:latin typeface="Calibri" pitchFamily="34" charset="0"/>
                <a:ea typeface="Calibri" pitchFamily="34" charset="-122"/>
                <a:cs typeface="Calibri" pitchFamily="34" charset="-120"/>
              </a:rPr>
              <a:t>Granularidad: </a:t>
            </a:r>
            <a:pPr indent="0" marL="0">
              <a:spcAft>
                <a:spcPts val="700"/>
              </a:spcAft>
              <a:buNone/>
            </a:pPr>
            <a:r>
              <a:rPr lang="en-US" sz="1500" dirty="0">
                <a:solidFill>
                  <a:srgbClr val="1B1F24"/>
                </a:solidFill>
                <a:latin typeface="Calibri" pitchFamily="34" charset="0"/>
                <a:ea typeface="Calibri" pitchFamily="34" charset="-122"/>
                <a:cs typeface="Calibri" pitchFamily="34" charset="-120"/>
              </a:rPr>
              <a:t>cliente → cliente-corte → segmento en el dashboard.</a:t>
            </a:r>
            <a:endParaRPr lang="en-US" sz="1500" dirty="0"/>
          </a:p>
          <a:p>
            <a:pPr marL="177800" indent="-177800">
              <a:spcAft>
                <a:spcPts val="700"/>
              </a:spcAft>
              <a:buSzPct val="100000"/>
              <a:buChar char="•"/>
            </a:pPr>
            <a:r>
              <a:rPr lang="en-US" sz="1500" b="1" dirty="0">
                <a:solidFill>
                  <a:srgbClr val="13294B"/>
                </a:solidFill>
                <a:latin typeface="Calibri" pitchFamily="34" charset="0"/>
                <a:ea typeface="Calibri" pitchFamily="34" charset="-122"/>
                <a:cs typeface="Calibri" pitchFamily="34" charset="-120"/>
              </a:rPr>
              <a:t>Regla: </a:t>
            </a:r>
            <a:pPr indent="0" marL="0">
              <a:spcAft>
                <a:spcPts val="700"/>
              </a:spcAft>
              <a:buNone/>
            </a:pPr>
            <a:r>
              <a:rPr lang="en-US" sz="1500" dirty="0">
                <a:solidFill>
                  <a:srgbClr val="1B1F24"/>
                </a:solidFill>
                <a:latin typeface="Calibri" pitchFamily="34" charset="0"/>
                <a:ea typeface="Calibri" pitchFamily="34" charset="-122"/>
                <a:cs typeface="Calibri" pitchFamily="34" charset="-120"/>
              </a:rPr>
              <a:t>tasas como razón de sumas; clientes con DISTINCTCOUNT.</a:t>
            </a:r>
            <a:endParaRPr lang="en-US" sz="1500" dirty="0"/>
          </a:p>
        </p:txBody>
      </p:sp>
      <p:sp>
        <p:nvSpPr>
          <p:cNvPr id="32" name="Shape 29"/>
          <p:cNvSpPr/>
          <p:nvPr/>
        </p:nvSpPr>
        <p:spPr>
          <a:xfrm>
            <a:off x="6245352" y="2743200"/>
            <a:ext cx="5394960" cy="3200400"/>
          </a:xfrm>
          <a:prstGeom prst="roundRect">
            <a:avLst>
              <a:gd name="adj" fmla="val 2286"/>
            </a:avLst>
          </a:prstGeom>
          <a:solidFill>
            <a:srgbClr val="EEF4FC"/>
          </a:solidFill>
          <a:ln w="12700">
            <a:solidFill>
              <a:srgbClr val="EEF4FC"/>
            </a:solidFill>
            <a:prstDash val="solid"/>
          </a:ln>
        </p:spPr>
        <p:txBody>
          <a:bodyPr/>
          <a:p/>
        </p:txBody>
      </p:sp>
      <p:sp>
        <p:nvSpPr>
          <p:cNvPr id="33" name="Text 30"/>
          <p:cNvSpPr txBox="1"/>
          <p:nvPr/>
        </p:nvSpPr>
        <p:spPr>
          <a:xfrm>
            <a:off x="6473952" y="2898648"/>
            <a:ext cx="4937760" cy="310896"/>
          </a:xfrm>
          <a:prstGeom prst="rect">
            <a:avLst/>
          </a:prstGeom>
          <a:noFill/>
          <a:ln/>
        </p:spPr>
        <p:txBody>
          <a:bodyPr wrap="square" lIns="0" tIns="0" rIns="0" bIns="0" rtlCol="0" anchor="t"/>
          <a:lstStyle/>
          <a:p>
            <a:pPr indent="0" marL="0">
              <a:buNone/>
            </a:pPr>
            <a:r>
              <a:rPr lang="en-US" sz="1500" b="1" dirty="0">
                <a:solidFill>
                  <a:srgbClr val="13294B"/>
                </a:solidFill>
                <a:latin typeface="Calibri" pitchFamily="34" charset="0"/>
                <a:ea typeface="Calibri" pitchFamily="34" charset="-122"/>
                <a:cs typeface="Calibri" pitchFamily="34" charset="-120"/>
              </a:rPr>
              <a:t>Qué contiene df_analitico</a:t>
            </a:r>
            <a:endParaRPr lang="en-US" sz="1500" dirty="0"/>
          </a:p>
        </p:txBody>
      </p:sp>
      <p:sp>
        <p:nvSpPr>
          <p:cNvPr id="34" name="Text 31"/>
          <p:cNvSpPr txBox="1"/>
          <p:nvPr/>
        </p:nvSpPr>
        <p:spPr>
          <a:xfrm>
            <a:off x="6473952" y="3291840"/>
            <a:ext cx="4983480" cy="2560320"/>
          </a:xfrm>
          <a:prstGeom prst="rect">
            <a:avLst/>
          </a:prstGeom>
          <a:noFill/>
          <a:ln/>
        </p:spPr>
        <p:txBody>
          <a:bodyPr wrap="square" lIns="0" tIns="0" rIns="0" bIns="0" rtlCol="0" anchor="t"/>
          <a:lstStyle/>
          <a:p>
            <a:pPr marL="177800" indent="-177800">
              <a:spcAft>
                <a:spcPts val="1200"/>
              </a:spcAft>
              <a:buSzPct val="100000"/>
              <a:buChar char="•"/>
            </a:pPr>
            <a:r>
              <a:rPr lang="en-US" sz="1500" b="1" dirty="0">
                <a:solidFill>
                  <a:srgbClr val="13294B"/>
                </a:solidFill>
                <a:latin typeface="Calibri" pitchFamily="34" charset="0"/>
                <a:ea typeface="Calibri" pitchFamily="34" charset="-122"/>
                <a:cs typeface="Calibri" pitchFamily="34" charset="-120"/>
              </a:rPr>
              <a:t>Medidas: </a:t>
            </a:r>
            <a:pPr indent="0" marL="0">
              <a:spcAft>
                <a:spcPts val="1200"/>
              </a:spcAft>
              <a:buNone/>
            </a:pPr>
            <a:r>
              <a:rPr lang="en-US" sz="1500" dirty="0">
                <a:solidFill>
                  <a:srgbClr val="1B1F24"/>
                </a:solidFill>
                <a:latin typeface="Calibri" pitchFamily="34" charset="0"/>
                <a:ea typeface="Calibri" pitchFamily="34" charset="-122"/>
                <a:cs typeface="Calibri" pitchFamily="34" charset="-120"/>
              </a:rPr>
              <a:t>cargo_mensual (MRR), mrr_perdido, churn, prob_churn, mrr_riesgo_esperado.</a:t>
            </a:r>
            <a:endParaRPr lang="en-US" sz="1500" dirty="0"/>
          </a:p>
          <a:p>
            <a:pPr marL="177800" indent="-177800">
              <a:spcAft>
                <a:spcPts val="1200"/>
              </a:spcAft>
              <a:buSzPct val="100000"/>
              <a:buChar char="•"/>
            </a:pPr>
            <a:r>
              <a:rPr lang="en-US" sz="1500" b="1" dirty="0">
                <a:solidFill>
                  <a:srgbClr val="13294B"/>
                </a:solidFill>
                <a:latin typeface="Calibri" pitchFamily="34" charset="0"/>
                <a:ea typeface="Calibri" pitchFamily="34" charset="-122"/>
                <a:cs typeface="Calibri" pitchFamily="34" charset="-120"/>
              </a:rPr>
              <a:t>Dimensiones: </a:t>
            </a:r>
            <a:pPr indent="0" marL="0">
              <a:spcAft>
                <a:spcPts val="1200"/>
              </a:spcAft>
              <a:buNone/>
            </a:pPr>
            <a:r>
              <a:rPr lang="en-US" sz="1500" dirty="0">
                <a:solidFill>
                  <a:srgbClr val="1B1F24"/>
                </a:solidFill>
                <a:latin typeface="Calibri" pitchFamily="34" charset="0"/>
                <a:ea typeface="Calibri" pitchFamily="34" charset="-122"/>
                <a:cs typeface="Calibri" pitchFamily="34" charset="-120"/>
              </a:rPr>
              <a:t>contrato, internet, método de pago, banda y etapa de antigüedad, riesgo, palanca, segmento.</a:t>
            </a:r>
            <a:endParaRPr lang="en-US" sz="1500" dirty="0"/>
          </a:p>
          <a:p>
            <a:pPr marL="177800" indent="-177800">
              <a:spcAft>
                <a:spcPts val="1200"/>
              </a:spcAft>
              <a:buSzPct val="100000"/>
              <a:buChar char="•"/>
            </a:pPr>
            <a:r>
              <a:rPr lang="en-US" sz="1500" b="1" dirty="0">
                <a:solidFill>
                  <a:srgbClr val="13294B"/>
                </a:solidFill>
                <a:latin typeface="Calibri" pitchFamily="34" charset="0"/>
                <a:ea typeface="Calibri" pitchFamily="34" charset="-122"/>
                <a:cs typeface="Calibri" pitchFamily="34" charset="-120"/>
              </a:rPr>
              <a:t>Banderas: </a:t>
            </a:r>
            <a:pPr indent="0" marL="0">
              <a:spcAft>
                <a:spcPts val="1200"/>
              </a:spcAft>
              <a:buNone/>
            </a:pPr>
            <a:r>
              <a:rPr lang="en-US" sz="1500" dirty="0">
                <a:solidFill>
                  <a:srgbClr val="1B1F24"/>
                </a:solidFill>
                <a:latin typeface="Calibri" pitchFamily="34" charset="0"/>
                <a:ea typeface="Calibri" pitchFamily="34" charset="-122"/>
                <a:cs typeface="Calibri" pitchFamily="34" charset="-120"/>
              </a:rPr>
              <a:t>registro_valido, cargo_total_imputado, tiene_proteccion, pago_automatico, contrato_plazo.</a:t>
            </a:r>
            <a:endParaRPr lang="en-US" sz="1500" dirty="0"/>
          </a:p>
        </p:txBody>
      </p:sp>
      <p:sp>
        <p:nvSpPr>
          <p:cNvPr id="25" name="Slide Number Placeholder 0"/>
          <p:cNvSpPr>
            <a:spLocks noGrp="1"/>
          </p:cNvSpPr>
          <p:nvPr>
            <p:ph type="sldNum" sz="quarter" idx="4294967295"/>
          </p:nvPr>
        </p:nvSpPr>
        <p:spPr>
          <a:xfrm>
            <a:off x="11091672"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5B657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164592"/>
            <a:ext cx="11091672" cy="256032"/>
          </a:xfrm>
          <a:prstGeom prst="rect">
            <a:avLst/>
          </a:prstGeom>
          <a:noFill/>
          <a:ln/>
        </p:spPr>
        <p:txBody>
          <a:bodyPr wrap="square" lIns="0" tIns="0" rIns="0" bIns="0" rtlCol="0" anchor="ctr"/>
          <a:lstStyle/>
          <a:p>
            <a:pPr indent="0" marL="0">
              <a:buNone/>
            </a:pPr>
            <a:r>
              <a:rPr lang="en-US" sz="1100" b="1" spc="50" kern="0" dirty="0">
                <a:solidFill>
                  <a:srgbClr val="2A78D6"/>
                </a:solidFill>
                <a:latin typeface="Calibri" pitchFamily="34" charset="0"/>
                <a:ea typeface="Calibri" pitchFamily="34" charset="-122"/>
                <a:cs typeface="Calibri" pitchFamily="34" charset="-120"/>
              </a:rPr>
              <a:t>02 · SISTEMA DE MÉTRICAS Y DATOS</a:t>
            </a:r>
            <a:pPr indent="0" marL="0">
              <a:buNone/>
            </a:pPr>
            <a:endParaRPr lang="en-US" sz="1100" dirty="0"/>
          </a:p>
        </p:txBody>
      </p:sp>
      <p:sp>
        <p:nvSpPr>
          <p:cNvPr id="3" name="Text 0"/>
          <p:cNvSpPr/>
          <p:nvPr>
            <p:ph idx="100" type="title" hasCustomPrompt="1"/>
          </p:nvPr>
        </p:nvSpPr>
        <p:spPr>
          <a:xfrm>
            <a:off x="548640" y="457200"/>
            <a:ext cx="11091672" cy="841248"/>
          </a:xfrm>
          <a:prstGeom prst="rect">
            <a:avLst/>
          </a:prstGeom>
          <a:noFill/>
          <a:ln/>
        </p:spPr>
        <p:txBody>
          <a:bodyPr wrap="square" lIns="0" tIns="0" rIns="0" bIns="0" rtlCol="0" anchor="t"/>
          <a:lstStyle/>
          <a:p>
            <a:pPr algn="l" indent="0" marL="0">
              <a:buNone/>
            </a:pPr>
            <a:r>
              <a:rPr lang="en-US" sz="2400" b="1" dirty="0">
                <a:solidFill>
                  <a:srgbClr val="13294B"/>
                </a:solidFill>
                <a:latin typeface="Cambria" pitchFamily="34" charset="0"/>
                <a:ea typeface="Cambria" pitchFamily="34" charset="-122"/>
                <a:cs typeface="Cambria" pitchFamily="34" charset="-120"/>
              </a:rPr>
              <a:t>La auditoría encontró pocos errores, pero un hallazgo cambia la lectura del churn</a:t>
            </a:r>
            <a:endParaRPr lang="en-US" sz="2400" dirty="0"/>
          </a:p>
        </p:txBody>
      </p:sp>
      <p:sp>
        <p:nvSpPr>
          <p:cNvPr id="5" name="Text 2"/>
          <p:cNvSpPr txBox="1"/>
          <p:nvPr/>
        </p:nvSpPr>
        <p:spPr>
          <a:xfrm>
            <a:off x="548640" y="1417320"/>
            <a:ext cx="4206240" cy="292608"/>
          </a:xfrm>
          <a:prstGeom prst="rect">
            <a:avLst/>
          </a:prstGeom>
          <a:noFill/>
          <a:ln/>
        </p:spPr>
        <p:txBody>
          <a:bodyPr wrap="square" lIns="0" tIns="0" rIns="0" bIns="0" rtlCol="0" anchor="ctr"/>
          <a:lstStyle/>
          <a:p>
            <a:pPr indent="0" marL="0">
              <a:buNone/>
            </a:pPr>
            <a:r>
              <a:rPr lang="en-US" sz="1400" b="1" dirty="0">
                <a:solidFill>
                  <a:srgbClr val="1B1F24"/>
                </a:solidFill>
                <a:latin typeface="Calibri" pitchFamily="34" charset="0"/>
                <a:ea typeface="Calibri" pitchFamily="34" charset="-122"/>
                <a:cs typeface="Calibri" pitchFamily="34" charset="-120"/>
              </a:rPr>
              <a:t>11 revisiones por severidad</a:t>
            </a:r>
            <a:endParaRPr lang="en-US" sz="1400" dirty="0"/>
          </a:p>
        </p:txBody>
      </p:sp>
      <p:sp>
        <p:nvSpPr>
          <p:cNvPr id="6" name="Text 3"/>
          <p:cNvSpPr txBox="1"/>
          <p:nvPr/>
        </p:nvSpPr>
        <p:spPr>
          <a:xfrm>
            <a:off x="548640" y="1709928"/>
            <a:ext cx="4206240" cy="256032"/>
          </a:xfrm>
          <a:prstGeom prst="rect">
            <a:avLst/>
          </a:prstGeom>
          <a:noFill/>
          <a:ln/>
        </p:spPr>
        <p:txBody>
          <a:bodyPr wrap="square" lIns="0" tIns="0" rIns="0" bIns="0" rtlCol="0" anchor="ctr"/>
          <a:lstStyle/>
          <a:p>
            <a:pPr indent="0" marL="0">
              <a:buNone/>
            </a:pPr>
            <a:r>
              <a:rPr lang="en-US" sz="1100" dirty="0">
                <a:solidFill>
                  <a:srgbClr val="5B6573"/>
                </a:solidFill>
                <a:latin typeface="Calibri" pitchFamily="34" charset="0"/>
                <a:ea typeface="Calibri" pitchFamily="34" charset="-122"/>
                <a:cs typeface="Calibri" pitchFamily="34" charset="-120"/>
              </a:rPr>
              <a:t>Plantilla 3 · detalle en el notebook (sección 4)</a:t>
            </a:r>
            <a:endParaRPr lang="en-US" sz="1100" dirty="0"/>
          </a:p>
        </p:txBody>
      </p:sp>
      <p:graphicFrame>
        <p:nvGraphicFramePr>
          <p:cNvPr id="7" name="Chart 0" descr=""/>
          <p:cNvGraphicFramePr/>
          <p:nvPr/>
        </p:nvGraphicFramePr>
        <p:xfrm>
          <a:off x="457200" y="2011680"/>
          <a:ext cx="4297680" cy="2743200"/>
        </p:xfrm>
        <a:graphic xmlns:a="http://schemas.openxmlformats.org/drawingml/2006/main">
          <a:graphicData uri="http://schemas.openxmlformats.org/drawingml/2006/chart">
            <c:chart xmlns:c="http://schemas.openxmlformats.org/drawingml/2006/chart" r:id="rId1"/>
          </a:graphicData>
        </a:graphic>
      </p:graphicFrame>
      <p:sp>
        <p:nvSpPr>
          <p:cNvPr id="8" name="Shape 4"/>
          <p:cNvSpPr/>
          <p:nvPr/>
        </p:nvSpPr>
        <p:spPr>
          <a:xfrm>
            <a:off x="548640" y="4892040"/>
            <a:ext cx="4206240" cy="1051560"/>
          </a:xfrm>
          <a:prstGeom prst="roundRect">
            <a:avLst>
              <a:gd name="adj" fmla="val 6957"/>
            </a:avLst>
          </a:prstGeom>
          <a:solidFill>
            <a:srgbClr val="F3F5F8"/>
          </a:solidFill>
          <a:ln w="12700">
            <a:solidFill>
              <a:srgbClr val="F3F5F8"/>
            </a:solidFill>
            <a:prstDash val="solid"/>
          </a:ln>
        </p:spPr>
        <p:txBody>
          <a:bodyPr/>
          <a:p/>
        </p:txBody>
      </p:sp>
      <p:sp>
        <p:nvSpPr>
          <p:cNvPr id="9" name="Text 5"/>
          <p:cNvSpPr txBox="1"/>
          <p:nvPr/>
        </p:nvSpPr>
        <p:spPr>
          <a:xfrm>
            <a:off x="731520" y="4956048"/>
            <a:ext cx="3840480" cy="914400"/>
          </a:xfrm>
          <a:prstGeom prst="rect">
            <a:avLst/>
          </a:prstGeom>
          <a:noFill/>
          <a:ln/>
        </p:spPr>
        <p:txBody>
          <a:bodyPr wrap="square" lIns="0" tIns="0" rIns="0" bIns="0" rtlCol="0" anchor="ctr"/>
          <a:lstStyle/>
          <a:p>
            <a:pPr indent="0" marL="0">
              <a:buNone/>
            </a:pPr>
            <a:r>
              <a:rPr lang="en-US" sz="1250" dirty="0">
                <a:solidFill>
                  <a:srgbClr val="1B1F24"/>
                </a:solidFill>
                <a:latin typeface="Calibri" pitchFamily="34" charset="0"/>
                <a:ea typeface="Calibri" pitchFamily="34" charset="-122"/>
                <a:cs typeface="Calibri" pitchFamily="34" charset="-120"/>
              </a:rPr>
              <a:t>Validaciones automáticas: llave única, sin nulos, MRR y churners reconciliados con el crudo, tasas en [0, 1] e integridad referencial.</a:t>
            </a:r>
            <a:endParaRPr lang="en-US" sz="1250" dirty="0"/>
          </a:p>
        </p:txBody>
      </p:sp>
      <p:sp>
        <p:nvSpPr>
          <p:cNvPr id="10" name="Shape 6"/>
          <p:cNvSpPr/>
          <p:nvPr/>
        </p:nvSpPr>
        <p:spPr>
          <a:xfrm>
            <a:off x="5120640" y="1417320"/>
            <a:ext cx="6519672" cy="1389888"/>
          </a:xfrm>
          <a:prstGeom prst="roundRect">
            <a:avLst>
              <a:gd name="adj" fmla="val 5263"/>
            </a:avLst>
          </a:prstGeom>
          <a:solidFill>
            <a:srgbClr val="F3F5F8"/>
          </a:solidFill>
          <a:ln w="12700">
            <a:solidFill>
              <a:srgbClr val="F3F5F8"/>
            </a:solidFill>
            <a:prstDash val="solid"/>
          </a:ln>
        </p:spPr>
        <p:txBody>
          <a:bodyPr/>
          <a:p/>
        </p:txBody>
      </p:sp>
      <p:sp>
        <p:nvSpPr>
          <p:cNvPr id="11" name="Text 7"/>
          <p:cNvSpPr txBox="1"/>
          <p:nvPr/>
        </p:nvSpPr>
        <p:spPr>
          <a:xfrm>
            <a:off x="5303520" y="1581912"/>
            <a:ext cx="640080" cy="237744"/>
          </a:xfrm>
          <a:prstGeom prst="rect">
            <a:avLst/>
          </a:prstGeom>
          <a:solidFill>
            <a:srgbClr val="C8312F"/>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ALTA</a:t>
            </a:r>
            <a:endParaRPr lang="en-US" sz="1000" dirty="0"/>
          </a:p>
        </p:txBody>
      </p:sp>
      <p:sp>
        <p:nvSpPr>
          <p:cNvPr id="12" name="Text 8"/>
          <p:cNvSpPr txBox="1"/>
          <p:nvPr/>
        </p:nvSpPr>
        <p:spPr>
          <a:xfrm>
            <a:off x="6035040" y="1527048"/>
            <a:ext cx="5394960" cy="329184"/>
          </a:xfrm>
          <a:prstGeom prst="rect">
            <a:avLst/>
          </a:prstGeom>
          <a:noFill/>
          <a:ln/>
        </p:spPr>
        <p:txBody>
          <a:bodyPr wrap="square" lIns="0" tIns="0" rIns="0" bIns="0" rtlCol="0" anchor="ctr"/>
          <a:lstStyle/>
          <a:p>
            <a:pPr indent="0" marL="0">
              <a:buNone/>
            </a:pPr>
            <a:r>
              <a:rPr lang="en-US" sz="1500" b="1" dirty="0">
                <a:solidFill>
                  <a:srgbClr val="13294B"/>
                </a:solidFill>
                <a:latin typeface="Calibri" pitchFamily="34" charset="0"/>
                <a:ea typeface="Calibri" pitchFamily="34" charset="-122"/>
                <a:cs typeface="Calibri" pitchFamily="34" charset="-120"/>
              </a:rPr>
              <a:t>11 TotalCharges vacíos</a:t>
            </a:r>
            <a:endParaRPr lang="en-US" sz="1500" dirty="0"/>
          </a:p>
        </p:txBody>
      </p:sp>
      <p:sp>
        <p:nvSpPr>
          <p:cNvPr id="13" name="Text 9"/>
          <p:cNvSpPr txBox="1"/>
          <p:nvPr/>
        </p:nvSpPr>
        <p:spPr>
          <a:xfrm>
            <a:off x="5303520" y="1920240"/>
            <a:ext cx="6172200" cy="822960"/>
          </a:xfrm>
          <a:prstGeom prst="rect">
            <a:avLst/>
          </a:prstGeom>
          <a:noFill/>
          <a:ln/>
        </p:spPr>
        <p:txBody>
          <a:bodyPr wrap="square" lIns="0" tIns="0" rIns="0" bIns="0" rtlCol="0" anchor="t"/>
          <a:lstStyle/>
          <a:p>
            <a:pPr indent="0" marL="0">
              <a:buNone/>
            </a:pPr>
            <a:r>
              <a:rPr lang="en-US" sz="1350" dirty="0">
                <a:solidFill>
                  <a:srgbClr val="1B1F24"/>
                </a:solidFill>
                <a:latin typeface="Calibri" pitchFamily="34" charset="0"/>
                <a:ea typeface="Calibri" pitchFamily="34" charset="-122"/>
                <a:cs typeface="Calibri" pitchFamily="34" charset="-120"/>
              </a:rPr>
              <a:t>Todos con antigüedad 0: clientes aún sin facturar. Se imputa 0 con bandera; no se elimina a nadie.</a:t>
            </a:r>
            <a:endParaRPr lang="en-US" sz="1350" dirty="0"/>
          </a:p>
        </p:txBody>
      </p:sp>
      <p:sp>
        <p:nvSpPr>
          <p:cNvPr id="14" name="Shape 10"/>
          <p:cNvSpPr/>
          <p:nvPr/>
        </p:nvSpPr>
        <p:spPr>
          <a:xfrm>
            <a:off x="5120640" y="2953512"/>
            <a:ext cx="6519672" cy="1389888"/>
          </a:xfrm>
          <a:prstGeom prst="roundRect">
            <a:avLst>
              <a:gd name="adj" fmla="val 5263"/>
            </a:avLst>
          </a:prstGeom>
          <a:solidFill>
            <a:srgbClr val="F3F5F8"/>
          </a:solidFill>
          <a:ln w="12700">
            <a:solidFill>
              <a:srgbClr val="F3F5F8"/>
            </a:solidFill>
            <a:prstDash val="solid"/>
          </a:ln>
        </p:spPr>
        <p:txBody>
          <a:bodyPr/>
          <a:p/>
        </p:txBody>
      </p:sp>
      <p:sp>
        <p:nvSpPr>
          <p:cNvPr id="15" name="Text 11"/>
          <p:cNvSpPr txBox="1"/>
          <p:nvPr/>
        </p:nvSpPr>
        <p:spPr>
          <a:xfrm>
            <a:off x="5303520" y="3118104"/>
            <a:ext cx="640080" cy="237744"/>
          </a:xfrm>
          <a:prstGeom prst="rect">
            <a:avLst/>
          </a:prstGeom>
          <a:solidFill>
            <a:srgbClr val="C8312F"/>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ALTA</a:t>
            </a:r>
            <a:endParaRPr lang="en-US" sz="1000" dirty="0"/>
          </a:p>
        </p:txBody>
      </p:sp>
      <p:sp>
        <p:nvSpPr>
          <p:cNvPr id="16" name="Text 12"/>
          <p:cNvSpPr txBox="1"/>
          <p:nvPr/>
        </p:nvSpPr>
        <p:spPr>
          <a:xfrm>
            <a:off x="6035040" y="3063240"/>
            <a:ext cx="5394960" cy="329184"/>
          </a:xfrm>
          <a:prstGeom prst="rect">
            <a:avLst/>
          </a:prstGeom>
          <a:noFill/>
          <a:ln/>
        </p:spPr>
        <p:txBody>
          <a:bodyPr wrap="square" lIns="0" tIns="0" rIns="0" bIns="0" rtlCol="0" anchor="ctr"/>
          <a:lstStyle/>
          <a:p>
            <a:pPr indent="0" marL="0">
              <a:buNone/>
            </a:pPr>
            <a:r>
              <a:rPr lang="en-US" sz="1500" b="1" dirty="0">
                <a:solidFill>
                  <a:srgbClr val="13294B"/>
                </a:solidFill>
                <a:latin typeface="Calibri" pitchFamily="34" charset="0"/>
                <a:ea typeface="Calibri" pitchFamily="34" charset="-122"/>
                <a:cs typeface="Calibri" pitchFamily="34" charset="-120"/>
              </a:rPr>
              <a:t>Sin fecha calendario</a:t>
            </a:r>
            <a:endParaRPr lang="en-US" sz="1500" dirty="0"/>
          </a:p>
        </p:txBody>
      </p:sp>
      <p:sp>
        <p:nvSpPr>
          <p:cNvPr id="17" name="Text 13"/>
          <p:cNvSpPr txBox="1"/>
          <p:nvPr/>
        </p:nvSpPr>
        <p:spPr>
          <a:xfrm>
            <a:off x="5303520" y="3456432"/>
            <a:ext cx="6172200" cy="822960"/>
          </a:xfrm>
          <a:prstGeom prst="rect">
            <a:avLst/>
          </a:prstGeom>
          <a:noFill/>
          <a:ln/>
        </p:spPr>
        <p:txBody>
          <a:bodyPr wrap="square" lIns="0" tIns="0" rIns="0" bIns="0" rtlCol="0" anchor="t"/>
          <a:lstStyle/>
          <a:p>
            <a:pPr indent="0" marL="0">
              <a:buNone/>
            </a:pPr>
            <a:r>
              <a:rPr lang="en-US" sz="1350" dirty="0">
                <a:solidFill>
                  <a:srgbClr val="1B1F24"/>
                </a:solidFill>
                <a:latin typeface="Calibri" pitchFamily="34" charset="0"/>
                <a:ea typeface="Calibri" pitchFamily="34" charset="-122"/>
                <a:cs typeface="Calibri" pitchFamily="34" charset="-120"/>
              </a:rPr>
              <a:t>No hay serie mensual. El eje temporal es la antigüedad, con cohortes por banda de antigüedad.</a:t>
            </a:r>
            <a:endParaRPr lang="en-US" sz="1350" dirty="0"/>
          </a:p>
        </p:txBody>
      </p:sp>
      <p:sp>
        <p:nvSpPr>
          <p:cNvPr id="18" name="Shape 14"/>
          <p:cNvSpPr/>
          <p:nvPr/>
        </p:nvSpPr>
        <p:spPr>
          <a:xfrm>
            <a:off x="5120640" y="4489704"/>
            <a:ext cx="6519672" cy="1389888"/>
          </a:xfrm>
          <a:prstGeom prst="roundRect">
            <a:avLst>
              <a:gd name="adj" fmla="val 5263"/>
            </a:avLst>
          </a:prstGeom>
          <a:solidFill>
            <a:srgbClr val="FCEBE3"/>
          </a:solidFill>
          <a:ln w="12700">
            <a:solidFill>
              <a:srgbClr val="FCEBE3"/>
            </a:solidFill>
            <a:prstDash val="solid"/>
          </a:ln>
        </p:spPr>
        <p:txBody>
          <a:bodyPr/>
          <a:p/>
        </p:txBody>
      </p:sp>
      <p:sp>
        <p:nvSpPr>
          <p:cNvPr id="19" name="Text 15"/>
          <p:cNvSpPr txBox="1"/>
          <p:nvPr/>
        </p:nvSpPr>
        <p:spPr>
          <a:xfrm>
            <a:off x="5303520" y="4654296"/>
            <a:ext cx="640080" cy="237744"/>
          </a:xfrm>
          <a:prstGeom prst="rect">
            <a:avLst/>
          </a:prstGeom>
          <a:solidFill>
            <a:srgbClr val="C8312F"/>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ALTA</a:t>
            </a:r>
            <a:endParaRPr lang="en-US" sz="1000" dirty="0"/>
          </a:p>
        </p:txBody>
      </p:sp>
      <p:sp>
        <p:nvSpPr>
          <p:cNvPr id="20" name="Text 16"/>
          <p:cNvSpPr txBox="1"/>
          <p:nvPr/>
        </p:nvSpPr>
        <p:spPr>
          <a:xfrm>
            <a:off x="6035040" y="4599432"/>
            <a:ext cx="5394960" cy="329184"/>
          </a:xfrm>
          <a:prstGeom prst="rect">
            <a:avLst/>
          </a:prstGeom>
          <a:noFill/>
          <a:ln/>
        </p:spPr>
        <p:txBody>
          <a:bodyPr wrap="square" lIns="0" tIns="0" rIns="0" bIns="0" rtlCol="0" anchor="ctr"/>
          <a:lstStyle/>
          <a:p>
            <a:pPr indent="0" marL="0">
              <a:buNone/>
            </a:pPr>
            <a:r>
              <a:rPr lang="en-US" sz="1500" b="1" dirty="0">
                <a:solidFill>
                  <a:srgbClr val="13294B"/>
                </a:solidFill>
                <a:latin typeface="Calibri" pitchFamily="34" charset="0"/>
                <a:ea typeface="Calibri" pitchFamily="34" charset="-122"/>
                <a:cs typeface="Calibri" pitchFamily="34" charset="-120"/>
              </a:rPr>
              <a:t>26,5 % no es churn mensual</a:t>
            </a:r>
            <a:endParaRPr lang="en-US" sz="1500" dirty="0"/>
          </a:p>
        </p:txBody>
      </p:sp>
      <p:sp>
        <p:nvSpPr>
          <p:cNvPr id="21" name="Text 17"/>
          <p:cNvSpPr txBox="1"/>
          <p:nvPr/>
        </p:nvSpPr>
        <p:spPr>
          <a:xfrm>
            <a:off x="5303520" y="4992624"/>
            <a:ext cx="6172200" cy="822960"/>
          </a:xfrm>
          <a:prstGeom prst="rect">
            <a:avLst/>
          </a:prstGeom>
          <a:noFill/>
          <a:ln/>
        </p:spPr>
        <p:txBody>
          <a:bodyPr wrap="square" lIns="0" tIns="0" rIns="0" bIns="0" rtlCol="0" anchor="t"/>
          <a:lstStyle/>
          <a:p>
            <a:pPr indent="0" marL="0">
              <a:buNone/>
            </a:pPr>
            <a:r>
              <a:rPr lang="en-US" sz="1350" dirty="0">
                <a:solidFill>
                  <a:srgbClr val="1B1F24"/>
                </a:solidFill>
                <a:latin typeface="Calibri" pitchFamily="34" charset="0"/>
                <a:ea typeface="Calibri" pitchFamily="34" charset="-122"/>
                <a:cs typeface="Calibri" pitchFamily="34" charset="-120"/>
              </a:rPr>
              <a:t>Con esa tasa, la proporción esperada de clientes con 49 meses o más sería ≈ 0; en la base es 31,8 %. Se reporta como tasa del período y no se anualiza.</a:t>
            </a:r>
            <a:endParaRPr lang="en-US" sz="1350" dirty="0"/>
          </a:p>
        </p:txBody>
      </p:sp>
      <p:sp>
        <p:nvSpPr>
          <p:cNvPr id="25" name="Slide Number Placeholder 0"/>
          <p:cNvSpPr>
            <a:spLocks noGrp="1"/>
          </p:cNvSpPr>
          <p:nvPr>
            <p:ph type="sldNum" sz="quarter" idx="4294967295"/>
          </p:nvPr>
        </p:nvSpPr>
        <p:spPr>
          <a:xfrm>
            <a:off x="11091672"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5B657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164592"/>
            <a:ext cx="11091672" cy="256032"/>
          </a:xfrm>
          <a:prstGeom prst="rect">
            <a:avLst/>
          </a:prstGeom>
          <a:noFill/>
          <a:ln/>
        </p:spPr>
        <p:txBody>
          <a:bodyPr wrap="square" lIns="0" tIns="0" rIns="0" bIns="0" rtlCol="0" anchor="ctr"/>
          <a:lstStyle/>
          <a:p>
            <a:pPr indent="0" marL="0">
              <a:buNone/>
            </a:pPr>
            <a:r>
              <a:rPr lang="en-US" sz="1100" b="1" spc="50" kern="0" dirty="0">
                <a:solidFill>
                  <a:srgbClr val="2A78D6"/>
                </a:solidFill>
                <a:latin typeface="Calibri" pitchFamily="34" charset="0"/>
                <a:ea typeface="Calibri" pitchFamily="34" charset="-122"/>
                <a:cs typeface="Calibri" pitchFamily="34" charset="-120"/>
              </a:rPr>
              <a:t>02 · SISTEMA DE MÉTRICAS Y DATOS</a:t>
            </a:r>
            <a:pPr indent="0" marL="0">
              <a:buNone/>
            </a:pPr>
            <a:endParaRPr lang="en-US" sz="1100" dirty="0"/>
          </a:p>
        </p:txBody>
      </p:sp>
      <p:sp>
        <p:nvSpPr>
          <p:cNvPr id="3" name="Text 0"/>
          <p:cNvSpPr/>
          <p:nvPr>
            <p:ph idx="100" type="title" hasCustomPrompt="1"/>
          </p:nvPr>
        </p:nvSpPr>
        <p:spPr>
          <a:xfrm>
            <a:off x="548640" y="457200"/>
            <a:ext cx="11091672" cy="841248"/>
          </a:xfrm>
          <a:prstGeom prst="rect">
            <a:avLst/>
          </a:prstGeom>
          <a:noFill/>
          <a:ln/>
        </p:spPr>
        <p:txBody>
          <a:bodyPr wrap="square" lIns="0" tIns="0" rIns="0" bIns="0" rtlCol="0" anchor="t"/>
          <a:lstStyle/>
          <a:p>
            <a:pPr algn="l" indent="0" marL="0">
              <a:buNone/>
            </a:pPr>
            <a:r>
              <a:rPr lang="en-US" sz="2400" b="1" dirty="0">
                <a:solidFill>
                  <a:srgbClr val="13294B"/>
                </a:solidFill>
                <a:latin typeface="Cambria" pitchFamily="34" charset="0"/>
                <a:ea typeface="Cambria" pitchFamily="34" charset="-122"/>
                <a:cs typeface="Cambria" pitchFamily="34" charset="-120"/>
              </a:rPr>
              <a:t>En Power BI el modelo es un esquema estrella con 76 medidas DAX oficiales</a:t>
            </a:r>
            <a:endParaRPr lang="en-US" sz="2400" dirty="0"/>
          </a:p>
        </p:txBody>
      </p:sp>
      <p:sp>
        <p:nvSpPr>
          <p:cNvPr id="5" name="Shape 2"/>
          <p:cNvSpPr/>
          <p:nvPr/>
        </p:nvSpPr>
        <p:spPr>
          <a:xfrm>
            <a:off x="2468880" y="1874520"/>
            <a:ext cx="3611880" cy="1691640"/>
          </a:xfrm>
          <a:prstGeom prst="line">
            <a:avLst/>
          </a:prstGeom>
          <a:noFill/>
          <a:ln w="15875">
            <a:solidFill>
              <a:srgbClr val="A9B6C6"/>
            </a:solidFill>
            <a:prstDash val="solid"/>
          </a:ln>
        </p:spPr>
        <p:txBody>
          <a:bodyPr/>
          <a:p/>
        </p:txBody>
      </p:sp>
      <p:sp>
        <p:nvSpPr>
          <p:cNvPr id="6" name="Shape 3"/>
          <p:cNvSpPr/>
          <p:nvPr/>
        </p:nvSpPr>
        <p:spPr>
          <a:xfrm>
            <a:off x="6080760" y="1874520"/>
            <a:ext cx="0" cy="1691640"/>
          </a:xfrm>
          <a:prstGeom prst="line">
            <a:avLst/>
          </a:prstGeom>
          <a:noFill/>
          <a:ln w="15875">
            <a:solidFill>
              <a:srgbClr val="A9B6C6"/>
            </a:solidFill>
            <a:prstDash val="solid"/>
          </a:ln>
        </p:spPr>
        <p:txBody>
          <a:bodyPr/>
          <a:p/>
        </p:txBody>
      </p:sp>
      <p:sp>
        <p:nvSpPr>
          <p:cNvPr id="7" name="Shape 4"/>
          <p:cNvSpPr/>
          <p:nvPr/>
        </p:nvSpPr>
        <p:spPr>
          <a:xfrm flipH="1">
            <a:off x="6080760" y="1874520"/>
            <a:ext cx="3611880" cy="1691640"/>
          </a:xfrm>
          <a:prstGeom prst="line">
            <a:avLst/>
          </a:prstGeom>
          <a:noFill/>
          <a:ln w="15875">
            <a:solidFill>
              <a:srgbClr val="A9B6C6"/>
            </a:solidFill>
            <a:prstDash val="solid"/>
          </a:ln>
        </p:spPr>
        <p:txBody>
          <a:bodyPr/>
          <a:p/>
        </p:txBody>
      </p:sp>
      <p:sp>
        <p:nvSpPr>
          <p:cNvPr id="8" name="Shape 5"/>
          <p:cNvSpPr/>
          <p:nvPr/>
        </p:nvSpPr>
        <p:spPr>
          <a:xfrm>
            <a:off x="2468880" y="3429000"/>
            <a:ext cx="3611880" cy="137160"/>
          </a:xfrm>
          <a:prstGeom prst="line">
            <a:avLst/>
          </a:prstGeom>
          <a:noFill/>
          <a:ln w="15875">
            <a:solidFill>
              <a:srgbClr val="A9B6C6"/>
            </a:solidFill>
            <a:prstDash val="solid"/>
          </a:ln>
        </p:spPr>
        <p:txBody>
          <a:bodyPr/>
          <a:p/>
        </p:txBody>
      </p:sp>
      <p:sp>
        <p:nvSpPr>
          <p:cNvPr id="9" name="Shape 6"/>
          <p:cNvSpPr/>
          <p:nvPr/>
        </p:nvSpPr>
        <p:spPr>
          <a:xfrm flipH="1">
            <a:off x="6080760" y="3429000"/>
            <a:ext cx="3611880" cy="137160"/>
          </a:xfrm>
          <a:prstGeom prst="line">
            <a:avLst/>
          </a:prstGeom>
          <a:noFill/>
          <a:ln w="15875">
            <a:solidFill>
              <a:srgbClr val="A9B6C6"/>
            </a:solidFill>
            <a:prstDash val="solid"/>
          </a:ln>
        </p:spPr>
        <p:txBody>
          <a:bodyPr/>
          <a:p/>
        </p:txBody>
      </p:sp>
      <p:sp>
        <p:nvSpPr>
          <p:cNvPr id="10" name="Shape 7"/>
          <p:cNvSpPr/>
          <p:nvPr/>
        </p:nvSpPr>
        <p:spPr>
          <a:xfrm flipH="1">
            <a:off x="2468880" y="3566160"/>
            <a:ext cx="3611880" cy="1417320"/>
          </a:xfrm>
          <a:prstGeom prst="line">
            <a:avLst/>
          </a:prstGeom>
          <a:noFill/>
          <a:ln w="15875">
            <a:solidFill>
              <a:srgbClr val="A9B6C6"/>
            </a:solidFill>
            <a:prstDash val="solid"/>
          </a:ln>
        </p:spPr>
        <p:txBody>
          <a:bodyPr/>
          <a:p/>
        </p:txBody>
      </p:sp>
      <p:sp>
        <p:nvSpPr>
          <p:cNvPr id="11" name="Shape 8"/>
          <p:cNvSpPr/>
          <p:nvPr/>
        </p:nvSpPr>
        <p:spPr>
          <a:xfrm>
            <a:off x="6080760" y="3566160"/>
            <a:ext cx="3611880" cy="1417320"/>
          </a:xfrm>
          <a:prstGeom prst="line">
            <a:avLst/>
          </a:prstGeom>
          <a:noFill/>
          <a:ln w="15875">
            <a:solidFill>
              <a:srgbClr val="A9B6C6"/>
            </a:solidFill>
            <a:prstDash val="solid"/>
          </a:ln>
        </p:spPr>
        <p:txBody>
          <a:bodyPr/>
          <a:p/>
        </p:txBody>
      </p:sp>
      <p:sp>
        <p:nvSpPr>
          <p:cNvPr id="12" name="Shape 9"/>
          <p:cNvSpPr/>
          <p:nvPr/>
        </p:nvSpPr>
        <p:spPr>
          <a:xfrm>
            <a:off x="914400" y="1463040"/>
            <a:ext cx="3108960" cy="822960"/>
          </a:xfrm>
          <a:prstGeom prst="roundRect">
            <a:avLst>
              <a:gd name="adj" fmla="val 6667"/>
            </a:avLst>
          </a:prstGeom>
          <a:solidFill>
            <a:srgbClr val="FFFFFF"/>
          </a:solidFill>
          <a:ln w="15875">
            <a:solidFill>
              <a:srgbClr val="2A78D6"/>
            </a:solidFill>
            <a:prstDash val="solid"/>
          </a:ln>
        </p:spPr>
        <p:txBody>
          <a:bodyPr/>
          <a:p/>
        </p:txBody>
      </p:sp>
      <p:sp>
        <p:nvSpPr>
          <p:cNvPr id="13" name="Text 10"/>
          <p:cNvSpPr txBox="1"/>
          <p:nvPr/>
        </p:nvSpPr>
        <p:spPr>
          <a:xfrm>
            <a:off x="914400" y="1463040"/>
            <a:ext cx="3108960" cy="822960"/>
          </a:xfrm>
          <a:prstGeom prst="rect">
            <a:avLst/>
          </a:prstGeom>
          <a:noFill/>
          <a:ln/>
        </p:spPr>
        <p:txBody>
          <a:bodyPr wrap="square" lIns="0" tIns="0" rIns="0" bIns="0" rtlCol="0" anchor="ctr"/>
          <a:lstStyle/>
          <a:p>
            <a:pPr algn="ctr" indent="0" marL="0">
              <a:buNone/>
            </a:pPr>
            <a:r>
              <a:rPr lang="en-US" sz="1400" b="1" dirty="0">
                <a:solidFill>
                  <a:srgbClr val="13294B"/>
                </a:solidFill>
                <a:latin typeface="Calibri" pitchFamily="34" charset="0"/>
                <a:ea typeface="Calibri" pitchFamily="34" charset="-122"/>
                <a:cs typeface="Calibri" pitchFamily="34" charset="-120"/>
              </a:rPr>
              <a:t>dim_antiguedad</a:t>
            </a:r>
            <a:endParaRPr lang="en-US" sz="1400" dirty="0"/>
          </a:p>
          <a:p>
            <a:pPr algn="ctr" indent="0" marL="0">
              <a:buNone/>
            </a:pPr>
            <a:r>
              <a:rPr lang="en-US" sz="1200" dirty="0">
                <a:solidFill>
                  <a:srgbClr val="5B6573"/>
                </a:solidFill>
                <a:latin typeface="Calibri" pitchFamily="34" charset="0"/>
                <a:ea typeface="Calibri" pitchFamily="34" charset="-122"/>
                <a:cs typeface="Calibri" pitchFamily="34" charset="-120"/>
              </a:rPr>
              <a:t>mes, banda, etapa</a:t>
            </a:r>
            <a:endParaRPr lang="en-US" sz="1400" dirty="0"/>
          </a:p>
        </p:txBody>
      </p:sp>
      <p:sp>
        <p:nvSpPr>
          <p:cNvPr id="14" name="Shape 11"/>
          <p:cNvSpPr/>
          <p:nvPr/>
        </p:nvSpPr>
        <p:spPr>
          <a:xfrm>
            <a:off x="4526280" y="1463040"/>
            <a:ext cx="3108960" cy="822960"/>
          </a:xfrm>
          <a:prstGeom prst="roundRect">
            <a:avLst>
              <a:gd name="adj" fmla="val 6667"/>
            </a:avLst>
          </a:prstGeom>
          <a:solidFill>
            <a:srgbClr val="FFFFFF"/>
          </a:solidFill>
          <a:ln w="15875">
            <a:solidFill>
              <a:srgbClr val="2A78D6"/>
            </a:solidFill>
            <a:prstDash val="solid"/>
          </a:ln>
        </p:spPr>
        <p:txBody>
          <a:bodyPr/>
          <a:p/>
        </p:txBody>
      </p:sp>
      <p:sp>
        <p:nvSpPr>
          <p:cNvPr id="15" name="Text 12"/>
          <p:cNvSpPr txBox="1"/>
          <p:nvPr/>
        </p:nvSpPr>
        <p:spPr>
          <a:xfrm>
            <a:off x="4526280" y="1463040"/>
            <a:ext cx="3108960" cy="822960"/>
          </a:xfrm>
          <a:prstGeom prst="rect">
            <a:avLst/>
          </a:prstGeom>
          <a:noFill/>
          <a:ln/>
        </p:spPr>
        <p:txBody>
          <a:bodyPr wrap="square" lIns="0" tIns="0" rIns="0" bIns="0" rtlCol="0" anchor="ctr"/>
          <a:lstStyle/>
          <a:p>
            <a:pPr algn="ctr" indent="0" marL="0">
              <a:buNone/>
            </a:pPr>
            <a:r>
              <a:rPr lang="en-US" sz="1400" b="1" dirty="0">
                <a:solidFill>
                  <a:srgbClr val="13294B"/>
                </a:solidFill>
                <a:latin typeface="Calibri" pitchFamily="34" charset="0"/>
                <a:ea typeface="Calibri" pitchFamily="34" charset="-122"/>
                <a:cs typeface="Calibri" pitchFamily="34" charset="-120"/>
              </a:rPr>
              <a:t>dim_contrato</a:t>
            </a:r>
            <a:endParaRPr lang="en-US" sz="1400" dirty="0"/>
          </a:p>
          <a:p>
            <a:pPr algn="ctr" indent="0" marL="0">
              <a:buNone/>
            </a:pPr>
            <a:r>
              <a:rPr lang="en-US" sz="1200" dirty="0">
                <a:solidFill>
                  <a:srgbClr val="5B6573"/>
                </a:solidFill>
                <a:latin typeface="Calibri" pitchFamily="34" charset="0"/>
                <a:ea typeface="Calibri" pitchFamily="34" charset="-122"/>
                <a:cs typeface="Calibri" pitchFamily="34" charset="-120"/>
              </a:rPr>
              <a:t>tipo, plazo</a:t>
            </a:r>
            <a:endParaRPr lang="en-US" sz="1400" dirty="0"/>
          </a:p>
        </p:txBody>
      </p:sp>
      <p:sp>
        <p:nvSpPr>
          <p:cNvPr id="16" name="Shape 13"/>
          <p:cNvSpPr/>
          <p:nvPr/>
        </p:nvSpPr>
        <p:spPr>
          <a:xfrm>
            <a:off x="8138160" y="1463040"/>
            <a:ext cx="3108960" cy="822960"/>
          </a:xfrm>
          <a:prstGeom prst="roundRect">
            <a:avLst>
              <a:gd name="adj" fmla="val 6667"/>
            </a:avLst>
          </a:prstGeom>
          <a:solidFill>
            <a:srgbClr val="FFFFFF"/>
          </a:solidFill>
          <a:ln w="15875">
            <a:solidFill>
              <a:srgbClr val="2A78D6"/>
            </a:solidFill>
            <a:prstDash val="solid"/>
          </a:ln>
        </p:spPr>
        <p:txBody>
          <a:bodyPr/>
          <a:p/>
        </p:txBody>
      </p:sp>
      <p:sp>
        <p:nvSpPr>
          <p:cNvPr id="17" name="Text 14"/>
          <p:cNvSpPr txBox="1"/>
          <p:nvPr/>
        </p:nvSpPr>
        <p:spPr>
          <a:xfrm>
            <a:off x="8138160" y="1463040"/>
            <a:ext cx="3108960" cy="822960"/>
          </a:xfrm>
          <a:prstGeom prst="rect">
            <a:avLst/>
          </a:prstGeom>
          <a:noFill/>
          <a:ln/>
        </p:spPr>
        <p:txBody>
          <a:bodyPr wrap="square" lIns="0" tIns="0" rIns="0" bIns="0" rtlCol="0" anchor="ctr"/>
          <a:lstStyle/>
          <a:p>
            <a:pPr algn="ctr" indent="0" marL="0">
              <a:buNone/>
            </a:pPr>
            <a:r>
              <a:rPr lang="en-US" sz="1400" b="1" dirty="0">
                <a:solidFill>
                  <a:srgbClr val="13294B"/>
                </a:solidFill>
                <a:latin typeface="Calibri" pitchFamily="34" charset="0"/>
                <a:ea typeface="Calibri" pitchFamily="34" charset="-122"/>
                <a:cs typeface="Calibri" pitchFamily="34" charset="-120"/>
              </a:rPr>
              <a:t>dim_internet</a:t>
            </a:r>
            <a:endParaRPr lang="en-US" sz="1400" dirty="0"/>
          </a:p>
          <a:p>
            <a:pPr algn="ctr" indent="0" marL="0">
              <a:buNone/>
            </a:pPr>
            <a:r>
              <a:rPr lang="en-US" sz="1200" dirty="0">
                <a:solidFill>
                  <a:srgbClr val="5B6573"/>
                </a:solidFill>
                <a:latin typeface="Calibri" pitchFamily="34" charset="0"/>
                <a:ea typeface="Calibri" pitchFamily="34" charset="-122"/>
                <a:cs typeface="Calibri" pitchFamily="34" charset="-120"/>
              </a:rPr>
              <a:t>servicio</a:t>
            </a:r>
            <a:endParaRPr lang="en-US" sz="1400" dirty="0"/>
          </a:p>
        </p:txBody>
      </p:sp>
      <p:sp>
        <p:nvSpPr>
          <p:cNvPr id="18" name="Shape 15"/>
          <p:cNvSpPr/>
          <p:nvPr/>
        </p:nvSpPr>
        <p:spPr>
          <a:xfrm>
            <a:off x="914400" y="3017520"/>
            <a:ext cx="3108960" cy="822960"/>
          </a:xfrm>
          <a:prstGeom prst="roundRect">
            <a:avLst>
              <a:gd name="adj" fmla="val 6667"/>
            </a:avLst>
          </a:prstGeom>
          <a:solidFill>
            <a:srgbClr val="FFFFFF"/>
          </a:solidFill>
          <a:ln w="15875">
            <a:solidFill>
              <a:srgbClr val="2A78D6"/>
            </a:solidFill>
            <a:prstDash val="solid"/>
          </a:ln>
        </p:spPr>
        <p:txBody>
          <a:bodyPr/>
          <a:p/>
        </p:txBody>
      </p:sp>
      <p:sp>
        <p:nvSpPr>
          <p:cNvPr id="19" name="Text 16"/>
          <p:cNvSpPr txBox="1"/>
          <p:nvPr/>
        </p:nvSpPr>
        <p:spPr>
          <a:xfrm>
            <a:off x="914400" y="3017520"/>
            <a:ext cx="3108960" cy="822960"/>
          </a:xfrm>
          <a:prstGeom prst="rect">
            <a:avLst/>
          </a:prstGeom>
          <a:noFill/>
          <a:ln/>
        </p:spPr>
        <p:txBody>
          <a:bodyPr wrap="square" lIns="0" tIns="0" rIns="0" bIns="0" rtlCol="0" anchor="ctr"/>
          <a:lstStyle/>
          <a:p>
            <a:pPr algn="ctr" indent="0" marL="0">
              <a:buNone/>
            </a:pPr>
            <a:r>
              <a:rPr lang="en-US" sz="1400" b="1" dirty="0">
                <a:solidFill>
                  <a:srgbClr val="13294B"/>
                </a:solidFill>
                <a:latin typeface="Calibri" pitchFamily="34" charset="0"/>
                <a:ea typeface="Calibri" pitchFamily="34" charset="-122"/>
                <a:cs typeface="Calibri" pitchFamily="34" charset="-120"/>
              </a:rPr>
              <a:t>dim_pago</a:t>
            </a:r>
            <a:endParaRPr lang="en-US" sz="1400" dirty="0"/>
          </a:p>
          <a:p>
            <a:pPr algn="ctr" indent="0" marL="0">
              <a:buNone/>
            </a:pPr>
            <a:r>
              <a:rPr lang="en-US" sz="1200" dirty="0">
                <a:solidFill>
                  <a:srgbClr val="5B6573"/>
                </a:solidFill>
                <a:latin typeface="Calibri" pitchFamily="34" charset="0"/>
                <a:ea typeface="Calibri" pitchFamily="34" charset="-122"/>
                <a:cs typeface="Calibri" pitchFamily="34" charset="-120"/>
              </a:rPr>
              <a:t>método, automático</a:t>
            </a:r>
            <a:endParaRPr lang="en-US" sz="1400" dirty="0"/>
          </a:p>
        </p:txBody>
      </p:sp>
      <p:sp>
        <p:nvSpPr>
          <p:cNvPr id="20" name="Shape 17"/>
          <p:cNvSpPr/>
          <p:nvPr/>
        </p:nvSpPr>
        <p:spPr>
          <a:xfrm>
            <a:off x="8138160" y="3017520"/>
            <a:ext cx="3108960" cy="822960"/>
          </a:xfrm>
          <a:prstGeom prst="roundRect">
            <a:avLst>
              <a:gd name="adj" fmla="val 6667"/>
            </a:avLst>
          </a:prstGeom>
          <a:solidFill>
            <a:srgbClr val="FFFFFF"/>
          </a:solidFill>
          <a:ln w="15875">
            <a:solidFill>
              <a:srgbClr val="2A78D6"/>
            </a:solidFill>
            <a:prstDash val="solid"/>
          </a:ln>
        </p:spPr>
        <p:txBody>
          <a:bodyPr/>
          <a:p/>
        </p:txBody>
      </p:sp>
      <p:sp>
        <p:nvSpPr>
          <p:cNvPr id="21" name="Text 18"/>
          <p:cNvSpPr txBox="1"/>
          <p:nvPr/>
        </p:nvSpPr>
        <p:spPr>
          <a:xfrm>
            <a:off x="8138160" y="3017520"/>
            <a:ext cx="3108960" cy="822960"/>
          </a:xfrm>
          <a:prstGeom prst="rect">
            <a:avLst/>
          </a:prstGeom>
          <a:noFill/>
          <a:ln/>
        </p:spPr>
        <p:txBody>
          <a:bodyPr wrap="square" lIns="0" tIns="0" rIns="0" bIns="0" rtlCol="0" anchor="ctr"/>
          <a:lstStyle/>
          <a:p>
            <a:pPr algn="ctr" indent="0" marL="0">
              <a:buNone/>
            </a:pPr>
            <a:r>
              <a:rPr lang="en-US" sz="1400" b="1" dirty="0">
                <a:solidFill>
                  <a:srgbClr val="13294B"/>
                </a:solidFill>
                <a:latin typeface="Calibri" pitchFamily="34" charset="0"/>
                <a:ea typeface="Calibri" pitchFamily="34" charset="-122"/>
                <a:cs typeface="Calibri" pitchFamily="34" charset="-120"/>
              </a:rPr>
              <a:t>dim_riesgo</a:t>
            </a:r>
            <a:endParaRPr lang="en-US" sz="1400" dirty="0"/>
          </a:p>
          <a:p>
            <a:pPr algn="ctr" indent="0" marL="0">
              <a:buNone/>
            </a:pPr>
            <a:r>
              <a:rPr lang="en-US" sz="1200" dirty="0">
                <a:solidFill>
                  <a:srgbClr val="5B6573"/>
                </a:solidFill>
                <a:latin typeface="Calibri" pitchFamily="34" charset="0"/>
                <a:ea typeface="Calibri" pitchFamily="34" charset="-122"/>
                <a:cs typeface="Calibri" pitchFamily="34" charset="-120"/>
              </a:rPr>
              <a:t>alto, medio, bajo</a:t>
            </a:r>
            <a:endParaRPr lang="en-US" sz="1400" dirty="0"/>
          </a:p>
        </p:txBody>
      </p:sp>
      <p:sp>
        <p:nvSpPr>
          <p:cNvPr id="22" name="Shape 19"/>
          <p:cNvSpPr/>
          <p:nvPr/>
        </p:nvSpPr>
        <p:spPr>
          <a:xfrm>
            <a:off x="914400" y="4572000"/>
            <a:ext cx="3108960" cy="822960"/>
          </a:xfrm>
          <a:prstGeom prst="roundRect">
            <a:avLst>
              <a:gd name="adj" fmla="val 6667"/>
            </a:avLst>
          </a:prstGeom>
          <a:solidFill>
            <a:srgbClr val="FFFFFF"/>
          </a:solidFill>
          <a:ln w="15875">
            <a:solidFill>
              <a:srgbClr val="2A78D6"/>
            </a:solidFill>
            <a:prstDash val="solid"/>
          </a:ln>
        </p:spPr>
        <p:txBody>
          <a:bodyPr/>
          <a:p/>
        </p:txBody>
      </p:sp>
      <p:sp>
        <p:nvSpPr>
          <p:cNvPr id="23" name="Text 20"/>
          <p:cNvSpPr txBox="1"/>
          <p:nvPr/>
        </p:nvSpPr>
        <p:spPr>
          <a:xfrm>
            <a:off x="914400" y="4572000"/>
            <a:ext cx="3108960" cy="822960"/>
          </a:xfrm>
          <a:prstGeom prst="rect">
            <a:avLst/>
          </a:prstGeom>
          <a:noFill/>
          <a:ln/>
        </p:spPr>
        <p:txBody>
          <a:bodyPr wrap="square" lIns="0" tIns="0" rIns="0" bIns="0" rtlCol="0" anchor="ctr"/>
          <a:lstStyle/>
          <a:p>
            <a:pPr algn="ctr" indent="0" marL="0">
              <a:buNone/>
            </a:pPr>
            <a:r>
              <a:rPr lang="en-US" sz="1400" b="1" dirty="0">
                <a:solidFill>
                  <a:srgbClr val="13294B"/>
                </a:solidFill>
                <a:latin typeface="Calibri" pitchFamily="34" charset="0"/>
                <a:ea typeface="Calibri" pitchFamily="34" charset="-122"/>
                <a:cs typeface="Calibri" pitchFamily="34" charset="-120"/>
              </a:rPr>
              <a:t>dim_palanca</a:t>
            </a:r>
            <a:endParaRPr lang="en-US" sz="1400" dirty="0"/>
          </a:p>
          <a:p>
            <a:pPr algn="ctr" indent="0" marL="0">
              <a:buNone/>
            </a:pPr>
            <a:r>
              <a:rPr lang="en-US" sz="1200" dirty="0">
                <a:solidFill>
                  <a:srgbClr val="5B6573"/>
                </a:solidFill>
                <a:latin typeface="Calibri" pitchFamily="34" charset="0"/>
                <a:ea typeface="Calibri" pitchFamily="34" charset="-122"/>
                <a:cs typeface="Calibri" pitchFamily="34" charset="-120"/>
              </a:rPr>
              <a:t>L1–L4, responsable</a:t>
            </a:r>
            <a:endParaRPr lang="en-US" sz="1400" dirty="0"/>
          </a:p>
        </p:txBody>
      </p:sp>
      <p:sp>
        <p:nvSpPr>
          <p:cNvPr id="24" name="Shape 21"/>
          <p:cNvSpPr/>
          <p:nvPr/>
        </p:nvSpPr>
        <p:spPr>
          <a:xfrm>
            <a:off x="8138160" y="4572000"/>
            <a:ext cx="3108960" cy="822960"/>
          </a:xfrm>
          <a:prstGeom prst="roundRect">
            <a:avLst>
              <a:gd name="adj" fmla="val 6667"/>
            </a:avLst>
          </a:prstGeom>
          <a:solidFill>
            <a:srgbClr val="FFFFFF"/>
          </a:solidFill>
          <a:ln w="15875">
            <a:solidFill>
              <a:srgbClr val="2A78D6"/>
            </a:solidFill>
            <a:prstDash val="solid"/>
          </a:ln>
        </p:spPr>
        <p:txBody>
          <a:bodyPr/>
          <a:p/>
        </p:txBody>
      </p:sp>
      <p:sp>
        <p:nvSpPr>
          <p:cNvPr id="25" name="Text 22"/>
          <p:cNvSpPr txBox="1"/>
          <p:nvPr/>
        </p:nvSpPr>
        <p:spPr>
          <a:xfrm>
            <a:off x="8138160" y="4572000"/>
            <a:ext cx="3108960" cy="822960"/>
          </a:xfrm>
          <a:prstGeom prst="rect">
            <a:avLst/>
          </a:prstGeom>
          <a:noFill/>
          <a:ln/>
        </p:spPr>
        <p:txBody>
          <a:bodyPr wrap="square" lIns="0" tIns="0" rIns="0" bIns="0" rtlCol="0" anchor="ctr"/>
          <a:lstStyle/>
          <a:p>
            <a:pPr algn="ctr" indent="0" marL="0">
              <a:buNone/>
            </a:pPr>
            <a:r>
              <a:rPr lang="en-US" sz="1400" b="1" dirty="0">
                <a:solidFill>
                  <a:srgbClr val="13294B"/>
                </a:solidFill>
                <a:latin typeface="Calibri" pitchFamily="34" charset="0"/>
                <a:ea typeface="Calibri" pitchFamily="34" charset="-122"/>
                <a:cs typeface="Calibri" pitchFamily="34" charset="-120"/>
              </a:rPr>
              <a:t>dim_segmento</a:t>
            </a:r>
            <a:endParaRPr lang="en-US" sz="1400" dirty="0"/>
          </a:p>
          <a:p>
            <a:pPr algn="ctr" indent="0" marL="0">
              <a:buNone/>
            </a:pPr>
            <a:r>
              <a:rPr lang="en-US" sz="1200" dirty="0">
                <a:solidFill>
                  <a:srgbClr val="5B6573"/>
                </a:solidFill>
                <a:latin typeface="Calibri" pitchFamily="34" charset="0"/>
                <a:ea typeface="Calibri" pitchFamily="34" charset="-122"/>
                <a:cs typeface="Calibri" pitchFamily="34" charset="-120"/>
              </a:rPr>
              <a:t>26 segmentos, prioridad</a:t>
            </a:r>
            <a:endParaRPr lang="en-US" sz="1400" dirty="0"/>
          </a:p>
        </p:txBody>
      </p:sp>
      <p:sp>
        <p:nvSpPr>
          <p:cNvPr id="26" name="Shape 23"/>
          <p:cNvSpPr/>
          <p:nvPr/>
        </p:nvSpPr>
        <p:spPr>
          <a:xfrm>
            <a:off x="4526280" y="2880360"/>
            <a:ext cx="3108960" cy="1371600"/>
          </a:xfrm>
          <a:prstGeom prst="roundRect">
            <a:avLst>
              <a:gd name="adj" fmla="val 5333"/>
            </a:avLst>
          </a:prstGeom>
          <a:solidFill>
            <a:srgbClr val="13294B"/>
          </a:solidFill>
          <a:ln w="12700">
            <a:solidFill>
              <a:srgbClr val="13294B"/>
            </a:solidFill>
            <a:prstDash val="solid"/>
          </a:ln>
        </p:spPr>
        <p:txBody>
          <a:bodyPr/>
          <a:p/>
        </p:txBody>
      </p:sp>
      <p:sp>
        <p:nvSpPr>
          <p:cNvPr id="27" name="Text 24"/>
          <p:cNvSpPr txBox="1"/>
          <p:nvPr/>
        </p:nvSpPr>
        <p:spPr>
          <a:xfrm>
            <a:off x="4526280" y="2880360"/>
            <a:ext cx="3108960" cy="13716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fact_clientes</a:t>
            </a:r>
            <a:endParaRPr lang="en-US" sz="1800" dirty="0"/>
          </a:p>
          <a:p>
            <a:pPr algn="ctr" indent="0" marL="0">
              <a:buNone/>
            </a:pPr>
            <a:r>
              <a:rPr lang="en-US" sz="1300" dirty="0">
                <a:solidFill>
                  <a:srgbClr val="C3D2E6"/>
                </a:solidFill>
                <a:latin typeface="Calibri" pitchFamily="34" charset="0"/>
                <a:ea typeface="Calibri" pitchFamily="34" charset="-122"/>
                <a:cs typeface="Calibri" pitchFamily="34" charset="-120"/>
              </a:rPr>
              <a:t>7.043 filas · cliente-corte</a:t>
            </a:r>
            <a:endParaRPr lang="en-US" sz="1800" dirty="0"/>
          </a:p>
          <a:p>
            <a:pPr algn="ctr" indent="0" marL="0">
              <a:buNone/>
            </a:pPr>
            <a:r>
              <a:rPr lang="en-US" sz="1200" dirty="0">
                <a:solidFill>
                  <a:srgbClr val="C3D2E6"/>
                </a:solidFill>
                <a:latin typeface="Calibri" pitchFamily="34" charset="0"/>
                <a:ea typeface="Calibri" pitchFamily="34" charset="-122"/>
                <a:cs typeface="Calibri" pitchFamily="34" charset="-120"/>
              </a:rPr>
              <a:t>relaciones 1:* · filtro simple</a:t>
            </a:r>
            <a:endParaRPr lang="en-US" sz="1800" dirty="0"/>
          </a:p>
        </p:txBody>
      </p:sp>
      <p:sp>
        <p:nvSpPr>
          <p:cNvPr id="28" name="Shape 25"/>
          <p:cNvSpPr/>
          <p:nvPr/>
        </p:nvSpPr>
        <p:spPr>
          <a:xfrm>
            <a:off x="4526280" y="4572000"/>
            <a:ext cx="3108960" cy="1371600"/>
          </a:xfrm>
          <a:prstGeom prst="roundRect">
            <a:avLst>
              <a:gd name="adj" fmla="val 5333"/>
            </a:avLst>
          </a:prstGeom>
          <a:solidFill>
            <a:srgbClr val="EEF4FC"/>
          </a:solidFill>
          <a:ln w="12700">
            <a:solidFill>
              <a:srgbClr val="EEF4FC"/>
            </a:solidFill>
            <a:prstDash val="solid"/>
          </a:ln>
        </p:spPr>
        <p:txBody>
          <a:bodyPr/>
          <a:p/>
        </p:txBody>
      </p:sp>
      <p:sp>
        <p:nvSpPr>
          <p:cNvPr id="29" name="Text 26"/>
          <p:cNvSpPr txBox="1"/>
          <p:nvPr/>
        </p:nvSpPr>
        <p:spPr>
          <a:xfrm>
            <a:off x="4663440" y="4617720"/>
            <a:ext cx="2834640" cy="1280160"/>
          </a:xfrm>
          <a:prstGeom prst="rect">
            <a:avLst/>
          </a:prstGeom>
          <a:noFill/>
          <a:ln/>
        </p:spPr>
        <p:txBody>
          <a:bodyPr wrap="square" lIns="0" tIns="0" rIns="0" bIns="0" rtlCol="0" anchor="ctr"/>
          <a:lstStyle/>
          <a:p>
            <a:pPr algn="ctr" indent="0" marL="0">
              <a:buNone/>
            </a:pPr>
            <a:r>
              <a:rPr lang="en-US" sz="1350" b="1" dirty="0">
                <a:solidFill>
                  <a:srgbClr val="13294B"/>
                </a:solidFill>
                <a:latin typeface="Calibri" pitchFamily="34" charset="0"/>
                <a:ea typeface="Calibri" pitchFamily="34" charset="-122"/>
                <a:cs typeface="Calibri" pitchFamily="34" charset="-120"/>
              </a:rPr>
              <a:t>Tablas desconectadas</a:t>
            </a:r>
            <a:endParaRPr lang="en-US" sz="1350" dirty="0"/>
          </a:p>
          <a:p>
            <a:pPr algn="ctr" indent="0" marL="0">
              <a:buNone/>
            </a:pPr>
            <a:r>
              <a:rPr lang="en-US" sz="1200" dirty="0">
                <a:solidFill>
                  <a:srgbClr val="1B1F24"/>
                </a:solidFill>
                <a:latin typeface="Calibri" pitchFamily="34" charset="0"/>
                <a:ea typeface="Calibri" pitchFamily="34" charset="-122"/>
                <a:cs typeface="Calibri" pitchFamily="34" charset="-120"/>
              </a:rPr>
              <a:t>escenarios, supuestos, drivers, diccionario, plan de monitoreo, alternativas y parámetros del simulador</a:t>
            </a:r>
            <a:endParaRPr lang="en-US" sz="1350" dirty="0"/>
          </a:p>
        </p:txBody>
      </p:sp>
      <p:sp>
        <p:nvSpPr>
          <p:cNvPr id="30" name="Text 27"/>
          <p:cNvSpPr txBox="1"/>
          <p:nvPr/>
        </p:nvSpPr>
        <p:spPr>
          <a:xfrm>
            <a:off x="548640" y="6053328"/>
            <a:ext cx="11091672" cy="310896"/>
          </a:xfrm>
          <a:prstGeom prst="rect">
            <a:avLst/>
          </a:prstGeom>
          <a:noFill/>
          <a:ln/>
        </p:spPr>
        <p:txBody>
          <a:bodyPr wrap="square" lIns="0" tIns="0" rIns="0" bIns="0" rtlCol="0" anchor="t"/>
          <a:lstStyle/>
          <a:p>
            <a:pPr indent="0" marL="0">
              <a:buNone/>
            </a:pPr>
            <a:r>
              <a:rPr lang="en-US" sz="1100" i="1" dirty="0">
                <a:solidFill>
                  <a:srgbClr val="5B6573"/>
                </a:solidFill>
                <a:latin typeface="Calibri" pitchFamily="34" charset="0"/>
                <a:ea typeface="Calibri" pitchFamily="34" charset="-122"/>
                <a:cs typeface="Calibri" pitchFamily="34" charset="-120"/>
              </a:rPr>
              <a:t>76 medidas DAX en 7 carpetas: base, estratégicos, operativos, diagnóstico y balance, alertas, simulador del programa y simulador «qué pasaría si».</a:t>
            </a:r>
            <a:endParaRPr lang="en-US" sz="1100" dirty="0"/>
          </a:p>
        </p:txBody>
      </p:sp>
      <p:sp>
        <p:nvSpPr>
          <p:cNvPr id="25" name="Slide Number Placeholder 0"/>
          <p:cNvSpPr>
            <a:spLocks noGrp="1"/>
          </p:cNvSpPr>
          <p:nvPr>
            <p:ph type="sldNum" sz="quarter" idx="4294967295"/>
          </p:nvPr>
        </p:nvSpPr>
        <p:spPr>
          <a:xfrm>
            <a:off x="11091672"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5B657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822960" y="1234440"/>
            <a:ext cx="2743200" cy="914400"/>
          </a:xfrm>
          <a:prstGeom prst="rect">
            <a:avLst/>
          </a:prstGeom>
          <a:noFill/>
          <a:ln/>
        </p:spPr>
        <p:txBody>
          <a:bodyPr wrap="square" lIns="0" tIns="0" rIns="0" bIns="0" rtlCol="0" anchor="ctr"/>
          <a:lstStyle/>
          <a:p>
            <a:pPr indent="0" marL="0">
              <a:buNone/>
            </a:pPr>
            <a:r>
              <a:rPr lang="en-US" sz="6000" b="1" dirty="0">
                <a:solidFill>
                  <a:srgbClr val="EB6834"/>
                </a:solidFill>
                <a:latin typeface="Cambria" pitchFamily="34" charset="0"/>
                <a:ea typeface="Cambria" pitchFamily="34" charset="-122"/>
                <a:cs typeface="Cambria" pitchFamily="34" charset="-120"/>
              </a:rPr>
              <a:t>03</a:t>
            </a:r>
            <a:endParaRPr lang="en-US" sz="6000" dirty="0"/>
          </a:p>
        </p:txBody>
      </p:sp>
      <p:sp>
        <p:nvSpPr>
          <p:cNvPr id="3" name="Text 0"/>
          <p:cNvSpPr/>
          <p:nvPr>
            <p:ph idx="100" type="title" hasCustomPrompt="1"/>
          </p:nvPr>
        </p:nvSpPr>
        <p:spPr>
          <a:xfrm>
            <a:off x="822960" y="2331720"/>
            <a:ext cx="10515600" cy="1005840"/>
          </a:xfrm>
          <a:prstGeom prst="rect">
            <a:avLst/>
          </a:prstGeom>
          <a:noFill/>
          <a:ln/>
        </p:spPr>
        <p:txBody>
          <a:bodyPr wrap="square" lIns="0" tIns="0" rIns="0" bIns="0" rtlCol="0" anchor="t"/>
          <a:lstStyle/>
          <a:p>
            <a:pPr algn="l" indent="0" marL="0">
              <a:buNone/>
            </a:pPr>
            <a:r>
              <a:rPr lang="en-US" sz="4000" b="1" dirty="0">
                <a:solidFill>
                  <a:srgbClr val="FFFFFF"/>
                </a:solidFill>
                <a:latin typeface="Cambria" pitchFamily="34" charset="0"/>
                <a:ea typeface="Cambria" pitchFamily="34" charset="-122"/>
                <a:cs typeface="Cambria" pitchFamily="34" charset="-120"/>
              </a:rPr>
              <a:t>Análisis de desempeño</a:t>
            </a:r>
            <a:endParaRPr lang="en-US" sz="4000" dirty="0"/>
          </a:p>
        </p:txBody>
      </p:sp>
      <p:sp>
        <p:nvSpPr>
          <p:cNvPr id="4" name="Text 0"/>
          <p:cNvSpPr/>
          <p:nvPr>
            <p:ph idx="101" type="body" hasCustomPrompt="1"/>
          </p:nvPr>
        </p:nvSpPr>
        <p:spPr>
          <a:xfrm>
            <a:off x="822960" y="3429000"/>
            <a:ext cx="10515600" cy="548640"/>
          </a:xfrm>
          <a:prstGeom prst="rect">
            <a:avLst/>
          </a:prstGeom>
          <a:noFill/>
          <a:ln/>
        </p:spPr>
        <p:txBody>
          <a:bodyPr wrap="square" lIns="0" tIns="0" rIns="0" bIns="0" rtlCol="0" anchor="t"/>
          <a:lstStyle/>
          <a:p>
            <a:pPr algn="l" indent="0" marL="0">
              <a:buNone/>
            </a:pPr>
            <a:r>
              <a:rPr lang="en-US" sz="2000" dirty="0">
                <a:solidFill>
                  <a:srgbClr val="C3D2E6"/>
                </a:solidFill>
                <a:latin typeface="Calibri" pitchFamily="34" charset="0"/>
                <a:ea typeface="Calibri" pitchFamily="34" charset="-122"/>
                <a:cs typeface="Calibri" pitchFamily="34" charset="-120"/>
              </a:rPr>
              <a:t>Presenta: Paula Andrea Gacha García</a:t>
            </a:r>
            <a:endParaRPr lang="en-US" sz="2000" dirty="0"/>
          </a:p>
        </p:txBody>
      </p:sp>
      <p:sp>
        <p:nvSpPr>
          <p:cNvPr id="5" name="Text 3"/>
          <p:cNvSpPr txBox="1"/>
          <p:nvPr/>
        </p:nvSpPr>
        <p:spPr>
          <a:xfrm>
            <a:off x="822960" y="4343400"/>
            <a:ext cx="10515600" cy="45720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Ciclo de vida · KPIs por etapa · Cohortes · Contribución · Segmentación · Drivers ajustados · Priorización</a:t>
            </a:r>
            <a:endParaRPr 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FA3BF"/>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164592"/>
            <a:ext cx="11091672" cy="256032"/>
          </a:xfrm>
          <a:prstGeom prst="rect">
            <a:avLst/>
          </a:prstGeom>
          <a:noFill/>
          <a:ln/>
        </p:spPr>
        <p:txBody>
          <a:bodyPr wrap="square" lIns="0" tIns="0" rIns="0" bIns="0" rtlCol="0" anchor="ctr"/>
          <a:lstStyle/>
          <a:p>
            <a:pPr indent="0" marL="0">
              <a:buNone/>
            </a:pPr>
            <a:r>
              <a:rPr lang="en-US" sz="1100" b="1" spc="50" kern="0" dirty="0">
                <a:solidFill>
                  <a:srgbClr val="2A78D6"/>
                </a:solidFill>
                <a:latin typeface="Calibri" pitchFamily="34" charset="0"/>
                <a:ea typeface="Calibri" pitchFamily="34" charset="-122"/>
                <a:cs typeface="Calibri" pitchFamily="34" charset="-120"/>
              </a:rPr>
              <a:t>03 · ANÁLISIS DE DESEMPEÑO</a:t>
            </a:r>
            <a:pPr indent="0" marL="0">
              <a:buNone/>
            </a:pPr>
            <a:endParaRPr lang="en-US" sz="1100" dirty="0"/>
          </a:p>
        </p:txBody>
      </p:sp>
      <p:sp>
        <p:nvSpPr>
          <p:cNvPr id="3" name="Text 0"/>
          <p:cNvSpPr/>
          <p:nvPr>
            <p:ph idx="100" type="title" hasCustomPrompt="1"/>
          </p:nvPr>
        </p:nvSpPr>
        <p:spPr>
          <a:xfrm>
            <a:off x="548640" y="457200"/>
            <a:ext cx="11091672" cy="841248"/>
          </a:xfrm>
          <a:prstGeom prst="rect">
            <a:avLst/>
          </a:prstGeom>
          <a:noFill/>
          <a:ln/>
        </p:spPr>
        <p:txBody>
          <a:bodyPr wrap="square" lIns="0" tIns="0" rIns="0" bIns="0" rtlCol="0" anchor="t"/>
          <a:lstStyle/>
          <a:p>
            <a:pPr algn="l" indent="0" marL="0">
              <a:buNone/>
            </a:pPr>
            <a:r>
              <a:rPr lang="en-US" sz="2400" b="1" dirty="0">
                <a:solidFill>
                  <a:srgbClr val="13294B"/>
                </a:solidFill>
                <a:latin typeface="Cambria" pitchFamily="34" charset="0"/>
                <a:ea typeface="Cambria" pitchFamily="34" charset="-122"/>
                <a:cs typeface="Cambria" pitchFamily="34" charset="-120"/>
              </a:rPr>
              <a:t>El riesgo de abandono es máximo en los primeros meses y cae con la antigüedad</a:t>
            </a:r>
            <a:endParaRPr lang="en-US" sz="2400" dirty="0"/>
          </a:p>
        </p:txBody>
      </p:sp>
      <p:sp>
        <p:nvSpPr>
          <p:cNvPr id="5" name="Text 2"/>
          <p:cNvSpPr txBox="1"/>
          <p:nvPr/>
        </p:nvSpPr>
        <p:spPr>
          <a:xfrm>
            <a:off x="548640" y="1371600"/>
            <a:ext cx="7863840" cy="292608"/>
          </a:xfrm>
          <a:prstGeom prst="rect">
            <a:avLst/>
          </a:prstGeom>
          <a:noFill/>
          <a:ln/>
        </p:spPr>
        <p:txBody>
          <a:bodyPr wrap="square" lIns="0" tIns="0" rIns="0" bIns="0" rtlCol="0" anchor="ctr"/>
          <a:lstStyle/>
          <a:p>
            <a:pPr indent="0" marL="0">
              <a:buNone/>
            </a:pPr>
            <a:r>
              <a:rPr lang="en-US" sz="1400" b="1" dirty="0">
                <a:solidFill>
                  <a:srgbClr val="1B1F24"/>
                </a:solidFill>
                <a:latin typeface="Calibri" pitchFamily="34" charset="0"/>
                <a:ea typeface="Calibri" pitchFamily="34" charset="-122"/>
                <a:cs typeface="Calibri" pitchFamily="34" charset="-120"/>
              </a:rPr>
              <a:t>Tasa de churn por mes de antigüedad</a:t>
            </a:r>
            <a:endParaRPr lang="en-US" sz="1400" dirty="0"/>
          </a:p>
        </p:txBody>
      </p:sp>
      <p:sp>
        <p:nvSpPr>
          <p:cNvPr id="6" name="Text 3"/>
          <p:cNvSpPr txBox="1"/>
          <p:nvPr/>
        </p:nvSpPr>
        <p:spPr>
          <a:xfrm>
            <a:off x="548640" y="1664208"/>
            <a:ext cx="7863840" cy="256032"/>
          </a:xfrm>
          <a:prstGeom prst="rect">
            <a:avLst/>
          </a:prstGeom>
          <a:noFill/>
          <a:ln/>
        </p:spPr>
        <p:txBody>
          <a:bodyPr wrap="square" lIns="0" tIns="0" rIns="0" bIns="0" rtlCol="0" anchor="ctr"/>
          <a:lstStyle/>
          <a:p>
            <a:pPr indent="0" marL="0">
              <a:buNone/>
            </a:pPr>
            <a:r>
              <a:rPr lang="en-US" sz="1100" dirty="0">
                <a:solidFill>
                  <a:srgbClr val="5B6573"/>
                </a:solidFill>
                <a:latin typeface="Calibri" pitchFamily="34" charset="0"/>
                <a:ea typeface="Calibri" pitchFamily="34" charset="-122"/>
                <a:cs typeface="Calibri" pitchFamily="34" charset="-120"/>
              </a:rPr>
              <a:t>Línea azul: tasa del mes · línea gris: promedio del corte (26,5 %)</a:t>
            </a:r>
            <a:endParaRPr lang="en-US" sz="1100" dirty="0"/>
          </a:p>
        </p:txBody>
      </p:sp>
      <p:graphicFrame>
        <p:nvGraphicFramePr>
          <p:cNvPr id="7" name="Chart 0" descr=""/>
          <p:cNvGraphicFramePr/>
          <p:nvPr/>
        </p:nvGraphicFramePr>
        <p:xfrm>
          <a:off x="457200" y="1920240"/>
          <a:ext cx="8046720" cy="3977640"/>
        </p:xfrm>
        <a:graphic xmlns:a="http://schemas.openxmlformats.org/drawingml/2006/main">
          <a:graphicData uri="http://schemas.openxmlformats.org/drawingml/2006/chart">
            <c:chart xmlns:c="http://schemas.openxmlformats.org/drawingml/2006/chart" r:id="rId1"/>
          </a:graphicData>
        </a:graphic>
      </p:graphicFrame>
      <p:sp>
        <p:nvSpPr>
          <p:cNvPr id="8" name="Shape 4"/>
          <p:cNvSpPr/>
          <p:nvPr/>
        </p:nvSpPr>
        <p:spPr>
          <a:xfrm>
            <a:off x="8823960" y="1417320"/>
            <a:ext cx="2816352" cy="1325880"/>
          </a:xfrm>
          <a:prstGeom prst="roundRect">
            <a:avLst>
              <a:gd name="adj" fmla="val 5517"/>
            </a:avLst>
          </a:prstGeom>
          <a:solidFill>
            <a:srgbClr val="F3F5F8"/>
          </a:solidFill>
          <a:ln w="12700">
            <a:solidFill>
              <a:srgbClr val="F3F5F8"/>
            </a:solidFill>
            <a:prstDash val="solid"/>
          </a:ln>
        </p:spPr>
        <p:txBody>
          <a:bodyPr/>
          <a:p/>
        </p:txBody>
      </p:sp>
      <p:sp>
        <p:nvSpPr>
          <p:cNvPr id="9" name="Text 5"/>
          <p:cNvSpPr txBox="1"/>
          <p:nvPr/>
        </p:nvSpPr>
        <p:spPr>
          <a:xfrm>
            <a:off x="9006840" y="1545336"/>
            <a:ext cx="2450592" cy="636422"/>
          </a:xfrm>
          <a:prstGeom prst="rect">
            <a:avLst/>
          </a:prstGeom>
          <a:noFill/>
          <a:ln/>
        </p:spPr>
        <p:txBody>
          <a:bodyPr wrap="square" lIns="0" tIns="0" rIns="0" bIns="0" rtlCol="0" anchor="ctr"/>
          <a:lstStyle/>
          <a:p>
            <a:pPr indent="0" marL="0">
              <a:buNone/>
            </a:pPr>
            <a:r>
              <a:rPr lang="en-US" sz="3000" b="1" dirty="0">
                <a:solidFill>
                  <a:srgbClr val="EB6834"/>
                </a:solidFill>
                <a:latin typeface="Cambria" pitchFamily="34" charset="0"/>
                <a:ea typeface="Cambria" pitchFamily="34" charset="-122"/>
                <a:cs typeface="Cambria" pitchFamily="34" charset="-120"/>
              </a:rPr>
              <a:t>62 %</a:t>
            </a:r>
            <a:endParaRPr lang="en-US" sz="3000" dirty="0"/>
          </a:p>
        </p:txBody>
      </p:sp>
      <p:sp>
        <p:nvSpPr>
          <p:cNvPr id="10" name="Text 6"/>
          <p:cNvSpPr txBox="1"/>
          <p:nvPr/>
        </p:nvSpPr>
        <p:spPr>
          <a:xfrm>
            <a:off x="9006840" y="2181758"/>
            <a:ext cx="2450592" cy="470002"/>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de churn en el primer mes de relación</a:t>
            </a:r>
            <a:endParaRPr lang="en-US" sz="1300" dirty="0"/>
          </a:p>
        </p:txBody>
      </p:sp>
      <p:sp>
        <p:nvSpPr>
          <p:cNvPr id="11" name="Shape 7"/>
          <p:cNvSpPr/>
          <p:nvPr/>
        </p:nvSpPr>
        <p:spPr>
          <a:xfrm>
            <a:off x="8823960" y="2880360"/>
            <a:ext cx="2816352" cy="1325880"/>
          </a:xfrm>
          <a:prstGeom prst="roundRect">
            <a:avLst>
              <a:gd name="adj" fmla="val 5517"/>
            </a:avLst>
          </a:prstGeom>
          <a:solidFill>
            <a:srgbClr val="F3F5F8"/>
          </a:solidFill>
          <a:ln w="12700">
            <a:solidFill>
              <a:srgbClr val="F3F5F8"/>
            </a:solidFill>
            <a:prstDash val="solid"/>
          </a:ln>
        </p:spPr>
        <p:txBody>
          <a:bodyPr/>
          <a:p/>
        </p:txBody>
      </p:sp>
      <p:sp>
        <p:nvSpPr>
          <p:cNvPr id="12" name="Text 8"/>
          <p:cNvSpPr txBox="1"/>
          <p:nvPr/>
        </p:nvSpPr>
        <p:spPr>
          <a:xfrm>
            <a:off x="9006840" y="3008376"/>
            <a:ext cx="2450592" cy="636422"/>
          </a:xfrm>
          <a:prstGeom prst="rect">
            <a:avLst/>
          </a:prstGeom>
          <a:noFill/>
          <a:ln/>
        </p:spPr>
        <p:txBody>
          <a:bodyPr wrap="square" lIns="0" tIns="0" rIns="0" bIns="0" rtlCol="0" anchor="ctr"/>
          <a:lstStyle/>
          <a:p>
            <a:pPr indent="0" marL="0">
              <a:buNone/>
            </a:pPr>
            <a:r>
              <a:rPr lang="en-US" sz="3000" b="1" dirty="0">
                <a:solidFill>
                  <a:srgbClr val="EB6834"/>
                </a:solidFill>
                <a:latin typeface="Cambria" pitchFamily="34" charset="0"/>
                <a:ea typeface="Cambria" pitchFamily="34" charset="-122"/>
                <a:cs typeface="Cambria" pitchFamily="34" charset="-120"/>
              </a:rPr>
              <a:t>52,9 %</a:t>
            </a:r>
            <a:endParaRPr lang="en-US" sz="3000" dirty="0"/>
          </a:p>
        </p:txBody>
      </p:sp>
      <p:sp>
        <p:nvSpPr>
          <p:cNvPr id="13" name="Text 9"/>
          <p:cNvSpPr txBox="1"/>
          <p:nvPr/>
        </p:nvSpPr>
        <p:spPr>
          <a:xfrm>
            <a:off x="9006840" y="3644798"/>
            <a:ext cx="2450592" cy="470002"/>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entre 0 y 6 meses (meta ≤ 45 %)</a:t>
            </a:r>
            <a:endParaRPr lang="en-US" sz="1300" dirty="0"/>
          </a:p>
        </p:txBody>
      </p:sp>
      <p:sp>
        <p:nvSpPr>
          <p:cNvPr id="14" name="Shape 10"/>
          <p:cNvSpPr/>
          <p:nvPr/>
        </p:nvSpPr>
        <p:spPr>
          <a:xfrm>
            <a:off x="8823960" y="4343400"/>
            <a:ext cx="2816352" cy="1325880"/>
          </a:xfrm>
          <a:prstGeom prst="roundRect">
            <a:avLst>
              <a:gd name="adj" fmla="val 5517"/>
            </a:avLst>
          </a:prstGeom>
          <a:solidFill>
            <a:srgbClr val="F3F5F8"/>
          </a:solidFill>
          <a:ln w="12700">
            <a:solidFill>
              <a:srgbClr val="F3F5F8"/>
            </a:solidFill>
            <a:prstDash val="solid"/>
          </a:ln>
        </p:spPr>
        <p:txBody>
          <a:bodyPr/>
          <a:p/>
        </p:txBody>
      </p:sp>
      <p:sp>
        <p:nvSpPr>
          <p:cNvPr id="15" name="Text 11"/>
          <p:cNvSpPr txBox="1"/>
          <p:nvPr/>
        </p:nvSpPr>
        <p:spPr>
          <a:xfrm>
            <a:off x="9006840" y="4471416"/>
            <a:ext cx="2450592" cy="636422"/>
          </a:xfrm>
          <a:prstGeom prst="rect">
            <a:avLst/>
          </a:prstGeom>
          <a:noFill/>
          <a:ln/>
        </p:spPr>
        <p:txBody>
          <a:bodyPr wrap="square" lIns="0" tIns="0" rIns="0" bIns="0" rtlCol="0" anchor="ctr"/>
          <a:lstStyle/>
          <a:p>
            <a:pPr indent="0" marL="0">
              <a:buNone/>
            </a:pPr>
            <a:r>
              <a:rPr lang="en-US" sz="3000" b="1" dirty="0">
                <a:solidFill>
                  <a:srgbClr val="2A78D6"/>
                </a:solidFill>
                <a:latin typeface="Cambria" pitchFamily="34" charset="0"/>
                <a:ea typeface="Cambria" pitchFamily="34" charset="-122"/>
                <a:cs typeface="Cambria" pitchFamily="34" charset="-120"/>
              </a:rPr>
              <a:t>9,5 %</a:t>
            </a:r>
            <a:endParaRPr lang="en-US" sz="3000" dirty="0"/>
          </a:p>
        </p:txBody>
      </p:sp>
      <p:sp>
        <p:nvSpPr>
          <p:cNvPr id="16" name="Text 12"/>
          <p:cNvSpPr txBox="1"/>
          <p:nvPr/>
        </p:nvSpPr>
        <p:spPr>
          <a:xfrm>
            <a:off x="9006840" y="5107838"/>
            <a:ext cx="2450592" cy="470002"/>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después de 49 meses de antigüedad</a:t>
            </a:r>
            <a:endParaRPr lang="en-US" sz="1300" dirty="0"/>
          </a:p>
        </p:txBody>
      </p:sp>
      <p:sp>
        <p:nvSpPr>
          <p:cNvPr id="17" name="Text 13"/>
          <p:cNvSpPr txBox="1"/>
          <p:nvPr/>
        </p:nvSpPr>
        <p:spPr>
          <a:xfrm>
            <a:off x="548640" y="6053328"/>
            <a:ext cx="11091672" cy="310896"/>
          </a:xfrm>
          <a:prstGeom prst="rect">
            <a:avLst/>
          </a:prstGeom>
          <a:noFill/>
          <a:ln/>
        </p:spPr>
        <p:txBody>
          <a:bodyPr wrap="square" lIns="0" tIns="0" rIns="0" bIns="0" rtlCol="0" anchor="t"/>
          <a:lstStyle/>
          <a:p>
            <a:pPr indent="0" marL="0">
              <a:buNone/>
            </a:pPr>
            <a:r>
              <a:rPr lang="en-US" sz="1100" i="1" dirty="0">
                <a:solidFill>
                  <a:srgbClr val="5B6573"/>
                </a:solidFill>
                <a:latin typeface="Calibri" pitchFamily="34" charset="0"/>
                <a:ea typeface="Calibri" pitchFamily="34" charset="-122"/>
                <a:cs typeface="Calibri" pitchFamily="34" charset="-120"/>
              </a:rPr>
              <a:t>Sin fecha calendario, el eje temporal es la antigüedad. Los clientes antiguos son sobrevivientes: la curva muestra tasas condicionales, no una cohorte de altas.</a:t>
            </a:r>
            <a:endParaRPr lang="en-US" sz="1100" dirty="0"/>
          </a:p>
        </p:txBody>
      </p:sp>
      <p:sp>
        <p:nvSpPr>
          <p:cNvPr id="25" name="Slide Number Placeholder 0"/>
          <p:cNvSpPr>
            <a:spLocks noGrp="1"/>
          </p:cNvSpPr>
          <p:nvPr>
            <p:ph type="sldNum" sz="quarter" idx="4294967295"/>
          </p:nvPr>
        </p:nvSpPr>
        <p:spPr>
          <a:xfrm>
            <a:off x="11091672"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5B657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164592"/>
            <a:ext cx="11091672" cy="256032"/>
          </a:xfrm>
          <a:prstGeom prst="rect">
            <a:avLst/>
          </a:prstGeom>
          <a:noFill/>
          <a:ln/>
        </p:spPr>
        <p:txBody>
          <a:bodyPr wrap="square" lIns="0" tIns="0" rIns="0" bIns="0" rtlCol="0" anchor="ctr"/>
          <a:lstStyle/>
          <a:p>
            <a:pPr indent="0" marL="0">
              <a:buNone/>
            </a:pPr>
            <a:r>
              <a:rPr lang="en-US" sz="1100" b="1" spc="50" kern="0" dirty="0">
                <a:solidFill>
                  <a:srgbClr val="2A78D6"/>
                </a:solidFill>
                <a:latin typeface="Calibri" pitchFamily="34" charset="0"/>
                <a:ea typeface="Calibri" pitchFamily="34" charset="-122"/>
                <a:cs typeface="Calibri" pitchFamily="34" charset="-120"/>
              </a:rPr>
              <a:t>03 · ANÁLISIS DE DESEMPEÑO</a:t>
            </a:r>
            <a:pPr indent="0" marL="0">
              <a:buNone/>
            </a:pPr>
            <a:endParaRPr lang="en-US" sz="1100" dirty="0"/>
          </a:p>
        </p:txBody>
      </p:sp>
      <p:sp>
        <p:nvSpPr>
          <p:cNvPr id="3" name="Text 0"/>
          <p:cNvSpPr/>
          <p:nvPr>
            <p:ph idx="100" type="title" hasCustomPrompt="1"/>
          </p:nvPr>
        </p:nvSpPr>
        <p:spPr>
          <a:xfrm>
            <a:off x="548640" y="457200"/>
            <a:ext cx="11091672" cy="841248"/>
          </a:xfrm>
          <a:prstGeom prst="rect">
            <a:avLst/>
          </a:prstGeom>
          <a:noFill/>
          <a:ln/>
        </p:spPr>
        <p:txBody>
          <a:bodyPr wrap="square" lIns="0" tIns="0" rIns="0" bIns="0" rtlCol="0" anchor="t"/>
          <a:lstStyle/>
          <a:p>
            <a:pPr algn="l" indent="0" marL="0">
              <a:buNone/>
            </a:pPr>
            <a:r>
              <a:rPr lang="en-US" sz="2400" b="1" dirty="0">
                <a:solidFill>
                  <a:srgbClr val="13294B"/>
                </a:solidFill>
                <a:latin typeface="Cambria" pitchFamily="34" charset="0"/>
                <a:ea typeface="Cambria" pitchFamily="34" charset="-122"/>
                <a:cs typeface="Cambria" pitchFamily="34" charset="-120"/>
              </a:rPr>
              <a:t>Los KPIs mejoran con la antigüedad: el % MRR retenido pasa de 38 % a 88 %</a:t>
            </a:r>
            <a:endParaRPr lang="en-US" sz="2400" dirty="0"/>
          </a:p>
        </p:txBody>
      </p:sp>
      <p:sp>
        <p:nvSpPr>
          <p:cNvPr id="5" name="Text 2"/>
          <p:cNvSpPr txBox="1"/>
          <p:nvPr/>
        </p:nvSpPr>
        <p:spPr>
          <a:xfrm>
            <a:off x="548640" y="1371600"/>
            <a:ext cx="5394960" cy="292608"/>
          </a:xfrm>
          <a:prstGeom prst="rect">
            <a:avLst/>
          </a:prstGeom>
          <a:noFill/>
          <a:ln/>
        </p:spPr>
        <p:txBody>
          <a:bodyPr wrap="square" lIns="0" tIns="0" rIns="0" bIns="0" rtlCol="0" anchor="ctr"/>
          <a:lstStyle/>
          <a:p>
            <a:pPr indent="0" marL="0">
              <a:buNone/>
            </a:pPr>
            <a:r>
              <a:rPr lang="en-US" sz="1400" b="1" dirty="0">
                <a:solidFill>
                  <a:srgbClr val="1B1F24"/>
                </a:solidFill>
                <a:latin typeface="Calibri" pitchFamily="34" charset="0"/>
                <a:ea typeface="Calibri" pitchFamily="34" charset="-122"/>
                <a:cs typeface="Calibri" pitchFamily="34" charset="-120"/>
              </a:rPr>
              <a:t>Tasa de churn por etapa del ciclo de vida</a:t>
            </a:r>
            <a:endParaRPr lang="en-US" sz="1400" dirty="0"/>
          </a:p>
        </p:txBody>
      </p:sp>
      <p:sp>
        <p:nvSpPr>
          <p:cNvPr id="6" name="Text 3"/>
          <p:cNvSpPr txBox="1"/>
          <p:nvPr/>
        </p:nvSpPr>
        <p:spPr>
          <a:xfrm>
            <a:off x="548640" y="1664208"/>
            <a:ext cx="5394960" cy="256032"/>
          </a:xfrm>
          <a:prstGeom prst="rect">
            <a:avLst/>
          </a:prstGeom>
          <a:noFill/>
          <a:ln/>
        </p:spPr>
        <p:txBody>
          <a:bodyPr wrap="square" lIns="0" tIns="0" rIns="0" bIns="0" rtlCol="0" anchor="ctr"/>
          <a:lstStyle/>
          <a:p>
            <a:pPr indent="0" marL="0">
              <a:buNone/>
            </a:pPr>
            <a:r>
              <a:rPr lang="en-US" sz="1100" dirty="0">
                <a:solidFill>
                  <a:srgbClr val="5B6573"/>
                </a:solidFill>
                <a:latin typeface="Calibri" pitchFamily="34" charset="0"/>
                <a:ea typeface="Calibri" pitchFamily="34" charset="-122"/>
                <a:cs typeface="Calibri" pitchFamily="34" charset="-120"/>
              </a:rPr>
              <a:t>% de clientes que abandonan en cada banda de antigüedad</a:t>
            </a:r>
            <a:endParaRPr lang="en-US" sz="1100" dirty="0"/>
          </a:p>
        </p:txBody>
      </p:sp>
      <p:graphicFrame>
        <p:nvGraphicFramePr>
          <p:cNvPr id="7" name="Chart 0" descr=""/>
          <p:cNvGraphicFramePr/>
          <p:nvPr/>
        </p:nvGraphicFramePr>
        <p:xfrm>
          <a:off x="457200" y="19202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8" name="Text 4"/>
          <p:cNvSpPr txBox="1"/>
          <p:nvPr/>
        </p:nvSpPr>
        <p:spPr>
          <a:xfrm>
            <a:off x="6245352" y="1371600"/>
            <a:ext cx="5394960" cy="292608"/>
          </a:xfrm>
          <a:prstGeom prst="rect">
            <a:avLst/>
          </a:prstGeom>
          <a:noFill/>
          <a:ln/>
        </p:spPr>
        <p:txBody>
          <a:bodyPr wrap="square" lIns="0" tIns="0" rIns="0" bIns="0" rtlCol="0" anchor="ctr"/>
          <a:lstStyle/>
          <a:p>
            <a:pPr indent="0" marL="0">
              <a:buNone/>
            </a:pPr>
            <a:r>
              <a:rPr lang="en-US" sz="1400" b="1" dirty="0">
                <a:solidFill>
                  <a:srgbClr val="1B1F24"/>
                </a:solidFill>
                <a:latin typeface="Calibri" pitchFamily="34" charset="0"/>
                <a:ea typeface="Calibri" pitchFamily="34" charset="-122"/>
                <a:cs typeface="Calibri" pitchFamily="34" charset="-120"/>
              </a:rPr>
              <a:t>% MRR retenido (North Star) por etapa</a:t>
            </a:r>
            <a:endParaRPr lang="en-US" sz="1400" dirty="0"/>
          </a:p>
        </p:txBody>
      </p:sp>
      <p:sp>
        <p:nvSpPr>
          <p:cNvPr id="9" name="Text 5"/>
          <p:cNvSpPr txBox="1"/>
          <p:nvPr/>
        </p:nvSpPr>
        <p:spPr>
          <a:xfrm>
            <a:off x="6245352" y="1664208"/>
            <a:ext cx="5394960" cy="256032"/>
          </a:xfrm>
          <a:prstGeom prst="rect">
            <a:avLst/>
          </a:prstGeom>
          <a:noFill/>
          <a:ln/>
        </p:spPr>
        <p:txBody>
          <a:bodyPr wrap="square" lIns="0" tIns="0" rIns="0" bIns="0" rtlCol="0" anchor="ctr"/>
          <a:lstStyle/>
          <a:p>
            <a:pPr indent="0" marL="0">
              <a:buNone/>
            </a:pPr>
            <a:r>
              <a:rPr lang="en-US" sz="1100" dirty="0">
                <a:solidFill>
                  <a:srgbClr val="5B6573"/>
                </a:solidFill>
                <a:latin typeface="Calibri" pitchFamily="34" charset="0"/>
                <a:ea typeface="Calibri" pitchFamily="34" charset="-122"/>
                <a:cs typeface="Calibri" pitchFamily="34" charset="-120"/>
              </a:rPr>
              <a:t>Naranja: bajo la meta de 75 % · azul: sobre la meta</a:t>
            </a:r>
            <a:endParaRPr lang="en-US" sz="1100" dirty="0"/>
          </a:p>
        </p:txBody>
      </p:sp>
      <p:graphicFrame>
        <p:nvGraphicFramePr>
          <p:cNvPr id="10" name="Chart 1" descr=""/>
          <p:cNvGraphicFramePr/>
          <p:nvPr/>
        </p:nvGraphicFramePr>
        <p:xfrm>
          <a:off x="6153912" y="19202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11" name="Text 6"/>
          <p:cNvSpPr txBox="1"/>
          <p:nvPr/>
        </p:nvSpPr>
        <p:spPr>
          <a:xfrm>
            <a:off x="548640" y="6053328"/>
            <a:ext cx="11091672" cy="310896"/>
          </a:xfrm>
          <a:prstGeom prst="rect">
            <a:avLst/>
          </a:prstGeom>
          <a:noFill/>
          <a:ln/>
        </p:spPr>
        <p:txBody>
          <a:bodyPr wrap="square" lIns="0" tIns="0" rIns="0" bIns="0" rtlCol="0" anchor="t"/>
          <a:lstStyle/>
          <a:p>
            <a:pPr indent="0" marL="0">
              <a:buNone/>
            </a:pPr>
            <a:r>
              <a:rPr lang="en-US" sz="1100" i="1" dirty="0">
                <a:solidFill>
                  <a:srgbClr val="5B6573"/>
                </a:solidFill>
                <a:latin typeface="Calibri" pitchFamily="34" charset="0"/>
                <a:ea typeface="Calibri" pitchFamily="34" charset="-122"/>
                <a:cs typeface="Calibri" pitchFamily="34" charset="-120"/>
              </a:rPr>
              <a:t>Bandas de antigüedad como cohortes del ciclo de vida: 0–6, 7–12, 13–24, 25–48 y 49–72 meses. Tasas del período de corte.</a:t>
            </a:r>
            <a:endParaRPr lang="en-US" sz="1100" dirty="0"/>
          </a:p>
        </p:txBody>
      </p:sp>
      <p:sp>
        <p:nvSpPr>
          <p:cNvPr id="25" name="Slide Number Placeholder 0"/>
          <p:cNvSpPr>
            <a:spLocks noGrp="1"/>
          </p:cNvSpPr>
          <p:nvPr>
            <p:ph type="sldNum" sz="quarter" idx="4294967295"/>
          </p:nvPr>
        </p:nvSpPr>
        <p:spPr>
          <a:xfrm>
            <a:off x="11091672"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5B657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164592"/>
            <a:ext cx="11091672" cy="256032"/>
          </a:xfrm>
          <a:prstGeom prst="rect">
            <a:avLst/>
          </a:prstGeom>
          <a:noFill/>
          <a:ln/>
        </p:spPr>
        <p:txBody>
          <a:bodyPr wrap="square" lIns="0" tIns="0" rIns="0" bIns="0" rtlCol="0" anchor="ctr"/>
          <a:lstStyle/>
          <a:p>
            <a:pPr indent="0" marL="0">
              <a:buNone/>
            </a:pPr>
            <a:r>
              <a:rPr lang="en-US" sz="1100" b="1" spc="50" kern="0" dirty="0">
                <a:solidFill>
                  <a:srgbClr val="2A78D6"/>
                </a:solidFill>
                <a:latin typeface="Calibri" pitchFamily="34" charset="0"/>
                <a:ea typeface="Calibri" pitchFamily="34" charset="-122"/>
                <a:cs typeface="Calibri" pitchFamily="34" charset="-120"/>
              </a:rPr>
              <a:t>03 · ANÁLISIS DE DESEMPEÑO</a:t>
            </a:r>
            <a:pPr indent="0" marL="0">
              <a:buNone/>
            </a:pPr>
            <a:endParaRPr lang="en-US" sz="1100" dirty="0"/>
          </a:p>
        </p:txBody>
      </p:sp>
      <p:sp>
        <p:nvSpPr>
          <p:cNvPr id="3" name="Text 0"/>
          <p:cNvSpPr/>
          <p:nvPr>
            <p:ph idx="100" type="title" hasCustomPrompt="1"/>
          </p:nvPr>
        </p:nvSpPr>
        <p:spPr>
          <a:xfrm>
            <a:off x="548640" y="457200"/>
            <a:ext cx="11091672" cy="841248"/>
          </a:xfrm>
          <a:prstGeom prst="rect">
            <a:avLst/>
          </a:prstGeom>
          <a:noFill/>
          <a:ln/>
        </p:spPr>
        <p:txBody>
          <a:bodyPr wrap="square" lIns="0" tIns="0" rIns="0" bIns="0" rtlCol="0" anchor="t"/>
          <a:lstStyle/>
          <a:p>
            <a:pPr algn="l" indent="0" marL="0">
              <a:buNone/>
            </a:pPr>
            <a:r>
              <a:rPr lang="en-US" sz="2400" b="1" dirty="0">
                <a:solidFill>
                  <a:srgbClr val="13294B"/>
                </a:solidFill>
                <a:latin typeface="Cambria" pitchFamily="34" charset="0"/>
                <a:ea typeface="Cambria" pitchFamily="34" charset="-122"/>
                <a:cs typeface="Cambria" pitchFamily="34" charset="-120"/>
              </a:rPr>
              <a:t>Dentro de cada contrato el churn cae con la antigüedad: no es solo un efecto de mezcla</a:t>
            </a:r>
            <a:endParaRPr lang="en-US" sz="24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675120" cy="914400"/>
        </p:xfrm>
        <a:graphic>
          <a:graphicData uri="http://schemas.openxmlformats.org/drawingml/2006/table">
            <a:tbl>
              <a:tblPr/>
              <a:tblGrid>
                <a:gridCol w="1463040"/>
                <a:gridCol w="1371600"/>
                <a:gridCol w="1371600"/>
                <a:gridCol w="1371600"/>
                <a:gridCol w="1097280"/>
              </a:tblGrid>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Antigüedad</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3294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Mes a mes</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3294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Un año</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3294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Dos años</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3294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3294B"/>
                    </a:solidFill>
                  </a:tcPr>
                </a:tc>
              </a:tr>
              <a:tr h="566928">
                <a:tc>
                  <a:txBody>
                    <a:bodyPr/>
                    <a:lstStyle/>
                    <a:p>
                      <a:pPr indent="0" marL="0">
                        <a:buNone/>
                      </a:pPr>
                      <a:r>
                        <a:rPr lang="en-US" sz="1300" b="1" dirty="0">
                          <a:solidFill>
                            <a:srgbClr val="1B1F24"/>
                          </a:solidFill>
                          <a:latin typeface="Calibri" pitchFamily="34" charset="0"/>
                          <a:ea typeface="Calibri" pitchFamily="34" charset="-122"/>
                          <a:cs typeface="Calibri" pitchFamily="34" charset="-120"/>
                        </a:rPr>
                        <a:t>0–6 m</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3F5F8"/>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55,2 %</a:t>
                      </a:r>
                      <a:endParaRPr lang="en-US" sz="1300" dirty="0">
                        <a:latin typeface="Calibri" charset="0"/>
                        <a:ea typeface="Calibri" charset="0"/>
                        <a:cs typeface="Calibri" charset="0"/>
                      </a:endParaRPr>
                    </a:p>
                    <a:p>
                      <a:pPr algn="ctr" indent="0" marL="0">
                        <a:buNone/>
                      </a:pPr>
                      <a:r>
                        <a:rPr lang="en-US" sz="1000" dirty="0">
                          <a:solidFill>
                            <a:srgbClr val="FFFFFF"/>
                          </a:solidFill>
                          <a:latin typeface="Calibri" pitchFamily="34" charset="0"/>
                          <a:ea typeface="Calibri" pitchFamily="34" charset="-122"/>
                          <a:cs typeface="Calibri" pitchFamily="34" charset="-120"/>
                        </a:rPr>
                        <a:t>n = 1.413</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78D6"/>
                    </a:solidFill>
                  </a:tcPr>
                </a:tc>
                <a:tc>
                  <a:txBody>
                    <a:bodyPr/>
                    <a:lstStyle/>
                    <a:p>
                      <a:pPr algn="ctr" indent="0" marL="0">
                        <a:buNone/>
                      </a:pPr>
                      <a:r>
                        <a:rPr lang="en-US" sz="1500" b="1" dirty="0">
                          <a:solidFill>
                            <a:srgbClr val="1B1F24"/>
                          </a:solidFill>
                          <a:latin typeface="Calibri" pitchFamily="34" charset="0"/>
                          <a:ea typeface="Calibri" pitchFamily="34" charset="-122"/>
                          <a:cs typeface="Calibri" pitchFamily="34" charset="-120"/>
                        </a:rPr>
                        <a:t>10,3 %</a:t>
                      </a:r>
                      <a:endParaRPr lang="en-US" sz="1300" dirty="0">
                        <a:latin typeface="Calibri" charset="0"/>
                        <a:ea typeface="Calibri" charset="0"/>
                        <a:cs typeface="Calibri" charset="0"/>
                      </a:endParaRPr>
                    </a:p>
                    <a:p>
                      <a:pPr algn="ctr" indent="0" marL="0">
                        <a:buNone/>
                      </a:pPr>
                      <a:r>
                        <a:rPr lang="en-US" sz="1000" dirty="0">
                          <a:solidFill>
                            <a:srgbClr val="1B1F24"/>
                          </a:solidFill>
                          <a:latin typeface="Calibri" pitchFamily="34" charset="0"/>
                          <a:ea typeface="Calibri" pitchFamily="34" charset="-122"/>
                          <a:cs typeface="Calibri" pitchFamily="34" charset="-120"/>
                        </a:rPr>
                        <a:t>n = 39</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CE9FA"/>
                    </a:solidFill>
                  </a:tcPr>
                </a:tc>
                <a:tc>
                  <a:txBody>
                    <a:bodyPr/>
                    <a:lstStyle/>
                    <a:p>
                      <a:pPr algn="ctr" indent="0" marL="0">
                        <a:buNone/>
                      </a:pPr>
                      <a:r>
                        <a:rPr lang="en-US" sz="1500" b="1" dirty="0">
                          <a:solidFill>
                            <a:srgbClr val="1B1F24"/>
                          </a:solidFill>
                          <a:latin typeface="Calibri" pitchFamily="34" charset="0"/>
                          <a:ea typeface="Calibri" pitchFamily="34" charset="-122"/>
                          <a:cs typeface="Calibri" pitchFamily="34" charset="-120"/>
                        </a:rPr>
                        <a:t>0,0 %</a:t>
                      </a:r>
                      <a:endParaRPr lang="en-US" sz="1300" dirty="0">
                        <a:latin typeface="Calibri" charset="0"/>
                        <a:ea typeface="Calibri" charset="0"/>
                        <a:cs typeface="Calibri" charset="0"/>
                      </a:endParaRPr>
                    </a:p>
                    <a:p>
                      <a:pPr algn="ctr" indent="0" marL="0">
                        <a:buNone/>
                      </a:pPr>
                      <a:r>
                        <a:rPr lang="en-US" sz="1000" dirty="0">
                          <a:solidFill>
                            <a:srgbClr val="1B1F24"/>
                          </a:solidFill>
                          <a:latin typeface="Calibri" pitchFamily="34" charset="0"/>
                          <a:ea typeface="Calibri" pitchFamily="34" charset="-122"/>
                          <a:cs typeface="Calibri" pitchFamily="34" charset="-120"/>
                        </a:rPr>
                        <a:t>n = 29</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3F7FD"/>
                    </a:solidFill>
                  </a:tcPr>
                </a:tc>
                <a:tc>
                  <a:txBody>
                    <a:bodyPr/>
                    <a:lstStyle/>
                    <a:p>
                      <a:pPr algn="ctr" indent="0" marL="0">
                        <a:buNone/>
                      </a:pPr>
                      <a:r>
                        <a:rPr lang="en-US" sz="1500" b="1" dirty="0">
                          <a:solidFill>
                            <a:srgbClr val="13294B"/>
                          </a:solidFill>
                          <a:latin typeface="Calibri" pitchFamily="34" charset="0"/>
                          <a:ea typeface="Calibri" pitchFamily="34" charset="-122"/>
                          <a:cs typeface="Calibri" pitchFamily="34" charset="-120"/>
                        </a:rPr>
                        <a:t>52,9 %</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3F5F8"/>
                    </a:solidFill>
                  </a:tcPr>
                </a:tc>
              </a:tr>
              <a:tr h="566928">
                <a:tc>
                  <a:txBody>
                    <a:bodyPr/>
                    <a:lstStyle/>
                    <a:p>
                      <a:pPr indent="0" marL="0">
                        <a:buNone/>
                      </a:pPr>
                      <a:r>
                        <a:rPr lang="en-US" sz="1300" b="1" dirty="0">
                          <a:solidFill>
                            <a:srgbClr val="1B1F24"/>
                          </a:solidFill>
                          <a:latin typeface="Calibri" pitchFamily="34" charset="0"/>
                          <a:ea typeface="Calibri" pitchFamily="34" charset="-122"/>
                          <a:cs typeface="Calibri" pitchFamily="34" charset="-120"/>
                        </a:rPr>
                        <a:t>7–12 m</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3F5F8"/>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42,0 %</a:t>
                      </a:r>
                      <a:endParaRPr lang="en-US" sz="1300" dirty="0">
                        <a:latin typeface="Calibri" charset="0"/>
                        <a:ea typeface="Calibri" charset="0"/>
                        <a:cs typeface="Calibri" charset="0"/>
                      </a:endParaRPr>
                    </a:p>
                    <a:p>
                      <a:pPr algn="ctr" indent="0" marL="0">
                        <a:buNone/>
                      </a:pPr>
                      <a:r>
                        <a:rPr lang="en-US" sz="1000" dirty="0">
                          <a:solidFill>
                            <a:srgbClr val="FFFFFF"/>
                          </a:solidFill>
                          <a:latin typeface="Calibri" pitchFamily="34" charset="0"/>
                          <a:ea typeface="Calibri" pitchFamily="34" charset="-122"/>
                          <a:cs typeface="Calibri" pitchFamily="34" charset="-120"/>
                        </a:rPr>
                        <a:t>n = 581</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5598E7"/>
                    </a:solidFill>
                  </a:tcPr>
                </a:tc>
                <a:tc>
                  <a:txBody>
                    <a:bodyPr/>
                    <a:lstStyle/>
                    <a:p>
                      <a:pPr algn="ctr" indent="0" marL="0">
                        <a:buNone/>
                      </a:pPr>
                      <a:r>
                        <a:rPr lang="en-US" sz="1500" b="1" dirty="0">
                          <a:solidFill>
                            <a:srgbClr val="1B1F24"/>
                          </a:solidFill>
                          <a:latin typeface="Calibri" pitchFamily="34" charset="0"/>
                          <a:ea typeface="Calibri" pitchFamily="34" charset="-122"/>
                          <a:cs typeface="Calibri" pitchFamily="34" charset="-120"/>
                        </a:rPr>
                        <a:t>10,6 %</a:t>
                      </a:r>
                      <a:endParaRPr lang="en-US" sz="1300" dirty="0">
                        <a:latin typeface="Calibri" charset="0"/>
                        <a:ea typeface="Calibri" charset="0"/>
                        <a:cs typeface="Calibri" charset="0"/>
                      </a:endParaRPr>
                    </a:p>
                    <a:p>
                      <a:pPr algn="ctr" indent="0" marL="0">
                        <a:buNone/>
                      </a:pPr>
                      <a:r>
                        <a:rPr lang="en-US" sz="1000" dirty="0">
                          <a:solidFill>
                            <a:srgbClr val="1B1F24"/>
                          </a:solidFill>
                          <a:latin typeface="Calibri" pitchFamily="34" charset="0"/>
                          <a:ea typeface="Calibri" pitchFamily="34" charset="-122"/>
                          <a:cs typeface="Calibri" pitchFamily="34" charset="-120"/>
                        </a:rPr>
                        <a:t>n = 85</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CE9FA"/>
                    </a:solidFill>
                  </a:tcPr>
                </a:tc>
                <a:tc>
                  <a:txBody>
                    <a:bodyPr/>
                    <a:lstStyle/>
                    <a:p>
                      <a:pPr algn="ctr" indent="0" marL="0">
                        <a:buNone/>
                      </a:pPr>
                      <a:r>
                        <a:rPr lang="en-US" sz="1500" b="1" dirty="0">
                          <a:solidFill>
                            <a:srgbClr val="1B1F24"/>
                          </a:solidFill>
                          <a:latin typeface="Calibri" pitchFamily="34" charset="0"/>
                          <a:ea typeface="Calibri" pitchFamily="34" charset="-122"/>
                          <a:cs typeface="Calibri" pitchFamily="34" charset="-120"/>
                        </a:rPr>
                        <a:t>0,0 %</a:t>
                      </a:r>
                      <a:endParaRPr lang="en-US" sz="1300" dirty="0">
                        <a:latin typeface="Calibri" charset="0"/>
                        <a:ea typeface="Calibri" charset="0"/>
                        <a:cs typeface="Calibri" charset="0"/>
                      </a:endParaRPr>
                    </a:p>
                    <a:p>
                      <a:pPr algn="ctr" indent="0" marL="0">
                        <a:buNone/>
                      </a:pPr>
                      <a:r>
                        <a:rPr lang="en-US" sz="1000" dirty="0">
                          <a:solidFill>
                            <a:srgbClr val="1B1F24"/>
                          </a:solidFill>
                          <a:latin typeface="Calibri" pitchFamily="34" charset="0"/>
                          <a:ea typeface="Calibri" pitchFamily="34" charset="-122"/>
                          <a:cs typeface="Calibri" pitchFamily="34" charset="-120"/>
                        </a:rPr>
                        <a:t>n = 39</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3F7FD"/>
                    </a:solidFill>
                  </a:tcPr>
                </a:tc>
                <a:tc>
                  <a:txBody>
                    <a:bodyPr/>
                    <a:lstStyle/>
                    <a:p>
                      <a:pPr algn="ctr" indent="0" marL="0">
                        <a:buNone/>
                      </a:pPr>
                      <a:r>
                        <a:rPr lang="en-US" sz="1500" b="1" dirty="0">
                          <a:solidFill>
                            <a:srgbClr val="13294B"/>
                          </a:solidFill>
                          <a:latin typeface="Calibri" pitchFamily="34" charset="0"/>
                          <a:ea typeface="Calibri" pitchFamily="34" charset="-122"/>
                          <a:cs typeface="Calibri" pitchFamily="34" charset="-120"/>
                        </a:rPr>
                        <a:t>35,9 %</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3F5F8"/>
                    </a:solidFill>
                  </a:tcPr>
                </a:tc>
              </a:tr>
              <a:tr h="566928">
                <a:tc>
                  <a:txBody>
                    <a:bodyPr/>
                    <a:lstStyle/>
                    <a:p>
                      <a:pPr indent="0" marL="0">
                        <a:buNone/>
                      </a:pPr>
                      <a:r>
                        <a:rPr lang="en-US" sz="1300" b="1" dirty="0">
                          <a:solidFill>
                            <a:srgbClr val="1B1F24"/>
                          </a:solidFill>
                          <a:latin typeface="Calibri" pitchFamily="34" charset="0"/>
                          <a:ea typeface="Calibri" pitchFamily="34" charset="-122"/>
                          <a:cs typeface="Calibri" pitchFamily="34" charset="-120"/>
                        </a:rPr>
                        <a:t>13–24 m</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3F5F8"/>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37,7 %</a:t>
                      </a:r>
                      <a:endParaRPr lang="en-US" sz="1300" dirty="0">
                        <a:latin typeface="Calibri" charset="0"/>
                        <a:ea typeface="Calibri" charset="0"/>
                        <a:cs typeface="Calibri" charset="0"/>
                      </a:endParaRPr>
                    </a:p>
                    <a:p>
                      <a:pPr algn="ctr" indent="0" marL="0">
                        <a:buNone/>
                      </a:pPr>
                      <a:r>
                        <a:rPr lang="en-US" sz="1000" dirty="0">
                          <a:solidFill>
                            <a:srgbClr val="FFFFFF"/>
                          </a:solidFill>
                          <a:latin typeface="Calibri" pitchFamily="34" charset="0"/>
                          <a:ea typeface="Calibri" pitchFamily="34" charset="-122"/>
                          <a:cs typeface="Calibri" pitchFamily="34" charset="-120"/>
                        </a:rPr>
                        <a:t>n = 737</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6B6EF"/>
                    </a:solidFill>
                  </a:tcPr>
                </a:tc>
                <a:tc>
                  <a:txBody>
                    <a:bodyPr/>
                    <a:lstStyle/>
                    <a:p>
                      <a:pPr algn="ctr" indent="0" marL="0">
                        <a:buNone/>
                      </a:pPr>
                      <a:r>
                        <a:rPr lang="en-US" sz="1500" b="1" dirty="0">
                          <a:solidFill>
                            <a:srgbClr val="1B1F24"/>
                          </a:solidFill>
                          <a:latin typeface="Calibri" pitchFamily="34" charset="0"/>
                          <a:ea typeface="Calibri" pitchFamily="34" charset="-122"/>
                          <a:cs typeface="Calibri" pitchFamily="34" charset="-120"/>
                        </a:rPr>
                        <a:t>8,1 %</a:t>
                      </a:r>
                      <a:endParaRPr lang="en-US" sz="1300" dirty="0">
                        <a:latin typeface="Calibri" charset="0"/>
                        <a:ea typeface="Calibri" charset="0"/>
                        <a:cs typeface="Calibri" charset="0"/>
                      </a:endParaRPr>
                    </a:p>
                    <a:p>
                      <a:pPr algn="ctr" indent="0" marL="0">
                        <a:buNone/>
                      </a:pPr>
                      <a:r>
                        <a:rPr lang="en-US" sz="1000" dirty="0">
                          <a:solidFill>
                            <a:srgbClr val="1B1F24"/>
                          </a:solidFill>
                          <a:latin typeface="Calibri" pitchFamily="34" charset="0"/>
                          <a:ea typeface="Calibri" pitchFamily="34" charset="-122"/>
                          <a:cs typeface="Calibri" pitchFamily="34" charset="-120"/>
                        </a:rPr>
                        <a:t>n = 197</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3F7FD"/>
                    </a:solidFill>
                  </a:tcPr>
                </a:tc>
                <a:tc>
                  <a:txBody>
                    <a:bodyPr/>
                    <a:lstStyle/>
                    <a:p>
                      <a:pPr algn="ctr" indent="0" marL="0">
                        <a:buNone/>
                      </a:pPr>
                      <a:r>
                        <a:rPr lang="en-US" sz="1500" b="1" dirty="0">
                          <a:solidFill>
                            <a:srgbClr val="1B1F24"/>
                          </a:solidFill>
                          <a:latin typeface="Calibri" pitchFamily="34" charset="0"/>
                          <a:ea typeface="Calibri" pitchFamily="34" charset="-122"/>
                          <a:cs typeface="Calibri" pitchFamily="34" charset="-120"/>
                        </a:rPr>
                        <a:t>0,0 %</a:t>
                      </a:r>
                      <a:endParaRPr lang="en-US" sz="1300" dirty="0">
                        <a:latin typeface="Calibri" charset="0"/>
                        <a:ea typeface="Calibri" charset="0"/>
                        <a:cs typeface="Calibri" charset="0"/>
                      </a:endParaRPr>
                    </a:p>
                    <a:p>
                      <a:pPr algn="ctr" indent="0" marL="0">
                        <a:buNone/>
                      </a:pPr>
                      <a:r>
                        <a:rPr lang="en-US" sz="1000" dirty="0">
                          <a:solidFill>
                            <a:srgbClr val="1B1F24"/>
                          </a:solidFill>
                          <a:latin typeface="Calibri" pitchFamily="34" charset="0"/>
                          <a:ea typeface="Calibri" pitchFamily="34" charset="-122"/>
                          <a:cs typeface="Calibri" pitchFamily="34" charset="-120"/>
                        </a:rPr>
                        <a:t>n = 90</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3F7FD"/>
                    </a:solidFill>
                  </a:tcPr>
                </a:tc>
                <a:tc>
                  <a:txBody>
                    <a:bodyPr/>
                    <a:lstStyle/>
                    <a:p>
                      <a:pPr algn="ctr" indent="0" marL="0">
                        <a:buNone/>
                      </a:pPr>
                      <a:r>
                        <a:rPr lang="en-US" sz="1500" b="1" dirty="0">
                          <a:solidFill>
                            <a:srgbClr val="13294B"/>
                          </a:solidFill>
                          <a:latin typeface="Calibri" pitchFamily="34" charset="0"/>
                          <a:ea typeface="Calibri" pitchFamily="34" charset="-122"/>
                          <a:cs typeface="Calibri" pitchFamily="34" charset="-120"/>
                        </a:rPr>
                        <a:t>28,7 %</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3F5F8"/>
                    </a:solidFill>
                  </a:tcPr>
                </a:tc>
              </a:tr>
              <a:tr h="566928">
                <a:tc>
                  <a:txBody>
                    <a:bodyPr/>
                    <a:lstStyle/>
                    <a:p>
                      <a:pPr indent="0" marL="0">
                        <a:buNone/>
                      </a:pPr>
                      <a:r>
                        <a:rPr lang="en-US" sz="1300" b="1" dirty="0">
                          <a:solidFill>
                            <a:srgbClr val="1B1F24"/>
                          </a:solidFill>
                          <a:latin typeface="Calibri" pitchFamily="34" charset="0"/>
                          <a:ea typeface="Calibri" pitchFamily="34" charset="-122"/>
                          <a:cs typeface="Calibri" pitchFamily="34" charset="-120"/>
                        </a:rPr>
                        <a:t>25–48 m</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3F5F8"/>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32,9 %</a:t>
                      </a:r>
                      <a:endParaRPr lang="en-US" sz="1300" dirty="0">
                        <a:latin typeface="Calibri" charset="0"/>
                        <a:ea typeface="Calibri" charset="0"/>
                        <a:cs typeface="Calibri" charset="0"/>
                      </a:endParaRPr>
                    </a:p>
                    <a:p>
                      <a:pPr algn="ctr" indent="0" marL="0">
                        <a:buNone/>
                      </a:pPr>
                      <a:r>
                        <a:rPr lang="en-US" sz="1000" dirty="0">
                          <a:solidFill>
                            <a:srgbClr val="FFFFFF"/>
                          </a:solidFill>
                          <a:latin typeface="Calibri" pitchFamily="34" charset="0"/>
                          <a:ea typeface="Calibri" pitchFamily="34" charset="-122"/>
                          <a:cs typeface="Calibri" pitchFamily="34" charset="-120"/>
                        </a:rPr>
                        <a:t>n = 802</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6B6EF"/>
                    </a:solidFill>
                  </a:tcPr>
                </a:tc>
                <a:tc>
                  <a:txBody>
                    <a:bodyPr/>
                    <a:lstStyle/>
                    <a:p>
                      <a:pPr algn="ctr" indent="0" marL="0">
                        <a:buNone/>
                      </a:pPr>
                      <a:r>
                        <a:rPr lang="en-US" sz="1500" b="1" dirty="0">
                          <a:solidFill>
                            <a:srgbClr val="1B1F24"/>
                          </a:solidFill>
                          <a:latin typeface="Calibri" pitchFamily="34" charset="0"/>
                          <a:ea typeface="Calibri" pitchFamily="34" charset="-122"/>
                          <a:cs typeface="Calibri" pitchFamily="34" charset="-120"/>
                        </a:rPr>
                        <a:t>10,6 %</a:t>
                      </a:r>
                      <a:endParaRPr lang="en-US" sz="1300" dirty="0">
                        <a:latin typeface="Calibri" charset="0"/>
                        <a:ea typeface="Calibri" charset="0"/>
                        <a:cs typeface="Calibri" charset="0"/>
                      </a:endParaRPr>
                    </a:p>
                    <a:p>
                      <a:pPr algn="ctr" indent="0" marL="0">
                        <a:buNone/>
                      </a:pPr>
                      <a:r>
                        <a:rPr lang="en-US" sz="1000" dirty="0">
                          <a:solidFill>
                            <a:srgbClr val="1B1F24"/>
                          </a:solidFill>
                          <a:latin typeface="Calibri" pitchFamily="34" charset="0"/>
                          <a:ea typeface="Calibri" pitchFamily="34" charset="-122"/>
                          <a:cs typeface="Calibri" pitchFamily="34" charset="-120"/>
                        </a:rPr>
                        <a:t>n = 518</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CE9FA"/>
                    </a:solidFill>
                  </a:tcPr>
                </a:tc>
                <a:tc>
                  <a:txBody>
                    <a:bodyPr/>
                    <a:lstStyle/>
                    <a:p>
                      <a:pPr algn="ctr" indent="0" marL="0">
                        <a:buNone/>
                      </a:pPr>
                      <a:r>
                        <a:rPr lang="en-US" sz="1500" b="1" dirty="0">
                          <a:solidFill>
                            <a:srgbClr val="1B1F24"/>
                          </a:solidFill>
                          <a:latin typeface="Calibri" pitchFamily="34" charset="0"/>
                          <a:ea typeface="Calibri" pitchFamily="34" charset="-122"/>
                          <a:cs typeface="Calibri" pitchFamily="34" charset="-120"/>
                        </a:rPr>
                        <a:t>2,2 %</a:t>
                      </a:r>
                      <a:endParaRPr lang="en-US" sz="1300" dirty="0">
                        <a:latin typeface="Calibri" charset="0"/>
                        <a:ea typeface="Calibri" charset="0"/>
                        <a:cs typeface="Calibri" charset="0"/>
                      </a:endParaRPr>
                    </a:p>
                    <a:p>
                      <a:pPr algn="ctr" indent="0" marL="0">
                        <a:buNone/>
                      </a:pPr>
                      <a:r>
                        <a:rPr lang="en-US" sz="1000" dirty="0">
                          <a:solidFill>
                            <a:srgbClr val="1B1F24"/>
                          </a:solidFill>
                          <a:latin typeface="Calibri" pitchFamily="34" charset="0"/>
                          <a:ea typeface="Calibri" pitchFamily="34" charset="-122"/>
                          <a:cs typeface="Calibri" pitchFamily="34" charset="-120"/>
                        </a:rPr>
                        <a:t>n = 274</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3F7FD"/>
                    </a:solidFill>
                  </a:tcPr>
                </a:tc>
                <a:tc>
                  <a:txBody>
                    <a:bodyPr/>
                    <a:lstStyle/>
                    <a:p>
                      <a:pPr algn="ctr" indent="0" marL="0">
                        <a:buNone/>
                      </a:pPr>
                      <a:r>
                        <a:rPr lang="en-US" sz="1500" b="1" dirty="0">
                          <a:solidFill>
                            <a:srgbClr val="13294B"/>
                          </a:solidFill>
                          <a:latin typeface="Calibri" pitchFamily="34" charset="0"/>
                          <a:ea typeface="Calibri" pitchFamily="34" charset="-122"/>
                          <a:cs typeface="Calibri" pitchFamily="34" charset="-120"/>
                        </a:rPr>
                        <a:t>20,4 %</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3F5F8"/>
                    </a:solidFill>
                  </a:tcPr>
                </a:tc>
              </a:tr>
              <a:tr h="566928">
                <a:tc>
                  <a:txBody>
                    <a:bodyPr/>
                    <a:lstStyle/>
                    <a:p>
                      <a:pPr indent="0" marL="0">
                        <a:buNone/>
                      </a:pPr>
                      <a:r>
                        <a:rPr lang="en-US" sz="1300" b="1" dirty="0">
                          <a:solidFill>
                            <a:srgbClr val="1B1F24"/>
                          </a:solidFill>
                          <a:latin typeface="Calibri" pitchFamily="34" charset="0"/>
                          <a:ea typeface="Calibri" pitchFamily="34" charset="-122"/>
                          <a:cs typeface="Calibri" pitchFamily="34" charset="-120"/>
                        </a:rPr>
                        <a:t>49–72 m</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3F5F8"/>
                    </a:solidFill>
                  </a:tcPr>
                </a:tc>
                <a:tc>
                  <a:txBody>
                    <a:bodyPr/>
                    <a:lstStyle/>
                    <a:p>
                      <a:pPr algn="ctr" indent="0" marL="0">
                        <a:buNone/>
                      </a:pPr>
                      <a:r>
                        <a:rPr lang="en-US" sz="1500" b="1" dirty="0">
                          <a:solidFill>
                            <a:srgbClr val="1B1F24"/>
                          </a:solidFill>
                          <a:latin typeface="Calibri" pitchFamily="34" charset="0"/>
                          <a:ea typeface="Calibri" pitchFamily="34" charset="-122"/>
                          <a:cs typeface="Calibri" pitchFamily="34" charset="-120"/>
                        </a:rPr>
                        <a:t>26,0 %</a:t>
                      </a:r>
                      <a:endParaRPr lang="en-US" sz="1300" dirty="0">
                        <a:latin typeface="Calibri" charset="0"/>
                        <a:ea typeface="Calibri" charset="0"/>
                        <a:cs typeface="Calibri" charset="0"/>
                      </a:endParaRPr>
                    </a:p>
                    <a:p>
                      <a:pPr algn="ctr" indent="0" marL="0">
                        <a:buNone/>
                      </a:pPr>
                      <a:r>
                        <a:rPr lang="en-US" sz="1000" dirty="0">
                          <a:solidFill>
                            <a:srgbClr val="1B1F24"/>
                          </a:solidFill>
                          <a:latin typeface="Calibri" pitchFamily="34" charset="0"/>
                          <a:ea typeface="Calibri" pitchFamily="34" charset="-122"/>
                          <a:cs typeface="Calibri" pitchFamily="34" charset="-120"/>
                        </a:rPr>
                        <a:t>n = 342</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B7D3F6"/>
                    </a:solidFill>
                  </a:tcPr>
                </a:tc>
                <a:tc>
                  <a:txBody>
                    <a:bodyPr/>
                    <a:lstStyle/>
                    <a:p>
                      <a:pPr algn="ctr" indent="0" marL="0">
                        <a:buNone/>
                      </a:pPr>
                      <a:r>
                        <a:rPr lang="en-US" sz="1500" b="1" dirty="0">
                          <a:solidFill>
                            <a:srgbClr val="1B1F24"/>
                          </a:solidFill>
                          <a:latin typeface="Calibri" pitchFamily="34" charset="0"/>
                          <a:ea typeface="Calibri" pitchFamily="34" charset="-122"/>
                          <a:cs typeface="Calibri" pitchFamily="34" charset="-120"/>
                        </a:rPr>
                        <a:t>12,9 %</a:t>
                      </a:r>
                      <a:endParaRPr lang="en-US" sz="1300" dirty="0">
                        <a:latin typeface="Calibri" charset="0"/>
                        <a:ea typeface="Calibri" charset="0"/>
                        <a:cs typeface="Calibri" charset="0"/>
                      </a:endParaRPr>
                    </a:p>
                    <a:p>
                      <a:pPr algn="ctr" indent="0" marL="0">
                        <a:buNone/>
                      </a:pPr>
                      <a:r>
                        <a:rPr lang="en-US" sz="1000" dirty="0">
                          <a:solidFill>
                            <a:srgbClr val="1B1F24"/>
                          </a:solidFill>
                          <a:latin typeface="Calibri" pitchFamily="34" charset="0"/>
                          <a:ea typeface="Calibri" pitchFamily="34" charset="-122"/>
                          <a:cs typeface="Calibri" pitchFamily="34" charset="-120"/>
                        </a:rPr>
                        <a:t>n = 634</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CE9FA"/>
                    </a:solidFill>
                  </a:tcPr>
                </a:tc>
                <a:tc>
                  <a:txBody>
                    <a:bodyPr/>
                    <a:lstStyle/>
                    <a:p>
                      <a:pPr algn="ctr" indent="0" marL="0">
                        <a:buNone/>
                      </a:pPr>
                      <a:r>
                        <a:rPr lang="en-US" sz="1500" b="1" dirty="0">
                          <a:solidFill>
                            <a:srgbClr val="1B1F24"/>
                          </a:solidFill>
                          <a:latin typeface="Calibri" pitchFamily="34" charset="0"/>
                          <a:ea typeface="Calibri" pitchFamily="34" charset="-122"/>
                          <a:cs typeface="Calibri" pitchFamily="34" charset="-120"/>
                        </a:rPr>
                        <a:t>3,3 %</a:t>
                      </a:r>
                      <a:endParaRPr lang="en-US" sz="1300" dirty="0">
                        <a:latin typeface="Calibri" charset="0"/>
                        <a:ea typeface="Calibri" charset="0"/>
                        <a:cs typeface="Calibri" charset="0"/>
                      </a:endParaRPr>
                    </a:p>
                    <a:p>
                      <a:pPr algn="ctr" indent="0" marL="0">
                        <a:buNone/>
                      </a:pPr>
                      <a:r>
                        <a:rPr lang="en-US" sz="1000" dirty="0">
                          <a:solidFill>
                            <a:srgbClr val="1B1F24"/>
                          </a:solidFill>
                          <a:latin typeface="Calibri" pitchFamily="34" charset="0"/>
                          <a:ea typeface="Calibri" pitchFamily="34" charset="-122"/>
                          <a:cs typeface="Calibri" pitchFamily="34" charset="-120"/>
                        </a:rPr>
                        <a:t>n = 1.263</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3F7FD"/>
                    </a:solidFill>
                  </a:tcPr>
                </a:tc>
                <a:tc>
                  <a:txBody>
                    <a:bodyPr/>
                    <a:lstStyle/>
                    <a:p>
                      <a:pPr algn="ctr" indent="0" marL="0">
                        <a:buNone/>
                      </a:pPr>
                      <a:r>
                        <a:rPr lang="en-US" sz="1500" b="1" dirty="0">
                          <a:solidFill>
                            <a:srgbClr val="13294B"/>
                          </a:solidFill>
                          <a:latin typeface="Calibri" pitchFamily="34" charset="0"/>
                          <a:ea typeface="Calibri" pitchFamily="34" charset="-122"/>
                          <a:cs typeface="Calibri" pitchFamily="34" charset="-120"/>
                        </a:rPr>
                        <a:t>9,5 %</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3F5F8"/>
                    </a:solidFill>
                  </a:tcPr>
                </a:tc>
              </a:tr>
              <a:tr h="566928">
                <a:tc>
                  <a:txBody>
                    <a:bodyPr/>
                    <a:lstStyle/>
                    <a:p>
                      <a:pPr indent="0" marL="0">
                        <a:buNone/>
                      </a:pPr>
                      <a:r>
                        <a:rPr lang="en-US" sz="1300" b="1" dirty="0">
                          <a:solidFill>
                            <a:srgbClr val="1B1F24"/>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3E8EF"/>
                    </a:solidFill>
                  </a:tcPr>
                </a:tc>
                <a:tc>
                  <a:txBody>
                    <a:bodyPr/>
                    <a:lstStyle/>
                    <a:p>
                      <a:pPr algn="ctr" indent="0" marL="0">
                        <a:buNone/>
                      </a:pPr>
                      <a:r>
                        <a:rPr lang="en-US" sz="1500" b="1" dirty="0">
                          <a:solidFill>
                            <a:srgbClr val="13294B"/>
                          </a:solidFill>
                          <a:latin typeface="Calibri" pitchFamily="34" charset="0"/>
                          <a:ea typeface="Calibri" pitchFamily="34" charset="-122"/>
                          <a:cs typeface="Calibri" pitchFamily="34" charset="-120"/>
                        </a:rPr>
                        <a:t>42,7 %</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3E8EF"/>
                    </a:solidFill>
                  </a:tcPr>
                </a:tc>
                <a:tc>
                  <a:txBody>
                    <a:bodyPr/>
                    <a:lstStyle/>
                    <a:p>
                      <a:pPr algn="ctr" indent="0" marL="0">
                        <a:buNone/>
                      </a:pPr>
                      <a:r>
                        <a:rPr lang="en-US" sz="1500" b="1" dirty="0">
                          <a:solidFill>
                            <a:srgbClr val="13294B"/>
                          </a:solidFill>
                          <a:latin typeface="Calibri" pitchFamily="34" charset="0"/>
                          <a:ea typeface="Calibri" pitchFamily="34" charset="-122"/>
                          <a:cs typeface="Calibri" pitchFamily="34" charset="-120"/>
                        </a:rPr>
                        <a:t>11,3 %</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3E8EF"/>
                    </a:solidFill>
                  </a:tcPr>
                </a:tc>
                <a:tc>
                  <a:txBody>
                    <a:bodyPr/>
                    <a:lstStyle/>
                    <a:p>
                      <a:pPr algn="ctr" indent="0" marL="0">
                        <a:buNone/>
                      </a:pPr>
                      <a:r>
                        <a:rPr lang="en-US" sz="1500" b="1" dirty="0">
                          <a:solidFill>
                            <a:srgbClr val="13294B"/>
                          </a:solidFill>
                          <a:latin typeface="Calibri" pitchFamily="34" charset="0"/>
                          <a:ea typeface="Calibri" pitchFamily="34" charset="-122"/>
                          <a:cs typeface="Calibri" pitchFamily="34" charset="-120"/>
                        </a:rPr>
                        <a:t>2,8 %</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3E8EF"/>
                    </a:solidFill>
                  </a:tcPr>
                </a:tc>
                <a:tc>
                  <a:txBody>
                    <a:bodyPr/>
                    <a:lstStyle/>
                    <a:p>
                      <a:pPr algn="ctr" indent="0" marL="0">
                        <a:buNone/>
                      </a:pPr>
                      <a:r>
                        <a:rPr lang="en-US" sz="1500" b="1" dirty="0">
                          <a:solidFill>
                            <a:srgbClr val="13294B"/>
                          </a:solidFill>
                          <a:latin typeface="Calibri" pitchFamily="34" charset="0"/>
                          <a:ea typeface="Calibri" pitchFamily="34" charset="-122"/>
                          <a:cs typeface="Calibri" pitchFamily="34" charset="-120"/>
                        </a:rPr>
                        <a:t>26,5 %</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3E8EF"/>
                    </a:solidFill>
                  </a:tcPr>
                </a:tc>
              </a:tr>
            </a:tbl>
          </a:graphicData>
        </a:graphic>
      </p:graphicFrame>
      <p:sp>
        <p:nvSpPr>
          <p:cNvPr id="6" name="Shape 2"/>
          <p:cNvSpPr/>
          <p:nvPr/>
        </p:nvSpPr>
        <p:spPr>
          <a:xfrm>
            <a:off x="7589520" y="1417320"/>
            <a:ext cx="4050792" cy="1353312"/>
          </a:xfrm>
          <a:prstGeom prst="roundRect">
            <a:avLst>
              <a:gd name="adj" fmla="val 5405"/>
            </a:avLst>
          </a:prstGeom>
          <a:solidFill>
            <a:srgbClr val="F3F5F8"/>
          </a:solidFill>
          <a:ln w="12700">
            <a:solidFill>
              <a:srgbClr val="F3F5F8"/>
            </a:solidFill>
            <a:prstDash val="solid"/>
          </a:ln>
        </p:spPr>
        <p:txBody>
          <a:bodyPr/>
          <a:p/>
        </p:txBody>
      </p:sp>
      <p:sp>
        <p:nvSpPr>
          <p:cNvPr id="7" name="Text 3"/>
          <p:cNvSpPr txBox="1"/>
          <p:nvPr/>
        </p:nvSpPr>
        <p:spPr>
          <a:xfrm>
            <a:off x="7790688" y="1545336"/>
            <a:ext cx="3657600" cy="292608"/>
          </a:xfrm>
          <a:prstGeom prst="rect">
            <a:avLst/>
          </a:prstGeom>
          <a:noFill/>
          <a:ln/>
        </p:spPr>
        <p:txBody>
          <a:bodyPr wrap="square" lIns="0" tIns="0" rIns="0" bIns="0" rtlCol="0" anchor="ctr"/>
          <a:lstStyle/>
          <a:p>
            <a:pPr indent="0" marL="0">
              <a:buNone/>
            </a:pPr>
            <a:r>
              <a:rPr lang="en-US" sz="1500" b="1" dirty="0">
                <a:solidFill>
                  <a:srgbClr val="13294B"/>
                </a:solidFill>
                <a:latin typeface="Calibri" pitchFamily="34" charset="0"/>
                <a:ea typeface="Calibri" pitchFamily="34" charset="-122"/>
                <a:cs typeface="Calibri" pitchFamily="34" charset="-120"/>
              </a:rPr>
              <a:t>Qué muestra</a:t>
            </a:r>
            <a:endParaRPr lang="en-US" sz="1500" dirty="0"/>
          </a:p>
        </p:txBody>
      </p:sp>
      <p:sp>
        <p:nvSpPr>
          <p:cNvPr id="8" name="Text 4"/>
          <p:cNvSpPr txBox="1"/>
          <p:nvPr/>
        </p:nvSpPr>
        <p:spPr>
          <a:xfrm>
            <a:off x="7790688" y="1874520"/>
            <a:ext cx="3657600" cy="868680"/>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El churn cae con la antigüedad dentro de cada contrato: en mes a mes pasa de 55,2 % a 26,0 %.</a:t>
            </a:r>
            <a:endParaRPr lang="en-US" sz="1400" dirty="0"/>
          </a:p>
        </p:txBody>
      </p:sp>
      <p:sp>
        <p:nvSpPr>
          <p:cNvPr id="9" name="Shape 5"/>
          <p:cNvSpPr/>
          <p:nvPr/>
        </p:nvSpPr>
        <p:spPr>
          <a:xfrm>
            <a:off x="7589520" y="2898648"/>
            <a:ext cx="4050792" cy="1353312"/>
          </a:xfrm>
          <a:prstGeom prst="roundRect">
            <a:avLst>
              <a:gd name="adj" fmla="val 5405"/>
            </a:avLst>
          </a:prstGeom>
          <a:solidFill>
            <a:srgbClr val="F3F5F8"/>
          </a:solidFill>
          <a:ln w="12700">
            <a:solidFill>
              <a:srgbClr val="F3F5F8"/>
            </a:solidFill>
            <a:prstDash val="solid"/>
          </a:ln>
        </p:spPr>
        <p:txBody>
          <a:bodyPr/>
          <a:p/>
        </p:txBody>
      </p:sp>
      <p:sp>
        <p:nvSpPr>
          <p:cNvPr id="10" name="Text 6"/>
          <p:cNvSpPr txBox="1"/>
          <p:nvPr/>
        </p:nvSpPr>
        <p:spPr>
          <a:xfrm>
            <a:off x="7790688" y="3026664"/>
            <a:ext cx="3657600" cy="292608"/>
          </a:xfrm>
          <a:prstGeom prst="rect">
            <a:avLst/>
          </a:prstGeom>
          <a:noFill/>
          <a:ln/>
        </p:spPr>
        <p:txBody>
          <a:bodyPr wrap="square" lIns="0" tIns="0" rIns="0" bIns="0" rtlCol="0" anchor="ctr"/>
          <a:lstStyle/>
          <a:p>
            <a:pPr indent="0" marL="0">
              <a:buNone/>
            </a:pPr>
            <a:r>
              <a:rPr lang="en-US" sz="1500" b="1" dirty="0">
                <a:solidFill>
                  <a:srgbClr val="13294B"/>
                </a:solidFill>
                <a:latin typeface="Calibri" pitchFamily="34" charset="0"/>
                <a:ea typeface="Calibri" pitchFamily="34" charset="-122"/>
                <a:cs typeface="Calibri" pitchFamily="34" charset="-120"/>
              </a:rPr>
              <a:t>Qué significa</a:t>
            </a:r>
            <a:endParaRPr lang="en-US" sz="1500" dirty="0"/>
          </a:p>
        </p:txBody>
      </p:sp>
      <p:sp>
        <p:nvSpPr>
          <p:cNvPr id="11" name="Text 7"/>
          <p:cNvSpPr txBox="1"/>
          <p:nvPr/>
        </p:nvSpPr>
        <p:spPr>
          <a:xfrm>
            <a:off x="7790688" y="3355848"/>
            <a:ext cx="3657600" cy="868680"/>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Los primeros meses son la ventana crítica por sí mismos, no solo por la mezcla de contratos.</a:t>
            </a:r>
            <a:endParaRPr lang="en-US" sz="1400" dirty="0"/>
          </a:p>
        </p:txBody>
      </p:sp>
      <p:sp>
        <p:nvSpPr>
          <p:cNvPr id="12" name="Shape 8"/>
          <p:cNvSpPr/>
          <p:nvPr/>
        </p:nvSpPr>
        <p:spPr>
          <a:xfrm>
            <a:off x="7589520" y="4379976"/>
            <a:ext cx="4050792" cy="1353312"/>
          </a:xfrm>
          <a:prstGeom prst="roundRect">
            <a:avLst>
              <a:gd name="adj" fmla="val 5405"/>
            </a:avLst>
          </a:prstGeom>
          <a:solidFill>
            <a:srgbClr val="EEF4FC"/>
          </a:solidFill>
          <a:ln w="12700">
            <a:solidFill>
              <a:srgbClr val="EEF4FC"/>
            </a:solidFill>
            <a:prstDash val="solid"/>
          </a:ln>
        </p:spPr>
        <p:txBody>
          <a:bodyPr/>
          <a:p/>
        </p:txBody>
      </p:sp>
      <p:sp>
        <p:nvSpPr>
          <p:cNvPr id="13" name="Text 9"/>
          <p:cNvSpPr txBox="1"/>
          <p:nvPr/>
        </p:nvSpPr>
        <p:spPr>
          <a:xfrm>
            <a:off x="7790688" y="4507992"/>
            <a:ext cx="3657600" cy="292608"/>
          </a:xfrm>
          <a:prstGeom prst="rect">
            <a:avLst/>
          </a:prstGeom>
          <a:noFill/>
          <a:ln/>
        </p:spPr>
        <p:txBody>
          <a:bodyPr wrap="square" lIns="0" tIns="0" rIns="0" bIns="0" rtlCol="0" anchor="ctr"/>
          <a:lstStyle/>
          <a:p>
            <a:pPr indent="0" marL="0">
              <a:buNone/>
            </a:pPr>
            <a:r>
              <a:rPr lang="en-US" sz="1500" b="1" dirty="0">
                <a:solidFill>
                  <a:srgbClr val="13294B"/>
                </a:solidFill>
                <a:latin typeface="Calibri" pitchFamily="34" charset="0"/>
                <a:ea typeface="Calibri" pitchFamily="34" charset="-122"/>
                <a:cs typeface="Calibri" pitchFamily="34" charset="-120"/>
              </a:rPr>
              <a:t>Qué implica</a:t>
            </a:r>
            <a:endParaRPr lang="en-US" sz="1500" dirty="0"/>
          </a:p>
        </p:txBody>
      </p:sp>
      <p:sp>
        <p:nvSpPr>
          <p:cNvPr id="14" name="Text 10"/>
          <p:cNvSpPr txBox="1"/>
          <p:nvPr/>
        </p:nvSpPr>
        <p:spPr>
          <a:xfrm>
            <a:off x="7790688" y="4837176"/>
            <a:ext cx="3657600" cy="868680"/>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El onboarding temprano (L4) es una palanca independiente de la migración de contrato (L1).</a:t>
            </a:r>
            <a:endParaRPr lang="en-US" sz="1400" dirty="0"/>
          </a:p>
        </p:txBody>
      </p:sp>
      <p:sp>
        <p:nvSpPr>
          <p:cNvPr id="15" name="Text 11"/>
          <p:cNvSpPr txBox="1"/>
          <p:nvPr/>
        </p:nvSpPr>
        <p:spPr>
          <a:xfrm>
            <a:off x="548640" y="6053328"/>
            <a:ext cx="11091672" cy="310896"/>
          </a:xfrm>
          <a:prstGeom prst="rect">
            <a:avLst/>
          </a:prstGeom>
          <a:noFill/>
          <a:ln/>
        </p:spPr>
        <p:txBody>
          <a:bodyPr wrap="square" lIns="0" tIns="0" rIns="0" bIns="0" rtlCol="0" anchor="t"/>
          <a:lstStyle/>
          <a:p>
            <a:pPr indent="0" marL="0">
              <a:buNone/>
            </a:pPr>
            <a:r>
              <a:rPr lang="en-US" sz="1100" i="1" dirty="0">
                <a:solidFill>
                  <a:srgbClr val="5B6573"/>
                </a:solidFill>
                <a:latin typeface="Calibri" pitchFamily="34" charset="0"/>
                <a:ea typeface="Calibri" pitchFamily="34" charset="-122"/>
                <a:cs typeface="Calibri" pitchFamily="34" charset="-120"/>
              </a:rPr>
              <a:t>Celdas con menos de 50 clientes (0–6 m con contrato de dos años) deben leerse con cautela.</a:t>
            </a:r>
            <a:endParaRPr lang="en-US" sz="1100" dirty="0"/>
          </a:p>
        </p:txBody>
      </p:sp>
      <p:sp>
        <p:nvSpPr>
          <p:cNvPr id="25" name="Slide Number Placeholder 0"/>
          <p:cNvSpPr>
            <a:spLocks noGrp="1"/>
          </p:cNvSpPr>
          <p:nvPr>
            <p:ph type="sldNum" sz="quarter" idx="4294967295"/>
          </p:nvPr>
        </p:nvSpPr>
        <p:spPr>
          <a:xfrm>
            <a:off x="11091672"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5B657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164592"/>
            <a:ext cx="11091672" cy="256032"/>
          </a:xfrm>
          <a:prstGeom prst="rect">
            <a:avLst/>
          </a:prstGeom>
          <a:noFill/>
          <a:ln/>
        </p:spPr>
        <p:txBody>
          <a:bodyPr wrap="square" lIns="0" tIns="0" rIns="0" bIns="0" rtlCol="0" anchor="ctr"/>
          <a:lstStyle/>
          <a:p>
            <a:pPr indent="0" marL="0">
              <a:buNone/>
            </a:pPr>
            <a:r>
              <a:rPr lang="en-US" sz="1100" b="1" spc="50" kern="0" dirty="0">
                <a:solidFill>
                  <a:srgbClr val="2A78D6"/>
                </a:solidFill>
                <a:latin typeface="Calibri" pitchFamily="34" charset="0"/>
                <a:ea typeface="Calibri" pitchFamily="34" charset="-122"/>
                <a:cs typeface="Calibri" pitchFamily="34" charset="-120"/>
              </a:rPr>
              <a:t>03 · ANÁLISIS DE DESEMPEÑO</a:t>
            </a:r>
            <a:pPr indent="0" marL="0">
              <a:buNone/>
            </a:pPr>
            <a:endParaRPr lang="en-US" sz="1100" dirty="0"/>
          </a:p>
        </p:txBody>
      </p:sp>
      <p:sp>
        <p:nvSpPr>
          <p:cNvPr id="3" name="Text 0"/>
          <p:cNvSpPr/>
          <p:nvPr>
            <p:ph idx="100" type="title" hasCustomPrompt="1"/>
          </p:nvPr>
        </p:nvSpPr>
        <p:spPr>
          <a:xfrm>
            <a:off x="548640" y="457200"/>
            <a:ext cx="11091672" cy="841248"/>
          </a:xfrm>
          <a:prstGeom prst="rect">
            <a:avLst/>
          </a:prstGeom>
          <a:noFill/>
          <a:ln/>
        </p:spPr>
        <p:txBody>
          <a:bodyPr wrap="square" lIns="0" tIns="0" rIns="0" bIns="0" rtlCol="0" anchor="t"/>
          <a:lstStyle/>
          <a:p>
            <a:pPr algn="l" indent="0" marL="0">
              <a:buNone/>
            </a:pPr>
            <a:r>
              <a:rPr lang="en-US" sz="2400" b="1" dirty="0">
                <a:solidFill>
                  <a:srgbClr val="13294B"/>
                </a:solidFill>
                <a:latin typeface="Cambria" pitchFamily="34" charset="0"/>
                <a:ea typeface="Cambria" pitchFamily="34" charset="-122"/>
                <a:cs typeface="Cambria" pitchFamily="34" charset="-120"/>
              </a:rPr>
              <a:t>Mes a mes con fibra: 30 % de los clientes y 72 % del MRR perdido</a:t>
            </a:r>
            <a:endParaRPr lang="en-US" sz="2400" dirty="0"/>
          </a:p>
        </p:txBody>
      </p:sp>
      <p:sp>
        <p:nvSpPr>
          <p:cNvPr id="5" name="Text 2"/>
          <p:cNvSpPr txBox="1"/>
          <p:nvPr/>
        </p:nvSpPr>
        <p:spPr>
          <a:xfrm>
            <a:off x="548640" y="1371600"/>
            <a:ext cx="7680960" cy="292608"/>
          </a:xfrm>
          <a:prstGeom prst="rect">
            <a:avLst/>
          </a:prstGeom>
          <a:noFill/>
          <a:ln/>
        </p:spPr>
        <p:txBody>
          <a:bodyPr wrap="square" lIns="0" tIns="0" rIns="0" bIns="0" rtlCol="0" anchor="ctr"/>
          <a:lstStyle/>
          <a:p>
            <a:pPr indent="0" marL="0">
              <a:buNone/>
            </a:pPr>
            <a:r>
              <a:rPr lang="en-US" sz="1400" b="1" dirty="0">
                <a:solidFill>
                  <a:srgbClr val="1B1F24"/>
                </a:solidFill>
                <a:latin typeface="Calibri" pitchFamily="34" charset="0"/>
                <a:ea typeface="Calibri" pitchFamily="34" charset="-122"/>
                <a:cs typeface="Calibri" pitchFamily="34" charset="-120"/>
              </a:rPr>
              <a:t>Participación en la base frente a participación en el MRR perdido</a:t>
            </a:r>
            <a:endParaRPr lang="en-US" sz="1400" dirty="0"/>
          </a:p>
        </p:txBody>
      </p:sp>
      <p:sp>
        <p:nvSpPr>
          <p:cNvPr id="6" name="Text 3"/>
          <p:cNvSpPr txBox="1"/>
          <p:nvPr/>
        </p:nvSpPr>
        <p:spPr>
          <a:xfrm>
            <a:off x="548640" y="1664208"/>
            <a:ext cx="7680960" cy="256032"/>
          </a:xfrm>
          <a:prstGeom prst="rect">
            <a:avLst/>
          </a:prstGeom>
          <a:noFill/>
          <a:ln/>
        </p:spPr>
        <p:txBody>
          <a:bodyPr wrap="square" lIns="0" tIns="0" rIns="0" bIns="0" rtlCol="0" anchor="ctr"/>
          <a:lstStyle/>
          <a:p>
            <a:pPr indent="0" marL="0">
              <a:buNone/>
            </a:pPr>
            <a:r>
              <a:rPr lang="en-US" sz="1100" dirty="0">
                <a:solidFill>
                  <a:srgbClr val="5B6573"/>
                </a:solidFill>
                <a:latin typeface="Calibri" pitchFamily="34" charset="0"/>
                <a:ea typeface="Calibri" pitchFamily="34" charset="-122"/>
                <a:cs typeface="Calibri" pitchFamily="34" charset="-120"/>
              </a:rPr>
              <a:t>Segmentos contrato × internet · gris: % de clientes · naranja: % del MRR perdido</a:t>
            </a:r>
            <a:endParaRPr lang="en-US" sz="1100" dirty="0"/>
          </a:p>
        </p:txBody>
      </p:sp>
      <p:graphicFrame>
        <p:nvGraphicFramePr>
          <p:cNvPr id="7" name="Chart 0" descr=""/>
          <p:cNvGraphicFramePr/>
          <p:nvPr/>
        </p:nvGraphicFramePr>
        <p:xfrm>
          <a:off x="457200" y="1920240"/>
          <a:ext cx="7863840" cy="4023360"/>
        </p:xfrm>
        <a:graphic xmlns:a="http://schemas.openxmlformats.org/drawingml/2006/main">
          <a:graphicData uri="http://schemas.openxmlformats.org/drawingml/2006/chart">
            <c:chart xmlns:c="http://schemas.openxmlformats.org/drawingml/2006/chart" r:id="rId1"/>
          </a:graphicData>
        </a:graphic>
      </p:graphicFrame>
      <p:sp>
        <p:nvSpPr>
          <p:cNvPr id="8" name="Shape 4"/>
          <p:cNvSpPr/>
          <p:nvPr/>
        </p:nvSpPr>
        <p:spPr>
          <a:xfrm>
            <a:off x="8641080" y="1417320"/>
            <a:ext cx="2999232" cy="1371600"/>
          </a:xfrm>
          <a:prstGeom prst="roundRect">
            <a:avLst>
              <a:gd name="adj" fmla="val 5333"/>
            </a:avLst>
          </a:prstGeom>
          <a:solidFill>
            <a:srgbClr val="F3F5F8"/>
          </a:solidFill>
          <a:ln w="12700">
            <a:solidFill>
              <a:srgbClr val="F3F5F8"/>
            </a:solidFill>
            <a:prstDash val="solid"/>
          </a:ln>
        </p:spPr>
        <p:txBody>
          <a:bodyPr/>
          <a:p/>
        </p:txBody>
      </p:sp>
      <p:sp>
        <p:nvSpPr>
          <p:cNvPr id="9" name="Text 5"/>
          <p:cNvSpPr txBox="1"/>
          <p:nvPr/>
        </p:nvSpPr>
        <p:spPr>
          <a:xfrm>
            <a:off x="8823960" y="1545336"/>
            <a:ext cx="2633472" cy="658368"/>
          </a:xfrm>
          <a:prstGeom prst="rect">
            <a:avLst/>
          </a:prstGeom>
          <a:noFill/>
          <a:ln/>
        </p:spPr>
        <p:txBody>
          <a:bodyPr wrap="square" lIns="0" tIns="0" rIns="0" bIns="0" rtlCol="0" anchor="ctr"/>
          <a:lstStyle/>
          <a:p>
            <a:pPr indent="0" marL="0">
              <a:buNone/>
            </a:pPr>
            <a:r>
              <a:rPr lang="en-US" sz="3000" b="1" dirty="0">
                <a:solidFill>
                  <a:srgbClr val="EB6834"/>
                </a:solidFill>
                <a:latin typeface="Cambria" pitchFamily="34" charset="0"/>
                <a:ea typeface="Cambria" pitchFamily="34" charset="-122"/>
                <a:cs typeface="Cambria" pitchFamily="34" charset="-120"/>
              </a:rPr>
              <a:t>72 %</a:t>
            </a:r>
            <a:endParaRPr lang="en-US" sz="3000" dirty="0"/>
          </a:p>
        </p:txBody>
      </p:sp>
      <p:sp>
        <p:nvSpPr>
          <p:cNvPr id="10" name="Text 6"/>
          <p:cNvSpPr txBox="1"/>
          <p:nvPr/>
        </p:nvSpPr>
        <p:spPr>
          <a:xfrm>
            <a:off x="8823960" y="2203704"/>
            <a:ext cx="2633472" cy="493776"/>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del MRR perdido sale de mes a mes con fibra</a:t>
            </a:r>
            <a:endParaRPr lang="en-US" sz="1300" dirty="0"/>
          </a:p>
        </p:txBody>
      </p:sp>
      <p:sp>
        <p:nvSpPr>
          <p:cNvPr id="11" name="Shape 7"/>
          <p:cNvSpPr/>
          <p:nvPr/>
        </p:nvSpPr>
        <p:spPr>
          <a:xfrm>
            <a:off x="8641080" y="2926080"/>
            <a:ext cx="2999232" cy="1371600"/>
          </a:xfrm>
          <a:prstGeom prst="roundRect">
            <a:avLst>
              <a:gd name="adj" fmla="val 5333"/>
            </a:avLst>
          </a:prstGeom>
          <a:solidFill>
            <a:srgbClr val="F3F5F8"/>
          </a:solidFill>
          <a:ln w="12700">
            <a:solidFill>
              <a:srgbClr val="F3F5F8"/>
            </a:solidFill>
            <a:prstDash val="solid"/>
          </a:ln>
        </p:spPr>
        <p:txBody>
          <a:bodyPr/>
          <a:p/>
        </p:txBody>
      </p:sp>
      <p:sp>
        <p:nvSpPr>
          <p:cNvPr id="12" name="Text 8"/>
          <p:cNvSpPr txBox="1"/>
          <p:nvPr/>
        </p:nvSpPr>
        <p:spPr>
          <a:xfrm>
            <a:off x="8823960" y="3054096"/>
            <a:ext cx="2633472" cy="658368"/>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87 %</a:t>
            </a:r>
            <a:endParaRPr lang="en-US" sz="3000" dirty="0"/>
          </a:p>
        </p:txBody>
      </p:sp>
      <p:sp>
        <p:nvSpPr>
          <p:cNvPr id="13" name="Text 9"/>
          <p:cNvSpPr txBox="1"/>
          <p:nvPr/>
        </p:nvSpPr>
        <p:spPr>
          <a:xfrm>
            <a:off x="8823960" y="3712464"/>
            <a:ext cx="2633472" cy="493776"/>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del MRR perdido corresponde a contratos mes a mes</a:t>
            </a:r>
            <a:endParaRPr lang="en-US" sz="1300" dirty="0"/>
          </a:p>
        </p:txBody>
      </p:sp>
      <p:sp>
        <p:nvSpPr>
          <p:cNvPr id="14" name="Shape 10"/>
          <p:cNvSpPr/>
          <p:nvPr/>
        </p:nvSpPr>
        <p:spPr>
          <a:xfrm>
            <a:off x="8641080" y="4434840"/>
            <a:ext cx="2999232" cy="1463040"/>
          </a:xfrm>
          <a:prstGeom prst="roundRect">
            <a:avLst>
              <a:gd name="adj" fmla="val 5000"/>
            </a:avLst>
          </a:prstGeom>
          <a:solidFill>
            <a:srgbClr val="F3F5F8"/>
          </a:solidFill>
          <a:ln w="12700">
            <a:solidFill>
              <a:srgbClr val="F3F5F8"/>
            </a:solidFill>
            <a:prstDash val="solid"/>
          </a:ln>
        </p:spPr>
        <p:txBody>
          <a:bodyPr/>
          <a:p/>
        </p:txBody>
      </p:sp>
      <p:sp>
        <p:nvSpPr>
          <p:cNvPr id="15" name="Text 11"/>
          <p:cNvSpPr txBox="1"/>
          <p:nvPr/>
        </p:nvSpPr>
        <p:spPr>
          <a:xfrm>
            <a:off x="8823960" y="4562856"/>
            <a:ext cx="2633472" cy="702259"/>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54,6 %</a:t>
            </a:r>
            <a:endParaRPr lang="en-US" sz="3000" dirty="0"/>
          </a:p>
        </p:txBody>
      </p:sp>
      <p:sp>
        <p:nvSpPr>
          <p:cNvPr id="16" name="Text 12"/>
          <p:cNvSpPr txBox="1"/>
          <p:nvPr/>
        </p:nvSpPr>
        <p:spPr>
          <a:xfrm>
            <a:off x="8823960" y="5265115"/>
            <a:ext cx="2633472" cy="541325"/>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de churn en mes a mes con fibra (promedio 26,5 %)</a:t>
            </a:r>
            <a:endParaRPr lang="en-US" sz="1300" dirty="0"/>
          </a:p>
        </p:txBody>
      </p:sp>
      <p:sp>
        <p:nvSpPr>
          <p:cNvPr id="25" name="Slide Number Placeholder 0"/>
          <p:cNvSpPr>
            <a:spLocks noGrp="1"/>
          </p:cNvSpPr>
          <p:nvPr>
            <p:ph type="sldNum" sz="quarter" idx="4294967295"/>
          </p:nvPr>
        </p:nvSpPr>
        <p:spPr>
          <a:xfrm>
            <a:off x="11091672"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5B6573"/>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164592"/>
            <a:ext cx="11091672" cy="256032"/>
          </a:xfrm>
          <a:prstGeom prst="rect">
            <a:avLst/>
          </a:prstGeom>
          <a:noFill/>
          <a:ln/>
        </p:spPr>
        <p:txBody>
          <a:bodyPr wrap="square" lIns="0" tIns="0" rIns="0" bIns="0" rtlCol="0" anchor="ctr"/>
          <a:lstStyle/>
          <a:p>
            <a:pPr indent="0" marL="0">
              <a:buNone/>
            </a:pPr>
            <a:r>
              <a:rPr lang="en-US" sz="1100" b="1" spc="50" kern="0" dirty="0">
                <a:solidFill>
                  <a:srgbClr val="2A78D6"/>
                </a:solidFill>
                <a:latin typeface="Calibri" pitchFamily="34" charset="0"/>
                <a:ea typeface="Calibri" pitchFamily="34" charset="-122"/>
                <a:cs typeface="Calibri" pitchFamily="34" charset="-120"/>
              </a:rPr>
              <a:t>03 · ANÁLISIS DE DESEMPEÑO</a:t>
            </a:r>
            <a:pPr indent="0" marL="0">
              <a:buNone/>
            </a:pPr>
            <a:endParaRPr lang="en-US" sz="1100" dirty="0"/>
          </a:p>
        </p:txBody>
      </p:sp>
      <p:sp>
        <p:nvSpPr>
          <p:cNvPr id="3" name="Text 0"/>
          <p:cNvSpPr/>
          <p:nvPr>
            <p:ph idx="100" type="title" hasCustomPrompt="1"/>
          </p:nvPr>
        </p:nvSpPr>
        <p:spPr>
          <a:xfrm>
            <a:off x="548640" y="457200"/>
            <a:ext cx="11091672" cy="841248"/>
          </a:xfrm>
          <a:prstGeom prst="rect">
            <a:avLst/>
          </a:prstGeom>
          <a:noFill/>
          <a:ln/>
        </p:spPr>
        <p:txBody>
          <a:bodyPr wrap="square" lIns="0" tIns="0" rIns="0" bIns="0" rtlCol="0" anchor="t"/>
          <a:lstStyle/>
          <a:p>
            <a:pPr algn="l" indent="0" marL="0">
              <a:buNone/>
            </a:pPr>
            <a:r>
              <a:rPr lang="en-US" sz="2400" b="1" dirty="0">
                <a:solidFill>
                  <a:srgbClr val="13294B"/>
                </a:solidFill>
                <a:latin typeface="Cambria" pitchFamily="34" charset="0"/>
                <a:ea typeface="Cambria" pitchFamily="34" charset="-122"/>
                <a:cs typeface="Cambria" pitchFamily="34" charset="-120"/>
              </a:rPr>
              <a:t>Fibra, cheque electrónico y falta de protección casi duplican el churn promedio</a:t>
            </a:r>
            <a:endParaRPr lang="en-US" sz="2400" dirty="0"/>
          </a:p>
        </p:txBody>
      </p:sp>
      <p:sp>
        <p:nvSpPr>
          <p:cNvPr id="5" name="Shape 2"/>
          <p:cNvSpPr/>
          <p:nvPr/>
        </p:nvSpPr>
        <p:spPr>
          <a:xfrm>
            <a:off x="548640" y="1417320"/>
            <a:ext cx="3593592" cy="4434840"/>
          </a:xfrm>
          <a:prstGeom prst="roundRect">
            <a:avLst>
              <a:gd name="adj" fmla="val 2036"/>
            </a:avLst>
          </a:prstGeom>
          <a:solidFill>
            <a:srgbClr val="F3F5F8"/>
          </a:solidFill>
          <a:ln w="12700">
            <a:solidFill>
              <a:srgbClr val="F3F5F8"/>
            </a:solidFill>
            <a:prstDash val="solid"/>
          </a:ln>
        </p:spPr>
        <p:txBody>
          <a:bodyPr/>
          <a:p/>
        </p:txBody>
      </p:sp>
      <p:sp>
        <p:nvSpPr>
          <p:cNvPr id="6" name="Text 3"/>
          <p:cNvSpPr txBox="1"/>
          <p:nvPr/>
        </p:nvSpPr>
        <p:spPr>
          <a:xfrm>
            <a:off x="731520" y="1536192"/>
            <a:ext cx="3291840" cy="292608"/>
          </a:xfrm>
          <a:prstGeom prst="rect">
            <a:avLst/>
          </a:prstGeom>
          <a:noFill/>
          <a:ln/>
        </p:spPr>
        <p:txBody>
          <a:bodyPr wrap="square" lIns="0" tIns="0" rIns="0" bIns="0" rtlCol="0" anchor="ctr"/>
          <a:lstStyle/>
          <a:p>
            <a:pPr indent="0" marL="0">
              <a:buNone/>
            </a:pPr>
            <a:r>
              <a:rPr lang="en-US" sz="1400" b="1" dirty="0">
                <a:solidFill>
                  <a:srgbClr val="1B1F24"/>
                </a:solidFill>
                <a:latin typeface="Calibri" pitchFamily="34" charset="0"/>
                <a:ea typeface="Calibri" pitchFamily="34" charset="-122"/>
                <a:cs typeface="Calibri" pitchFamily="34" charset="-120"/>
              </a:rPr>
              <a:t>Servicio de internet</a:t>
            </a:r>
            <a:endParaRPr lang="en-US" sz="1400" dirty="0"/>
          </a:p>
        </p:txBody>
      </p:sp>
      <p:sp>
        <p:nvSpPr>
          <p:cNvPr id="7" name="Text 4"/>
          <p:cNvSpPr txBox="1"/>
          <p:nvPr/>
        </p:nvSpPr>
        <p:spPr>
          <a:xfrm>
            <a:off x="731520" y="1828800"/>
            <a:ext cx="3291840" cy="256032"/>
          </a:xfrm>
          <a:prstGeom prst="rect">
            <a:avLst/>
          </a:prstGeom>
          <a:noFill/>
          <a:ln/>
        </p:spPr>
        <p:txBody>
          <a:bodyPr wrap="square" lIns="0" tIns="0" rIns="0" bIns="0" rtlCol="0" anchor="ctr"/>
          <a:lstStyle/>
          <a:p>
            <a:pPr indent="0" marL="0">
              <a:buNone/>
            </a:pPr>
            <a:r>
              <a:rPr lang="en-US" sz="1100" dirty="0">
                <a:solidFill>
                  <a:srgbClr val="5B6573"/>
                </a:solidFill>
                <a:latin typeface="Calibri" pitchFamily="34" charset="0"/>
                <a:ea typeface="Calibri" pitchFamily="34" charset="-122"/>
                <a:cs typeface="Calibri" pitchFamily="34" charset="-120"/>
              </a:rPr>
              <a:t>Tasa de churn del período</a:t>
            </a:r>
            <a:endParaRPr lang="en-US" sz="1100" dirty="0"/>
          </a:p>
        </p:txBody>
      </p:sp>
      <p:graphicFrame>
        <p:nvGraphicFramePr>
          <p:cNvPr id="8" name="Chart 0" descr=""/>
          <p:cNvGraphicFramePr/>
          <p:nvPr/>
        </p:nvGraphicFramePr>
        <p:xfrm>
          <a:off x="594360" y="2148840"/>
          <a:ext cx="3474720" cy="3611880"/>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4297680" y="1417320"/>
            <a:ext cx="3593592" cy="4434840"/>
          </a:xfrm>
          <a:prstGeom prst="roundRect">
            <a:avLst>
              <a:gd name="adj" fmla="val 2036"/>
            </a:avLst>
          </a:prstGeom>
          <a:solidFill>
            <a:srgbClr val="F3F5F8"/>
          </a:solidFill>
          <a:ln w="12700">
            <a:solidFill>
              <a:srgbClr val="F3F5F8"/>
            </a:solidFill>
            <a:prstDash val="solid"/>
          </a:ln>
        </p:spPr>
        <p:txBody>
          <a:bodyPr/>
          <a:p/>
        </p:txBody>
      </p:sp>
      <p:sp>
        <p:nvSpPr>
          <p:cNvPr id="10" name="Text 6"/>
          <p:cNvSpPr txBox="1"/>
          <p:nvPr/>
        </p:nvSpPr>
        <p:spPr>
          <a:xfrm>
            <a:off x="4480560" y="1536192"/>
            <a:ext cx="3291840" cy="292608"/>
          </a:xfrm>
          <a:prstGeom prst="rect">
            <a:avLst/>
          </a:prstGeom>
          <a:noFill/>
          <a:ln/>
        </p:spPr>
        <p:txBody>
          <a:bodyPr wrap="square" lIns="0" tIns="0" rIns="0" bIns="0" rtlCol="0" anchor="ctr"/>
          <a:lstStyle/>
          <a:p>
            <a:pPr indent="0" marL="0">
              <a:buNone/>
            </a:pPr>
            <a:r>
              <a:rPr lang="en-US" sz="1400" b="1" dirty="0">
                <a:solidFill>
                  <a:srgbClr val="1B1F24"/>
                </a:solidFill>
                <a:latin typeface="Calibri" pitchFamily="34" charset="0"/>
                <a:ea typeface="Calibri" pitchFamily="34" charset="-122"/>
                <a:cs typeface="Calibri" pitchFamily="34" charset="-120"/>
              </a:rPr>
              <a:t>Método de pago</a:t>
            </a:r>
            <a:endParaRPr lang="en-US" sz="1400" dirty="0"/>
          </a:p>
        </p:txBody>
      </p:sp>
      <p:sp>
        <p:nvSpPr>
          <p:cNvPr id="11" name="Text 7"/>
          <p:cNvSpPr txBox="1"/>
          <p:nvPr/>
        </p:nvSpPr>
        <p:spPr>
          <a:xfrm>
            <a:off x="4480560" y="1828800"/>
            <a:ext cx="3291840" cy="256032"/>
          </a:xfrm>
          <a:prstGeom prst="rect">
            <a:avLst/>
          </a:prstGeom>
          <a:noFill/>
          <a:ln/>
        </p:spPr>
        <p:txBody>
          <a:bodyPr wrap="square" lIns="0" tIns="0" rIns="0" bIns="0" rtlCol="0" anchor="ctr"/>
          <a:lstStyle/>
          <a:p>
            <a:pPr indent="0" marL="0">
              <a:buNone/>
            </a:pPr>
            <a:r>
              <a:rPr lang="en-US" sz="1100" dirty="0">
                <a:solidFill>
                  <a:srgbClr val="5B6573"/>
                </a:solidFill>
                <a:latin typeface="Calibri" pitchFamily="34" charset="0"/>
                <a:ea typeface="Calibri" pitchFamily="34" charset="-122"/>
                <a:cs typeface="Calibri" pitchFamily="34" charset="-120"/>
              </a:rPr>
              <a:t>Tasa de churn del período</a:t>
            </a:r>
            <a:endParaRPr lang="en-US" sz="1100" dirty="0"/>
          </a:p>
        </p:txBody>
      </p:sp>
      <p:graphicFrame>
        <p:nvGraphicFramePr>
          <p:cNvPr id="12" name="Chart 1" descr=""/>
          <p:cNvGraphicFramePr/>
          <p:nvPr/>
        </p:nvGraphicFramePr>
        <p:xfrm>
          <a:off x="4343400" y="2148840"/>
          <a:ext cx="3474720" cy="3611880"/>
        </p:xfrm>
        <a:graphic xmlns:a="http://schemas.openxmlformats.org/drawingml/2006/main">
          <a:graphicData uri="http://schemas.openxmlformats.org/drawingml/2006/chart">
            <c:chart xmlns:c="http://schemas.openxmlformats.org/drawingml/2006/chart" r:id="rId2"/>
          </a:graphicData>
        </a:graphic>
      </p:graphicFrame>
      <p:sp>
        <p:nvSpPr>
          <p:cNvPr id="13" name="Shape 8"/>
          <p:cNvSpPr/>
          <p:nvPr/>
        </p:nvSpPr>
        <p:spPr>
          <a:xfrm>
            <a:off x="8046720" y="1417320"/>
            <a:ext cx="3593592" cy="4434840"/>
          </a:xfrm>
          <a:prstGeom prst="roundRect">
            <a:avLst>
              <a:gd name="adj" fmla="val 2036"/>
            </a:avLst>
          </a:prstGeom>
          <a:solidFill>
            <a:srgbClr val="F3F5F8"/>
          </a:solidFill>
          <a:ln w="12700">
            <a:solidFill>
              <a:srgbClr val="F3F5F8"/>
            </a:solidFill>
            <a:prstDash val="solid"/>
          </a:ln>
        </p:spPr>
        <p:txBody>
          <a:bodyPr/>
          <a:p/>
        </p:txBody>
      </p:sp>
      <p:sp>
        <p:nvSpPr>
          <p:cNvPr id="14" name="Text 9"/>
          <p:cNvSpPr txBox="1"/>
          <p:nvPr/>
        </p:nvSpPr>
        <p:spPr>
          <a:xfrm>
            <a:off x="8229600" y="1536192"/>
            <a:ext cx="3291840" cy="292608"/>
          </a:xfrm>
          <a:prstGeom prst="rect">
            <a:avLst/>
          </a:prstGeom>
          <a:noFill/>
          <a:ln/>
        </p:spPr>
        <p:txBody>
          <a:bodyPr wrap="square" lIns="0" tIns="0" rIns="0" bIns="0" rtlCol="0" anchor="ctr"/>
          <a:lstStyle/>
          <a:p>
            <a:pPr indent="0" marL="0">
              <a:buNone/>
            </a:pPr>
            <a:r>
              <a:rPr lang="en-US" sz="1400" b="1" dirty="0">
                <a:solidFill>
                  <a:srgbClr val="1B1F24"/>
                </a:solidFill>
                <a:latin typeface="Calibri" pitchFamily="34" charset="0"/>
                <a:ea typeface="Calibri" pitchFamily="34" charset="-122"/>
                <a:cs typeface="Calibri" pitchFamily="34" charset="-120"/>
              </a:rPr>
              <a:t>Protección (clientes con internet)</a:t>
            </a:r>
            <a:endParaRPr lang="en-US" sz="1400" dirty="0"/>
          </a:p>
        </p:txBody>
      </p:sp>
      <p:sp>
        <p:nvSpPr>
          <p:cNvPr id="15" name="Text 10"/>
          <p:cNvSpPr txBox="1"/>
          <p:nvPr/>
        </p:nvSpPr>
        <p:spPr>
          <a:xfrm>
            <a:off x="8229600" y="1828800"/>
            <a:ext cx="3291840" cy="256032"/>
          </a:xfrm>
          <a:prstGeom prst="rect">
            <a:avLst/>
          </a:prstGeom>
          <a:noFill/>
          <a:ln/>
        </p:spPr>
        <p:txBody>
          <a:bodyPr wrap="square" lIns="0" tIns="0" rIns="0" bIns="0" rtlCol="0" anchor="ctr"/>
          <a:lstStyle/>
          <a:p>
            <a:pPr indent="0" marL="0">
              <a:buNone/>
            </a:pPr>
            <a:r>
              <a:rPr lang="en-US" sz="1100" dirty="0">
                <a:solidFill>
                  <a:srgbClr val="5B6573"/>
                </a:solidFill>
                <a:latin typeface="Calibri" pitchFamily="34" charset="0"/>
                <a:ea typeface="Calibri" pitchFamily="34" charset="-122"/>
                <a:cs typeface="Calibri" pitchFamily="34" charset="-120"/>
              </a:rPr>
              <a:t>Tasa de churn del período</a:t>
            </a:r>
            <a:endParaRPr lang="en-US" sz="1100" dirty="0"/>
          </a:p>
        </p:txBody>
      </p:sp>
      <p:graphicFrame>
        <p:nvGraphicFramePr>
          <p:cNvPr id="16" name="Chart 2" descr=""/>
          <p:cNvGraphicFramePr/>
          <p:nvPr/>
        </p:nvGraphicFramePr>
        <p:xfrm>
          <a:off x="8092440" y="2148840"/>
          <a:ext cx="3474720" cy="3611880"/>
        </p:xfrm>
        <a:graphic xmlns:a="http://schemas.openxmlformats.org/drawingml/2006/main">
          <a:graphicData uri="http://schemas.openxmlformats.org/drawingml/2006/chart">
            <c:chart xmlns:c="http://schemas.openxmlformats.org/drawingml/2006/chart" r:id="rId3"/>
          </a:graphicData>
        </a:graphic>
      </p:graphicFrame>
      <p:sp>
        <p:nvSpPr>
          <p:cNvPr id="17" name="Text 11"/>
          <p:cNvSpPr txBox="1"/>
          <p:nvPr/>
        </p:nvSpPr>
        <p:spPr>
          <a:xfrm>
            <a:off x="548640" y="6053328"/>
            <a:ext cx="11091672" cy="310896"/>
          </a:xfrm>
          <a:prstGeom prst="rect">
            <a:avLst/>
          </a:prstGeom>
          <a:noFill/>
          <a:ln/>
        </p:spPr>
        <p:txBody>
          <a:bodyPr wrap="square" lIns="0" tIns="0" rIns="0" bIns="0" rtlCol="0" anchor="t"/>
          <a:lstStyle/>
          <a:p>
            <a:pPr indent="0" marL="0">
              <a:buNone/>
            </a:pPr>
            <a:r>
              <a:rPr lang="en-US" sz="1100" i="1" dirty="0">
                <a:solidFill>
                  <a:srgbClr val="5B6573"/>
                </a:solidFill>
                <a:latin typeface="Calibri" pitchFamily="34" charset="0"/>
                <a:ea typeface="Calibri" pitchFamily="34" charset="-122"/>
                <a:cs typeface="Calibri" pitchFamily="34" charset="-120"/>
              </a:rPr>
              <a:t>Naranja: por encima del churn promedio del corte (26,5 %). Intervalos de Wilson al 95 % estrechos en todos los grupos (n &gt; 1.500). *Solo clientes con internet.</a:t>
            </a:r>
            <a:endParaRPr lang="en-US" sz="1100" dirty="0"/>
          </a:p>
        </p:txBody>
      </p:sp>
      <p:sp>
        <p:nvSpPr>
          <p:cNvPr id="25" name="Slide Number Placeholder 0"/>
          <p:cNvSpPr>
            <a:spLocks noGrp="1"/>
          </p:cNvSpPr>
          <p:nvPr>
            <p:ph type="sldNum" sz="quarter" idx="4294967295"/>
          </p:nvPr>
        </p:nvSpPr>
        <p:spPr>
          <a:xfrm>
            <a:off x="11091672"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5B6573"/>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164592"/>
            <a:ext cx="11091672" cy="256032"/>
          </a:xfrm>
          <a:prstGeom prst="rect">
            <a:avLst/>
          </a:prstGeom>
          <a:noFill/>
          <a:ln/>
        </p:spPr>
        <p:txBody>
          <a:bodyPr wrap="square" lIns="0" tIns="0" rIns="0" bIns="0" rtlCol="0" anchor="ctr"/>
          <a:lstStyle/>
          <a:p>
            <a:pPr indent="0" marL="0">
              <a:buNone/>
            </a:pPr>
            <a:r>
              <a:rPr lang="en-US" sz="1100" b="1" spc="50" kern="0" dirty="0">
                <a:solidFill>
                  <a:srgbClr val="2A78D6"/>
                </a:solidFill>
                <a:latin typeface="Calibri" pitchFamily="34" charset="0"/>
                <a:ea typeface="Calibri" pitchFamily="34" charset="-122"/>
                <a:cs typeface="Calibri" pitchFamily="34" charset="-120"/>
              </a:rPr>
              <a:t>03 · ANÁLISIS DE DESEMPEÑO</a:t>
            </a:r>
            <a:pPr indent="0" marL="0">
              <a:buNone/>
            </a:pPr>
            <a:endParaRPr lang="en-US" sz="1100" dirty="0"/>
          </a:p>
        </p:txBody>
      </p:sp>
      <p:sp>
        <p:nvSpPr>
          <p:cNvPr id="3" name="Text 0"/>
          <p:cNvSpPr/>
          <p:nvPr>
            <p:ph idx="100" type="title" hasCustomPrompt="1"/>
          </p:nvPr>
        </p:nvSpPr>
        <p:spPr>
          <a:xfrm>
            <a:off x="548640" y="457200"/>
            <a:ext cx="11091672" cy="841248"/>
          </a:xfrm>
          <a:prstGeom prst="rect">
            <a:avLst/>
          </a:prstGeom>
          <a:noFill/>
          <a:ln/>
        </p:spPr>
        <p:txBody>
          <a:bodyPr wrap="square" lIns="0" tIns="0" rIns="0" bIns="0" rtlCol="0" anchor="t"/>
          <a:lstStyle/>
          <a:p>
            <a:pPr algn="l" indent="0" marL="0">
              <a:buNone/>
            </a:pPr>
            <a:r>
              <a:rPr lang="en-US" sz="2400" b="1" dirty="0">
                <a:solidFill>
                  <a:srgbClr val="13294B"/>
                </a:solidFill>
                <a:latin typeface="Cambria" pitchFamily="34" charset="0"/>
                <a:ea typeface="Cambria" pitchFamily="34" charset="-122"/>
                <a:cs typeface="Cambria" pitchFamily="34" charset="-120"/>
              </a:rPr>
              <a:t>Ajustando todos los factores a la vez, los drivers se mantienen: antigüedad, contrato, fibra y pago</a:t>
            </a:r>
            <a:endParaRPr lang="en-US" sz="2400" dirty="0"/>
          </a:p>
        </p:txBody>
      </p:sp>
      <p:sp>
        <p:nvSpPr>
          <p:cNvPr id="5" name="Text 2"/>
          <p:cNvSpPr txBox="1"/>
          <p:nvPr/>
        </p:nvSpPr>
        <p:spPr>
          <a:xfrm>
            <a:off x="548640" y="1371600"/>
            <a:ext cx="6949440" cy="292608"/>
          </a:xfrm>
          <a:prstGeom prst="rect">
            <a:avLst/>
          </a:prstGeom>
          <a:noFill/>
          <a:ln/>
        </p:spPr>
        <p:txBody>
          <a:bodyPr wrap="square" lIns="0" tIns="0" rIns="0" bIns="0" rtlCol="0" anchor="ctr"/>
          <a:lstStyle/>
          <a:p>
            <a:pPr indent="0" marL="0">
              <a:buNone/>
            </a:pPr>
            <a:r>
              <a:rPr lang="en-US" sz="1400" b="1" dirty="0">
                <a:solidFill>
                  <a:srgbClr val="1B1F24"/>
                </a:solidFill>
                <a:latin typeface="Calibri" pitchFamily="34" charset="0"/>
                <a:ea typeface="Calibri" pitchFamily="34" charset="-122"/>
                <a:cs typeface="Calibri" pitchFamily="34" charset="-120"/>
              </a:rPr>
              <a:t>Odds ratios del modelo logístico (factores significativos, p &lt; 0,05)</a:t>
            </a:r>
            <a:endParaRPr lang="en-US" sz="1400" dirty="0"/>
          </a:p>
        </p:txBody>
      </p:sp>
      <p:sp>
        <p:nvSpPr>
          <p:cNvPr id="6" name="Text 3"/>
          <p:cNvSpPr txBox="1"/>
          <p:nvPr/>
        </p:nvSpPr>
        <p:spPr>
          <a:xfrm>
            <a:off x="548640" y="1664208"/>
            <a:ext cx="6949440" cy="256032"/>
          </a:xfrm>
          <a:prstGeom prst="rect">
            <a:avLst/>
          </a:prstGeom>
          <a:noFill/>
          <a:ln/>
        </p:spPr>
        <p:txBody>
          <a:bodyPr wrap="square" lIns="0" tIns="0" rIns="0" bIns="0" rtlCol="0" anchor="ctr"/>
          <a:lstStyle/>
          <a:p>
            <a:pPr indent="0" marL="0">
              <a:buNone/>
            </a:pPr>
            <a:r>
              <a:rPr lang="en-US" sz="1100" dirty="0">
                <a:solidFill>
                  <a:srgbClr val="5B6573"/>
                </a:solidFill>
                <a:latin typeface="Calibri" pitchFamily="34" charset="0"/>
                <a:ea typeface="Calibri" pitchFamily="34" charset="-122"/>
                <a:cs typeface="Calibri" pitchFamily="34" charset="-120"/>
              </a:rPr>
              <a:t>Naranja: aumenta el riesgo (OR &gt; 1) · azul: lo reduce (OR &lt; 1)</a:t>
            </a:r>
            <a:endParaRPr lang="en-US" sz="1100" dirty="0"/>
          </a:p>
        </p:txBody>
      </p:sp>
      <p:graphicFrame>
        <p:nvGraphicFramePr>
          <p:cNvPr id="7" name="Chart 0" descr=""/>
          <p:cNvGraphicFramePr/>
          <p:nvPr/>
        </p:nvGraphicFramePr>
        <p:xfrm>
          <a:off x="457200" y="1920240"/>
          <a:ext cx="7040880" cy="4069080"/>
        </p:xfrm>
        <a:graphic xmlns:a="http://schemas.openxmlformats.org/drawingml/2006/main">
          <a:graphicData uri="http://schemas.openxmlformats.org/drawingml/2006/chart">
            <c:chart xmlns:c="http://schemas.openxmlformats.org/drawingml/2006/chart" r:id="rId1"/>
          </a:graphicData>
        </a:graphic>
      </p:graphicFrame>
      <p:sp>
        <p:nvSpPr>
          <p:cNvPr id="8" name="Shape 4"/>
          <p:cNvSpPr/>
          <p:nvPr/>
        </p:nvSpPr>
        <p:spPr>
          <a:xfrm>
            <a:off x="7818120" y="1417320"/>
            <a:ext cx="3822192" cy="4526280"/>
          </a:xfrm>
          <a:prstGeom prst="roundRect">
            <a:avLst>
              <a:gd name="adj" fmla="val 1914"/>
            </a:avLst>
          </a:prstGeom>
          <a:solidFill>
            <a:srgbClr val="EEF4FC"/>
          </a:solidFill>
          <a:ln w="12700">
            <a:solidFill>
              <a:srgbClr val="EEF4FC"/>
            </a:solidFill>
            <a:prstDash val="solid"/>
          </a:ln>
        </p:spPr>
        <p:txBody>
          <a:bodyPr/>
          <a:p/>
        </p:txBody>
      </p:sp>
      <p:sp>
        <p:nvSpPr>
          <p:cNvPr id="9" name="Text 5"/>
          <p:cNvSpPr txBox="1"/>
          <p:nvPr/>
        </p:nvSpPr>
        <p:spPr>
          <a:xfrm>
            <a:off x="8046720" y="1572768"/>
            <a:ext cx="3474720" cy="310896"/>
          </a:xfrm>
          <a:prstGeom prst="rect">
            <a:avLst/>
          </a:prstGeom>
          <a:noFill/>
          <a:ln/>
        </p:spPr>
        <p:txBody>
          <a:bodyPr wrap="square" lIns="0" tIns="0" rIns="0" bIns="0" rtlCol="0" anchor="t"/>
          <a:lstStyle/>
          <a:p>
            <a:pPr indent="0" marL="0">
              <a:buNone/>
            </a:pPr>
            <a:r>
              <a:rPr lang="en-US" sz="1500" b="1" dirty="0">
                <a:solidFill>
                  <a:srgbClr val="13294B"/>
                </a:solidFill>
                <a:latin typeface="Calibri" pitchFamily="34" charset="0"/>
                <a:ea typeface="Calibri" pitchFamily="34" charset="-122"/>
                <a:cs typeface="Calibri" pitchFamily="34" charset="-120"/>
              </a:rPr>
              <a:t>Lectura de los drivers</a:t>
            </a:r>
            <a:endParaRPr lang="en-US" sz="1500" dirty="0"/>
          </a:p>
        </p:txBody>
      </p:sp>
      <p:sp>
        <p:nvSpPr>
          <p:cNvPr id="10" name="Text 6"/>
          <p:cNvSpPr txBox="1"/>
          <p:nvPr/>
        </p:nvSpPr>
        <p:spPr>
          <a:xfrm>
            <a:off x="8046720" y="1965960"/>
            <a:ext cx="3429000" cy="3931920"/>
          </a:xfrm>
          <a:prstGeom prst="rect">
            <a:avLst/>
          </a:prstGeom>
          <a:noFill/>
          <a:ln/>
        </p:spPr>
        <p:txBody>
          <a:bodyPr wrap="square" lIns="0" tIns="0" rIns="0" bIns="0" rtlCol="0" anchor="t"/>
          <a:lstStyle/>
          <a:p>
            <a:pPr marL="177800" indent="-177800">
              <a:spcAft>
                <a:spcPts val="600"/>
              </a:spcAft>
              <a:buSzPct val="100000"/>
              <a:buChar char="•"/>
            </a:pPr>
            <a:r>
              <a:rPr lang="en-US" sz="1350" b="1" dirty="0">
                <a:solidFill>
                  <a:srgbClr val="13294B"/>
                </a:solidFill>
                <a:latin typeface="Calibri" pitchFamily="34" charset="0"/>
                <a:ea typeface="Calibri" pitchFamily="34" charset="-122"/>
                <a:cs typeface="Calibri" pitchFamily="34" charset="-120"/>
              </a:rPr>
              <a:t>Antigüedad 0–6 m: </a:t>
            </a:r>
            <a:pPr indent="0" marL="0">
              <a:spcAft>
                <a:spcPts val="600"/>
              </a:spcAft>
              <a:buNone/>
            </a:pPr>
            <a:r>
              <a:rPr lang="en-US" sz="1350" dirty="0">
                <a:solidFill>
                  <a:srgbClr val="1B1F24"/>
                </a:solidFill>
                <a:latin typeface="Calibri" pitchFamily="34" charset="0"/>
                <a:ea typeface="Calibri" pitchFamily="34" charset="-122"/>
                <a:cs typeface="Calibri" pitchFamily="34" charset="-120"/>
              </a:rPr>
              <a:t>OR 6,9 frente a 49–72 m.</a:t>
            </a:r>
            <a:endParaRPr lang="en-US" sz="1350" dirty="0"/>
          </a:p>
          <a:p>
            <a:pPr marL="177800" indent="-177800">
              <a:spcAft>
                <a:spcPts val="600"/>
              </a:spcAft>
              <a:buSzPct val="100000"/>
              <a:buChar char="•"/>
            </a:pPr>
            <a:r>
              <a:rPr lang="en-US" sz="1350" b="1" dirty="0">
                <a:solidFill>
                  <a:srgbClr val="13294B"/>
                </a:solidFill>
                <a:latin typeface="Calibri" pitchFamily="34" charset="0"/>
                <a:ea typeface="Calibri" pitchFamily="34" charset="-122"/>
                <a:cs typeface="Calibri" pitchFamily="34" charset="-120"/>
              </a:rPr>
              <a:t>Contrato: </a:t>
            </a:r>
            <a:pPr indent="0" marL="0">
              <a:spcAft>
                <a:spcPts val="600"/>
              </a:spcAft>
              <a:buNone/>
            </a:pPr>
            <a:r>
              <a:rPr lang="en-US" sz="1350" dirty="0">
                <a:solidFill>
                  <a:srgbClr val="1B1F24"/>
                </a:solidFill>
                <a:latin typeface="Calibri" pitchFamily="34" charset="0"/>
                <a:ea typeface="Calibri" pitchFamily="34" charset="-122"/>
                <a:cs typeface="Calibri" pitchFamily="34" charset="-120"/>
              </a:rPr>
              <a:t>dos años OR 0,18; un año OR 0,47.</a:t>
            </a:r>
            <a:endParaRPr lang="en-US" sz="1350" dirty="0"/>
          </a:p>
          <a:p>
            <a:pPr marL="177800" indent="-177800">
              <a:spcAft>
                <a:spcPts val="600"/>
              </a:spcAft>
              <a:buSzPct val="100000"/>
              <a:buChar char="•"/>
            </a:pPr>
            <a:r>
              <a:rPr lang="en-US" sz="1350" b="1" dirty="0">
                <a:solidFill>
                  <a:srgbClr val="13294B"/>
                </a:solidFill>
                <a:latin typeface="Calibri" pitchFamily="34" charset="0"/>
                <a:ea typeface="Calibri" pitchFamily="34" charset="-122"/>
                <a:cs typeface="Calibri" pitchFamily="34" charset="-120"/>
              </a:rPr>
              <a:t>Fibra: </a:t>
            </a:r>
            <a:pPr indent="0" marL="0">
              <a:spcAft>
                <a:spcPts val="600"/>
              </a:spcAft>
              <a:buNone/>
            </a:pPr>
            <a:r>
              <a:rPr lang="en-US" sz="1350" dirty="0">
                <a:solidFill>
                  <a:srgbClr val="1B1F24"/>
                </a:solidFill>
                <a:latin typeface="Calibri" pitchFamily="34" charset="0"/>
                <a:ea typeface="Calibri" pitchFamily="34" charset="-122"/>
                <a:cs typeface="Calibri" pitchFamily="34" charset="-120"/>
              </a:rPr>
              <a:t>OR 2,1 aun ajustada (alternativa D).</a:t>
            </a:r>
            <a:endParaRPr lang="en-US" sz="1350" dirty="0"/>
          </a:p>
          <a:p>
            <a:pPr marL="177800" indent="-177800">
              <a:spcAft>
                <a:spcPts val="600"/>
              </a:spcAft>
              <a:buSzPct val="100000"/>
              <a:buChar char="•"/>
            </a:pPr>
            <a:r>
              <a:rPr lang="en-US" sz="1350" b="1" dirty="0">
                <a:solidFill>
                  <a:srgbClr val="13294B"/>
                </a:solidFill>
                <a:latin typeface="Calibri" pitchFamily="34" charset="0"/>
                <a:ea typeface="Calibri" pitchFamily="34" charset="-122"/>
                <a:cs typeface="Calibri" pitchFamily="34" charset="-120"/>
              </a:rPr>
              <a:t>Pago: </a:t>
            </a:r>
            <a:pPr indent="0" marL="0">
              <a:spcAft>
                <a:spcPts val="600"/>
              </a:spcAft>
              <a:buNone/>
            </a:pPr>
            <a:r>
              <a:rPr lang="en-US" sz="1350" dirty="0">
                <a:solidFill>
                  <a:srgbClr val="1B1F24"/>
                </a:solidFill>
                <a:latin typeface="Calibri" pitchFamily="34" charset="0"/>
                <a:ea typeface="Calibri" pitchFamily="34" charset="-122"/>
                <a:cs typeface="Calibri" pitchFamily="34" charset="-120"/>
              </a:rPr>
              <a:t>cheque electrónico y factura electrónica OR 1,4.</a:t>
            </a:r>
            <a:endParaRPr lang="en-US" sz="1350" dirty="0"/>
          </a:p>
          <a:p>
            <a:pPr marL="177800" indent="-177800">
              <a:spcAft>
                <a:spcPts val="600"/>
              </a:spcAft>
              <a:buSzPct val="100000"/>
              <a:buChar char="•"/>
            </a:pPr>
            <a:r>
              <a:rPr lang="en-US" sz="1350" b="1" dirty="0">
                <a:solidFill>
                  <a:srgbClr val="13294B"/>
                </a:solidFill>
                <a:latin typeface="Calibri" pitchFamily="34" charset="0"/>
                <a:ea typeface="Calibri" pitchFamily="34" charset="-122"/>
                <a:cs typeface="Calibri" pitchFamily="34" charset="-120"/>
              </a:rPr>
              <a:t>Protección: </a:t>
            </a:r>
            <a:pPr indent="0" marL="0">
              <a:spcAft>
                <a:spcPts val="600"/>
              </a:spcAft>
              <a:buNone/>
            </a:pPr>
            <a:r>
              <a:rPr lang="en-US" sz="1350" dirty="0">
                <a:solidFill>
                  <a:srgbClr val="1B1F24"/>
                </a:solidFill>
                <a:latin typeface="Calibri" pitchFamily="34" charset="0"/>
                <a:ea typeface="Calibri" pitchFamily="34" charset="-122"/>
                <a:cs typeface="Calibri" pitchFamily="34" charset="-120"/>
              </a:rPr>
              <a:t>seguridad OR 0,70 y soporte OR 0,72.</a:t>
            </a:r>
            <a:endParaRPr lang="en-US" sz="1350" dirty="0"/>
          </a:p>
          <a:p>
            <a:pPr marL="177800" indent="-177800">
              <a:spcAft>
                <a:spcPts val="600"/>
              </a:spcAft>
              <a:buSzPct val="100000"/>
              <a:buChar char="•"/>
            </a:pPr>
            <a:r>
              <a:rPr lang="en-US" sz="1350" b="1" dirty="0">
                <a:solidFill>
                  <a:srgbClr val="13294B"/>
                </a:solidFill>
                <a:latin typeface="Calibri" pitchFamily="34" charset="0"/>
                <a:ea typeface="Calibri" pitchFamily="34" charset="-122"/>
                <a:cs typeface="Calibri" pitchFamily="34" charset="-120"/>
              </a:rPr>
              <a:t>Score: </a:t>
            </a:r>
            <a:pPr indent="0" marL="0">
              <a:spcAft>
                <a:spcPts val="600"/>
              </a:spcAft>
              <a:buNone/>
            </a:pPr>
            <a:r>
              <a:rPr lang="en-US" sz="1350" dirty="0">
                <a:solidFill>
                  <a:srgbClr val="1B1F24"/>
                </a:solidFill>
                <a:latin typeface="Calibri" pitchFamily="34" charset="0"/>
                <a:ea typeface="Calibri" pitchFamily="34" charset="-122"/>
                <a:cs typeface="Calibri" pitchFamily="34" charset="-120"/>
              </a:rPr>
              <a:t>AUC fuera de muestra 0,85; sirve para ordenar.</a:t>
            </a:r>
            <a:endParaRPr lang="en-US" sz="1350" dirty="0"/>
          </a:p>
        </p:txBody>
      </p:sp>
      <p:sp>
        <p:nvSpPr>
          <p:cNvPr id="11" name="Text 7"/>
          <p:cNvSpPr txBox="1"/>
          <p:nvPr/>
        </p:nvSpPr>
        <p:spPr>
          <a:xfrm>
            <a:off x="548640" y="6053328"/>
            <a:ext cx="11091672" cy="310896"/>
          </a:xfrm>
          <a:prstGeom prst="rect">
            <a:avLst/>
          </a:prstGeom>
          <a:noFill/>
          <a:ln/>
        </p:spPr>
        <p:txBody>
          <a:bodyPr wrap="square" lIns="0" tIns="0" rIns="0" bIns="0" rtlCol="0" anchor="t"/>
          <a:lstStyle/>
          <a:p>
            <a:pPr indent="0" marL="0">
              <a:buNone/>
            </a:pPr>
            <a:r>
              <a:rPr lang="en-US" sz="1100" i="1" dirty="0">
                <a:solidFill>
                  <a:srgbClr val="5B6573"/>
                </a:solidFill>
                <a:latin typeface="Calibri" pitchFamily="34" charset="0"/>
                <a:ea typeface="Calibri" pitchFamily="34" charset="-122"/>
                <a:cs typeface="Calibri" pitchFamily="34" charset="-120"/>
              </a:rPr>
              <a:t>Asociaciones ajustadas, no efectos causales: el efecto real de cada palanca se medirá con el piloto A/B.</a:t>
            </a:r>
            <a:endParaRPr lang="en-US" sz="1100" dirty="0"/>
          </a:p>
        </p:txBody>
      </p:sp>
      <p:sp>
        <p:nvSpPr>
          <p:cNvPr id="25" name="Slide Number Placeholder 0"/>
          <p:cNvSpPr>
            <a:spLocks noGrp="1"/>
          </p:cNvSpPr>
          <p:nvPr>
            <p:ph type="sldNum" sz="quarter" idx="4294967295"/>
          </p:nvPr>
        </p:nvSpPr>
        <p:spPr>
          <a:xfrm>
            <a:off x="11091672"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5B6573"/>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164592"/>
            <a:ext cx="11091672" cy="256032"/>
          </a:xfrm>
          <a:prstGeom prst="rect">
            <a:avLst/>
          </a:prstGeom>
          <a:noFill/>
          <a:ln/>
        </p:spPr>
        <p:txBody>
          <a:bodyPr wrap="square" lIns="0" tIns="0" rIns="0" bIns="0" rtlCol="0" anchor="ctr"/>
          <a:lstStyle/>
          <a:p>
            <a:pPr indent="0" marL="0">
              <a:buNone/>
            </a:pPr>
            <a:r>
              <a:rPr lang="en-US" sz="1100" b="1" spc="50" kern="0" dirty="0">
                <a:solidFill>
                  <a:srgbClr val="2A78D6"/>
                </a:solidFill>
                <a:latin typeface="Calibri" pitchFamily="34" charset="0"/>
                <a:ea typeface="Calibri" pitchFamily="34" charset="-122"/>
                <a:cs typeface="Calibri" pitchFamily="34" charset="-120"/>
              </a:rPr>
              <a:t>03 · ANÁLISIS DE DESEMPEÑO</a:t>
            </a:r>
            <a:pPr indent="0" marL="0">
              <a:buNone/>
            </a:pPr>
            <a:endParaRPr lang="en-US" sz="1100" dirty="0"/>
          </a:p>
        </p:txBody>
      </p:sp>
      <p:sp>
        <p:nvSpPr>
          <p:cNvPr id="3" name="Text 0"/>
          <p:cNvSpPr/>
          <p:nvPr>
            <p:ph idx="100" type="title" hasCustomPrompt="1"/>
          </p:nvPr>
        </p:nvSpPr>
        <p:spPr>
          <a:xfrm>
            <a:off x="548640" y="457200"/>
            <a:ext cx="11091672" cy="841248"/>
          </a:xfrm>
          <a:prstGeom prst="rect">
            <a:avLst/>
          </a:prstGeom>
          <a:noFill/>
          <a:ln/>
        </p:spPr>
        <p:txBody>
          <a:bodyPr wrap="square" lIns="0" tIns="0" rIns="0" bIns="0" rtlCol="0" anchor="t"/>
          <a:lstStyle/>
          <a:p>
            <a:pPr algn="l" indent="0" marL="0">
              <a:buNone/>
            </a:pPr>
            <a:r>
              <a:rPr lang="en-US" sz="2400" b="1" dirty="0">
                <a:solidFill>
                  <a:srgbClr val="13294B"/>
                </a:solidFill>
                <a:latin typeface="Cambria" pitchFamily="34" charset="0"/>
                <a:ea typeface="Cambria" pitchFamily="34" charset="-122"/>
                <a:cs typeface="Cambria" pitchFamily="34" charset="-120"/>
              </a:rPr>
              <a:t>820 clientes de riesgo alto concentran el 53 % del MRR en riesgo esperado</a:t>
            </a:r>
            <a:endParaRPr lang="en-US" sz="2400" dirty="0"/>
          </a:p>
        </p:txBody>
      </p:sp>
      <p:sp>
        <p:nvSpPr>
          <p:cNvPr id="5" name="Text 2"/>
          <p:cNvSpPr txBox="1"/>
          <p:nvPr/>
        </p:nvSpPr>
        <p:spPr>
          <a:xfrm>
            <a:off x="548640" y="1371600"/>
            <a:ext cx="5120640" cy="292608"/>
          </a:xfrm>
          <a:prstGeom prst="rect">
            <a:avLst/>
          </a:prstGeom>
          <a:noFill/>
          <a:ln/>
        </p:spPr>
        <p:txBody>
          <a:bodyPr wrap="square" lIns="0" tIns="0" rIns="0" bIns="0" rtlCol="0" anchor="ctr"/>
          <a:lstStyle/>
          <a:p>
            <a:pPr indent="0" marL="0">
              <a:buNone/>
            </a:pPr>
            <a:r>
              <a:rPr lang="en-US" sz="1400" b="1" dirty="0">
                <a:solidFill>
                  <a:srgbClr val="1B1F24"/>
                </a:solidFill>
                <a:latin typeface="Calibri" pitchFamily="34" charset="0"/>
                <a:ea typeface="Calibri" pitchFamily="34" charset="-122"/>
                <a:cs typeface="Calibri" pitchFamily="34" charset="-120"/>
              </a:rPr>
              <a:t>Participación por nivel de riesgo</a:t>
            </a:r>
            <a:endParaRPr lang="en-US" sz="1400" dirty="0"/>
          </a:p>
        </p:txBody>
      </p:sp>
      <p:sp>
        <p:nvSpPr>
          <p:cNvPr id="6" name="Text 3"/>
          <p:cNvSpPr txBox="1"/>
          <p:nvPr/>
        </p:nvSpPr>
        <p:spPr>
          <a:xfrm>
            <a:off x="548640" y="1664208"/>
            <a:ext cx="5120640" cy="256032"/>
          </a:xfrm>
          <a:prstGeom prst="rect">
            <a:avLst/>
          </a:prstGeom>
          <a:noFill/>
          <a:ln/>
        </p:spPr>
        <p:txBody>
          <a:bodyPr wrap="square" lIns="0" tIns="0" rIns="0" bIns="0" rtlCol="0" anchor="ctr"/>
          <a:lstStyle/>
          <a:p>
            <a:pPr indent="0" marL="0">
              <a:buNone/>
            </a:pPr>
            <a:r>
              <a:rPr lang="en-US" sz="1100" dirty="0">
                <a:solidFill>
                  <a:srgbClr val="5B6573"/>
                </a:solidFill>
                <a:latin typeface="Calibri" pitchFamily="34" charset="0"/>
                <a:ea typeface="Calibri" pitchFamily="34" charset="-122"/>
                <a:cs typeface="Calibri" pitchFamily="34" charset="-120"/>
              </a:rPr>
              <a:t>Gris: % de clientes activos · naranja: % del MRR en riesgo esperado</a:t>
            </a:r>
            <a:endParaRPr lang="en-US" sz="1100" dirty="0"/>
          </a:p>
        </p:txBody>
      </p:sp>
      <p:graphicFrame>
        <p:nvGraphicFramePr>
          <p:cNvPr id="7" name="Chart 0" descr=""/>
          <p:cNvGraphicFramePr/>
          <p:nvPr/>
        </p:nvGraphicFramePr>
        <p:xfrm>
          <a:off x="457200" y="1920240"/>
          <a:ext cx="5212080" cy="3977640"/>
        </p:xfrm>
        <a:graphic xmlns:a="http://schemas.openxmlformats.org/drawingml/2006/main">
          <a:graphicData uri="http://schemas.openxmlformats.org/drawingml/2006/chart">
            <c:chart xmlns:c="http://schemas.openxmlformats.org/drawingml/2006/chart" r:id="rId1"/>
          </a:graphicData>
        </a:graphic>
      </p:graphicFrame>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989320" y="1417320"/>
          <a:ext cx="5650992" cy="914400"/>
        </p:xfrm>
        <a:graphic>
          <a:graphicData uri="http://schemas.openxmlformats.org/drawingml/2006/table">
            <a:tbl>
              <a:tblPr/>
              <a:tblGrid>
                <a:gridCol w="1783080"/>
                <a:gridCol w="731520"/>
                <a:gridCol w="621792"/>
                <a:gridCol w="594360"/>
                <a:gridCol w="868680"/>
                <a:gridCol w="1051560"/>
              </a:tblGrid>
              <a:tr h="45720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Segmento</a:t>
                      </a:r>
                      <a:endParaRPr lang="en-US" sz="115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13294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Prioridad</a:t>
                      </a:r>
                      <a:endParaRPr lang="en-US" sz="115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13294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Activos</a:t>
                      </a:r>
                      <a:endParaRPr lang="en-US" sz="115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13294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Churn</a:t>
                      </a:r>
                      <a:endParaRPr lang="en-US" sz="115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13294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MRR en riesgo</a:t>
                      </a:r>
                      <a:endParaRPr lang="en-US" sz="115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13294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Palanca</a:t>
                      </a:r>
                      <a:endParaRPr lang="en-US" sz="115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13294B"/>
                    </a:solidFill>
                  </a:tcPr>
                </a:tc>
              </a:tr>
              <a:tr h="457200">
                <a:tc>
                  <a:txBody>
                    <a:bodyPr/>
                    <a:lstStyle/>
                    <a:p>
                      <a:pPr algn="l" indent="0" marL="0">
                        <a:buNone/>
                      </a:pPr>
                      <a:r>
                        <a:rPr lang="en-US" sz="1150" dirty="0">
                          <a:solidFill>
                            <a:srgbClr val="1B1F24"/>
                          </a:solidFill>
                          <a:latin typeface="Calibri" pitchFamily="34" charset="0"/>
                          <a:ea typeface="Calibri" pitchFamily="34" charset="-122"/>
                          <a:cs typeface="Calibri" pitchFamily="34" charset="-120"/>
                        </a:rPr>
                        <a:t>Mes a mes · Fibra · 13–48 m</a:t>
                      </a:r>
                      <a:endParaRPr lang="en-US" sz="115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CEBE3"/>
                    </a:solidFill>
                  </a:tcPr>
                </a:tc>
                <a:tc>
                  <a:txBody>
                    <a:bodyPr/>
                    <a:lstStyle/>
                    <a:p>
                      <a:pPr algn="l" indent="0" marL="0">
                        <a:buNone/>
                      </a:pPr>
                      <a:r>
                        <a:rPr lang="en-US" sz="1150" b="1" dirty="0">
                          <a:solidFill>
                            <a:srgbClr val="1B1F24"/>
                          </a:solidFill>
                          <a:latin typeface="Calibri" pitchFamily="34" charset="0"/>
                          <a:ea typeface="Calibri" pitchFamily="34" charset="-122"/>
                          <a:cs typeface="Calibri" pitchFamily="34" charset="-120"/>
                        </a:rPr>
                        <a:t>P1</a:t>
                      </a:r>
                      <a:endParaRPr lang="en-US" sz="115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CEBE3"/>
                    </a:solidFill>
                  </a:tcPr>
                </a:tc>
                <a:tc>
                  <a:txBody>
                    <a:bodyPr/>
                    <a:lstStyle/>
                    <a:p>
                      <a:pPr algn="r" indent="0" marL="0">
                        <a:buNone/>
                      </a:pPr>
                      <a:r>
                        <a:rPr lang="en-US" sz="1150" dirty="0">
                          <a:solidFill>
                            <a:srgbClr val="1B1F24"/>
                          </a:solidFill>
                          <a:latin typeface="Calibri" pitchFamily="34" charset="0"/>
                          <a:ea typeface="Calibri" pitchFamily="34" charset="-122"/>
                          <a:cs typeface="Calibri" pitchFamily="34" charset="-120"/>
                        </a:rPr>
                        <a:t>505</a:t>
                      </a:r>
                      <a:endParaRPr lang="en-US" sz="115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CEBE3"/>
                    </a:solidFill>
                  </a:tcPr>
                </a:tc>
                <a:tc>
                  <a:txBody>
                    <a:bodyPr/>
                    <a:lstStyle/>
                    <a:p>
                      <a:pPr algn="r" indent="0" marL="0">
                        <a:buNone/>
                      </a:pPr>
                      <a:r>
                        <a:rPr lang="en-US" sz="1150" dirty="0">
                          <a:solidFill>
                            <a:srgbClr val="1B1F24"/>
                          </a:solidFill>
                          <a:latin typeface="Calibri" pitchFamily="34" charset="0"/>
                          <a:ea typeface="Calibri" pitchFamily="34" charset="-122"/>
                          <a:cs typeface="Calibri" pitchFamily="34" charset="-120"/>
                        </a:rPr>
                        <a:t>46,6 %</a:t>
                      </a:r>
                      <a:endParaRPr lang="en-US" sz="115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CEBE3"/>
                    </a:solidFill>
                  </a:tcPr>
                </a:tc>
                <a:tc>
                  <a:txBody>
                    <a:bodyPr/>
                    <a:lstStyle/>
                    <a:p>
                      <a:pPr algn="r" indent="0" marL="0">
                        <a:buNone/>
                      </a:pPr>
                      <a:r>
                        <a:rPr lang="en-US" sz="1150" dirty="0">
                          <a:solidFill>
                            <a:srgbClr val="1B1F24"/>
                          </a:solidFill>
                          <a:latin typeface="Calibri" pitchFamily="34" charset="0"/>
                          <a:ea typeface="Calibri" pitchFamily="34" charset="-122"/>
                          <a:cs typeface="Calibri" pitchFamily="34" charset="-120"/>
                        </a:rPr>
                        <a:t>USD 19.592</a:t>
                      </a:r>
                      <a:endParaRPr lang="en-US" sz="115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CEBE3"/>
                    </a:solidFill>
                  </a:tcPr>
                </a:tc>
                <a:tc>
                  <a:txBody>
                    <a:bodyPr/>
                    <a:lstStyle/>
                    <a:p>
                      <a:pPr algn="l" indent="0" marL="0">
                        <a:buNone/>
                      </a:pPr>
                      <a:r>
                        <a:rPr lang="en-US" sz="1150" dirty="0">
                          <a:solidFill>
                            <a:srgbClr val="1B1F24"/>
                          </a:solidFill>
                          <a:latin typeface="Calibri" pitchFamily="34" charset="0"/>
                          <a:ea typeface="Calibri" pitchFamily="34" charset="-122"/>
                          <a:cs typeface="Calibri" pitchFamily="34" charset="-120"/>
                        </a:rPr>
                        <a:t>Protección</a:t>
                      </a:r>
                      <a:endParaRPr lang="en-US" sz="115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CEBE3"/>
                    </a:solidFill>
                  </a:tcPr>
                </a:tc>
              </a:tr>
              <a:tr h="457200">
                <a:tc>
                  <a:txBody>
                    <a:bodyPr/>
                    <a:lstStyle/>
                    <a:p>
                      <a:pPr algn="l" indent="0" marL="0">
                        <a:buNone/>
                      </a:pPr>
                      <a:r>
                        <a:rPr lang="en-US" sz="1150" dirty="0">
                          <a:solidFill>
                            <a:srgbClr val="1B1F24"/>
                          </a:solidFill>
                          <a:latin typeface="Calibri" pitchFamily="34" charset="0"/>
                          <a:ea typeface="Calibri" pitchFamily="34" charset="-122"/>
                          <a:cs typeface="Calibri" pitchFamily="34" charset="-120"/>
                        </a:rPr>
                        <a:t>Mes a mes · Fibra · 0–12 m</a:t>
                      </a:r>
                      <a:endParaRPr lang="en-US" sz="115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CEBE3"/>
                    </a:solidFill>
                  </a:tcPr>
                </a:tc>
                <a:tc>
                  <a:txBody>
                    <a:bodyPr/>
                    <a:lstStyle/>
                    <a:p>
                      <a:pPr algn="l" indent="0" marL="0">
                        <a:buNone/>
                      </a:pPr>
                      <a:r>
                        <a:rPr lang="en-US" sz="1150" b="1" dirty="0">
                          <a:solidFill>
                            <a:srgbClr val="1B1F24"/>
                          </a:solidFill>
                          <a:latin typeface="Calibri" pitchFamily="34" charset="0"/>
                          <a:ea typeface="Calibri" pitchFamily="34" charset="-122"/>
                          <a:cs typeface="Calibri" pitchFamily="34" charset="-120"/>
                        </a:rPr>
                        <a:t>P1</a:t>
                      </a:r>
                      <a:endParaRPr lang="en-US" sz="115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CEBE3"/>
                    </a:solidFill>
                  </a:tcPr>
                </a:tc>
                <a:tc>
                  <a:txBody>
                    <a:bodyPr/>
                    <a:lstStyle/>
                    <a:p>
                      <a:pPr algn="r" indent="0" marL="0">
                        <a:buNone/>
                      </a:pPr>
                      <a:r>
                        <a:rPr lang="en-US" sz="1150" dirty="0">
                          <a:solidFill>
                            <a:srgbClr val="1B1F24"/>
                          </a:solidFill>
                          <a:latin typeface="Calibri" pitchFamily="34" charset="0"/>
                          <a:ea typeface="Calibri" pitchFamily="34" charset="-122"/>
                          <a:cs typeface="Calibri" pitchFamily="34" charset="-120"/>
                        </a:rPr>
                        <a:t>273</a:t>
                      </a:r>
                      <a:endParaRPr lang="en-US" sz="115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CEBE3"/>
                    </a:solidFill>
                  </a:tcPr>
                </a:tc>
                <a:tc>
                  <a:txBody>
                    <a:bodyPr/>
                    <a:lstStyle/>
                    <a:p>
                      <a:pPr algn="r" indent="0" marL="0">
                        <a:buNone/>
                      </a:pPr>
                      <a:r>
                        <a:rPr lang="en-US" sz="1150" dirty="0">
                          <a:solidFill>
                            <a:srgbClr val="1B1F24"/>
                          </a:solidFill>
                          <a:latin typeface="Calibri" pitchFamily="34" charset="0"/>
                          <a:ea typeface="Calibri" pitchFamily="34" charset="-122"/>
                          <a:cs typeface="Calibri" pitchFamily="34" charset="-120"/>
                        </a:rPr>
                        <a:t>70,2 %</a:t>
                      </a:r>
                      <a:endParaRPr lang="en-US" sz="115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CEBE3"/>
                    </a:solidFill>
                  </a:tcPr>
                </a:tc>
                <a:tc>
                  <a:txBody>
                    <a:bodyPr/>
                    <a:lstStyle/>
                    <a:p>
                      <a:pPr algn="r" indent="0" marL="0">
                        <a:buNone/>
                      </a:pPr>
                      <a:r>
                        <a:rPr lang="en-US" sz="1150" dirty="0">
                          <a:solidFill>
                            <a:srgbClr val="1B1F24"/>
                          </a:solidFill>
                          <a:latin typeface="Calibri" pitchFamily="34" charset="0"/>
                          <a:ea typeface="Calibri" pitchFamily="34" charset="-122"/>
                          <a:cs typeface="Calibri" pitchFamily="34" charset="-120"/>
                        </a:rPr>
                        <a:t>USD 14.568</a:t>
                      </a:r>
                      <a:endParaRPr lang="en-US" sz="115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CEBE3"/>
                    </a:solidFill>
                  </a:tcPr>
                </a:tc>
                <a:tc>
                  <a:txBody>
                    <a:bodyPr/>
                    <a:lstStyle/>
                    <a:p>
                      <a:pPr algn="l" indent="0" marL="0">
                        <a:buNone/>
                      </a:pPr>
                      <a:r>
                        <a:rPr lang="en-US" sz="1150" dirty="0">
                          <a:solidFill>
                            <a:srgbClr val="1B1F24"/>
                          </a:solidFill>
                          <a:latin typeface="Calibri" pitchFamily="34" charset="0"/>
                          <a:ea typeface="Calibri" pitchFamily="34" charset="-122"/>
                          <a:cs typeface="Calibri" pitchFamily="34" charset="-120"/>
                        </a:rPr>
                        <a:t>Onboarding</a:t>
                      </a:r>
                      <a:endParaRPr lang="en-US" sz="115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CEBE3"/>
                    </a:solidFill>
                  </a:tcPr>
                </a:tc>
              </a:tr>
              <a:tr h="457200">
                <a:tc>
                  <a:txBody>
                    <a:bodyPr/>
                    <a:lstStyle/>
                    <a:p>
                      <a:pPr algn="l" indent="0" marL="0">
                        <a:buNone/>
                      </a:pPr>
                      <a:r>
                        <a:rPr lang="en-US" sz="1150" dirty="0">
                          <a:solidFill>
                            <a:srgbClr val="1B1F24"/>
                          </a:solidFill>
                          <a:latin typeface="Calibri" pitchFamily="34" charset="0"/>
                          <a:ea typeface="Calibri" pitchFamily="34" charset="-122"/>
                          <a:cs typeface="Calibri" pitchFamily="34" charset="-120"/>
                        </a:rPr>
                        <a:t>Mes a mes · DSL · 0–12 m</a:t>
                      </a:r>
                      <a:endParaRPr lang="en-US" sz="115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CEBE3"/>
                    </a:solidFill>
                  </a:tcPr>
                </a:tc>
                <a:tc>
                  <a:txBody>
                    <a:bodyPr/>
                    <a:lstStyle/>
                    <a:p>
                      <a:pPr algn="l" indent="0" marL="0">
                        <a:buNone/>
                      </a:pPr>
                      <a:r>
                        <a:rPr lang="en-US" sz="1150" b="1" dirty="0">
                          <a:solidFill>
                            <a:srgbClr val="1B1F24"/>
                          </a:solidFill>
                          <a:latin typeface="Calibri" pitchFamily="34" charset="0"/>
                          <a:ea typeface="Calibri" pitchFamily="34" charset="-122"/>
                          <a:cs typeface="Calibri" pitchFamily="34" charset="-120"/>
                        </a:rPr>
                        <a:t>P1</a:t>
                      </a:r>
                      <a:endParaRPr lang="en-US" sz="115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CEBE3"/>
                    </a:solidFill>
                  </a:tcPr>
                </a:tc>
                <a:tc>
                  <a:txBody>
                    <a:bodyPr/>
                    <a:lstStyle/>
                    <a:p>
                      <a:pPr algn="r" indent="0" marL="0">
                        <a:buNone/>
                      </a:pPr>
                      <a:r>
                        <a:rPr lang="en-US" sz="1150" dirty="0">
                          <a:solidFill>
                            <a:srgbClr val="1B1F24"/>
                          </a:solidFill>
                          <a:latin typeface="Calibri" pitchFamily="34" charset="0"/>
                          <a:ea typeface="Calibri" pitchFamily="34" charset="-122"/>
                          <a:cs typeface="Calibri" pitchFamily="34" charset="-120"/>
                        </a:rPr>
                        <a:t>397</a:t>
                      </a:r>
                      <a:endParaRPr lang="en-US" sz="115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CEBE3"/>
                    </a:solidFill>
                  </a:tcPr>
                </a:tc>
                <a:tc>
                  <a:txBody>
                    <a:bodyPr/>
                    <a:lstStyle/>
                    <a:p>
                      <a:pPr algn="r" indent="0" marL="0">
                        <a:buNone/>
                      </a:pPr>
                      <a:r>
                        <a:rPr lang="en-US" sz="1150" dirty="0">
                          <a:solidFill>
                            <a:srgbClr val="1B1F24"/>
                          </a:solidFill>
                          <a:latin typeface="Calibri" pitchFamily="34" charset="0"/>
                          <a:ea typeface="Calibri" pitchFamily="34" charset="-122"/>
                          <a:cs typeface="Calibri" pitchFamily="34" charset="-120"/>
                        </a:rPr>
                        <a:t>42,5 %</a:t>
                      </a:r>
                      <a:endParaRPr lang="en-US" sz="115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CEBE3"/>
                    </a:solidFill>
                  </a:tcPr>
                </a:tc>
                <a:tc>
                  <a:txBody>
                    <a:bodyPr/>
                    <a:lstStyle/>
                    <a:p>
                      <a:pPr algn="r" indent="0" marL="0">
                        <a:buNone/>
                      </a:pPr>
                      <a:r>
                        <a:rPr lang="en-US" sz="1150" dirty="0">
                          <a:solidFill>
                            <a:srgbClr val="1B1F24"/>
                          </a:solidFill>
                          <a:latin typeface="Calibri" pitchFamily="34" charset="0"/>
                          <a:ea typeface="Calibri" pitchFamily="34" charset="-122"/>
                          <a:cs typeface="Calibri" pitchFamily="34" charset="-120"/>
                        </a:rPr>
                        <a:t>USD 7.861</a:t>
                      </a:r>
                      <a:endParaRPr lang="en-US" sz="115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CEBE3"/>
                    </a:solidFill>
                  </a:tcPr>
                </a:tc>
                <a:tc>
                  <a:txBody>
                    <a:bodyPr/>
                    <a:lstStyle/>
                    <a:p>
                      <a:pPr algn="l" indent="0" marL="0">
                        <a:buNone/>
                      </a:pPr>
                      <a:r>
                        <a:rPr lang="en-US" sz="1150" dirty="0">
                          <a:solidFill>
                            <a:srgbClr val="1B1F24"/>
                          </a:solidFill>
                          <a:latin typeface="Calibri" pitchFamily="34" charset="0"/>
                          <a:ea typeface="Calibri" pitchFamily="34" charset="-122"/>
                          <a:cs typeface="Calibri" pitchFamily="34" charset="-120"/>
                        </a:rPr>
                        <a:t>Onboarding</a:t>
                      </a:r>
                      <a:endParaRPr lang="en-US" sz="115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CEBE3"/>
                    </a:solidFill>
                  </a:tcPr>
                </a:tc>
              </a:tr>
              <a:tr h="457200">
                <a:tc>
                  <a:txBody>
                    <a:bodyPr/>
                    <a:lstStyle/>
                    <a:p>
                      <a:pPr algn="l" indent="0" marL="0">
                        <a:buNone/>
                      </a:pPr>
                      <a:r>
                        <a:rPr lang="en-US" sz="1150" dirty="0">
                          <a:solidFill>
                            <a:srgbClr val="1B1F24"/>
                          </a:solidFill>
                          <a:latin typeface="Calibri" pitchFamily="34" charset="0"/>
                          <a:ea typeface="Calibri" pitchFamily="34" charset="-122"/>
                          <a:cs typeface="Calibri" pitchFamily="34" charset="-120"/>
                        </a:rPr>
                        <a:t>Mes a mes · Fibra · 49–72 m</a:t>
                      </a:r>
                      <a:endParaRPr lang="en-US" sz="115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1B1F24"/>
                          </a:solidFill>
                          <a:latin typeface="Calibri" pitchFamily="34" charset="0"/>
                          <a:ea typeface="Calibri" pitchFamily="34" charset="-122"/>
                          <a:cs typeface="Calibri" pitchFamily="34" charset="-120"/>
                        </a:rPr>
                        <a:t>P2</a:t>
                      </a:r>
                      <a:endParaRPr lang="en-US" sz="115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B1F24"/>
                          </a:solidFill>
                          <a:latin typeface="Calibri" pitchFamily="34" charset="0"/>
                          <a:ea typeface="Calibri" pitchFamily="34" charset="-122"/>
                          <a:cs typeface="Calibri" pitchFamily="34" charset="-120"/>
                        </a:rPr>
                        <a:t>188</a:t>
                      </a:r>
                      <a:endParaRPr lang="en-US" sz="115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B1F24"/>
                          </a:solidFill>
                          <a:latin typeface="Calibri" pitchFamily="34" charset="0"/>
                          <a:ea typeface="Calibri" pitchFamily="34" charset="-122"/>
                          <a:cs typeface="Calibri" pitchFamily="34" charset="-120"/>
                        </a:rPr>
                        <a:t>29,3 %</a:t>
                      </a:r>
                      <a:endParaRPr lang="en-US" sz="115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B1F24"/>
                          </a:solidFill>
                          <a:latin typeface="Calibri" pitchFamily="34" charset="0"/>
                          <a:ea typeface="Calibri" pitchFamily="34" charset="-122"/>
                          <a:cs typeface="Calibri" pitchFamily="34" charset="-120"/>
                        </a:rPr>
                        <a:t>USD 5.699</a:t>
                      </a:r>
                      <a:endParaRPr lang="en-US" sz="115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4"/>
                          </a:solidFill>
                          <a:latin typeface="Calibri" pitchFamily="34" charset="0"/>
                          <a:ea typeface="Calibri" pitchFamily="34" charset="-122"/>
                          <a:cs typeface="Calibri" pitchFamily="34" charset="-120"/>
                        </a:rPr>
                        <a:t>Protección</a:t>
                      </a:r>
                      <a:endParaRPr lang="en-US" sz="115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r>
              <a:tr h="457200">
                <a:tc>
                  <a:txBody>
                    <a:bodyPr/>
                    <a:lstStyle/>
                    <a:p>
                      <a:pPr algn="l" indent="0" marL="0">
                        <a:buNone/>
                      </a:pPr>
                      <a:r>
                        <a:rPr lang="en-US" sz="1150" dirty="0">
                          <a:solidFill>
                            <a:srgbClr val="1B1F24"/>
                          </a:solidFill>
                          <a:latin typeface="Calibri" pitchFamily="34" charset="0"/>
                          <a:ea typeface="Calibri" pitchFamily="34" charset="-122"/>
                          <a:cs typeface="Calibri" pitchFamily="34" charset="-120"/>
                        </a:rPr>
                        <a:t>Un año · Fibra · 49–72 m</a:t>
                      </a:r>
                      <a:endParaRPr lang="en-US" sz="115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algn="l" indent="0" marL="0">
                        <a:buNone/>
                      </a:pPr>
                      <a:r>
                        <a:rPr lang="en-US" sz="1150" b="1" dirty="0">
                          <a:solidFill>
                            <a:srgbClr val="1B1F24"/>
                          </a:solidFill>
                          <a:latin typeface="Calibri" pitchFamily="34" charset="0"/>
                          <a:ea typeface="Calibri" pitchFamily="34" charset="-122"/>
                          <a:cs typeface="Calibri" pitchFamily="34" charset="-120"/>
                        </a:rPr>
                        <a:t>P2</a:t>
                      </a:r>
                      <a:endParaRPr lang="en-US" sz="115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algn="r" indent="0" marL="0">
                        <a:buNone/>
                      </a:pPr>
                      <a:r>
                        <a:rPr lang="en-US" sz="1150" dirty="0">
                          <a:solidFill>
                            <a:srgbClr val="1B1F24"/>
                          </a:solidFill>
                          <a:latin typeface="Calibri" pitchFamily="34" charset="0"/>
                          <a:ea typeface="Calibri" pitchFamily="34" charset="-122"/>
                          <a:cs typeface="Calibri" pitchFamily="34" charset="-120"/>
                        </a:rPr>
                        <a:t>288</a:t>
                      </a:r>
                      <a:endParaRPr lang="en-US" sz="115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algn="r" indent="0" marL="0">
                        <a:buNone/>
                      </a:pPr>
                      <a:r>
                        <a:rPr lang="en-US" sz="1150" dirty="0">
                          <a:solidFill>
                            <a:srgbClr val="1B1F24"/>
                          </a:solidFill>
                          <a:latin typeface="Calibri" pitchFamily="34" charset="0"/>
                          <a:ea typeface="Calibri" pitchFamily="34" charset="-122"/>
                          <a:cs typeface="Calibri" pitchFamily="34" charset="-120"/>
                        </a:rPr>
                        <a:t>18,9 %</a:t>
                      </a:r>
                      <a:endParaRPr lang="en-US" sz="115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algn="r" indent="0" marL="0">
                        <a:buNone/>
                      </a:pPr>
                      <a:r>
                        <a:rPr lang="en-US" sz="1150" dirty="0">
                          <a:solidFill>
                            <a:srgbClr val="1B1F24"/>
                          </a:solidFill>
                          <a:latin typeface="Calibri" pitchFamily="34" charset="0"/>
                          <a:ea typeface="Calibri" pitchFamily="34" charset="-122"/>
                          <a:cs typeface="Calibri" pitchFamily="34" charset="-120"/>
                        </a:rPr>
                        <a:t>USD 4.953</a:t>
                      </a:r>
                      <a:endParaRPr lang="en-US" sz="115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algn="l" indent="0" marL="0">
                        <a:buNone/>
                      </a:pPr>
                      <a:r>
                        <a:rPr lang="en-US" sz="1150" dirty="0">
                          <a:solidFill>
                            <a:srgbClr val="1B1F24"/>
                          </a:solidFill>
                          <a:latin typeface="Calibri" pitchFamily="34" charset="0"/>
                          <a:ea typeface="Calibri" pitchFamily="34" charset="-122"/>
                          <a:cs typeface="Calibri" pitchFamily="34" charset="-120"/>
                        </a:rPr>
                        <a:t>Protección</a:t>
                      </a:r>
                      <a:endParaRPr lang="en-US" sz="115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r>
              <a:tr h="457200">
                <a:tc>
                  <a:txBody>
                    <a:bodyPr/>
                    <a:lstStyle/>
                    <a:p>
                      <a:pPr algn="l" indent="0" marL="0">
                        <a:buNone/>
                      </a:pPr>
                      <a:r>
                        <a:rPr lang="en-US" sz="1150" dirty="0">
                          <a:solidFill>
                            <a:srgbClr val="1B1F24"/>
                          </a:solidFill>
                          <a:latin typeface="Calibri" pitchFamily="34" charset="0"/>
                          <a:ea typeface="Calibri" pitchFamily="34" charset="-122"/>
                          <a:cs typeface="Calibri" pitchFamily="34" charset="-120"/>
                        </a:rPr>
                        <a:t>Mes a mes · DSL · 13–48 m</a:t>
                      </a:r>
                      <a:endParaRPr lang="en-US" sz="115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1B1F24"/>
                          </a:solidFill>
                          <a:latin typeface="Calibri" pitchFamily="34" charset="0"/>
                          <a:ea typeface="Calibri" pitchFamily="34" charset="-122"/>
                          <a:cs typeface="Calibri" pitchFamily="34" charset="-120"/>
                        </a:rPr>
                        <a:t>P2</a:t>
                      </a:r>
                      <a:endParaRPr lang="en-US" sz="115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B1F24"/>
                          </a:solidFill>
                          <a:latin typeface="Calibri" pitchFamily="34" charset="0"/>
                          <a:ea typeface="Calibri" pitchFamily="34" charset="-122"/>
                          <a:cs typeface="Calibri" pitchFamily="34" charset="-120"/>
                        </a:rPr>
                        <a:t>368</a:t>
                      </a:r>
                      <a:endParaRPr lang="en-US" sz="115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B1F24"/>
                          </a:solidFill>
                          <a:latin typeface="Calibri" pitchFamily="34" charset="0"/>
                          <a:ea typeface="Calibri" pitchFamily="34" charset="-122"/>
                          <a:cs typeface="Calibri" pitchFamily="34" charset="-120"/>
                        </a:rPr>
                        <a:t>19,8 %</a:t>
                      </a:r>
                      <a:endParaRPr lang="en-US" sz="115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B1F24"/>
                          </a:solidFill>
                          <a:latin typeface="Calibri" pitchFamily="34" charset="0"/>
                          <a:ea typeface="Calibri" pitchFamily="34" charset="-122"/>
                          <a:cs typeface="Calibri" pitchFamily="34" charset="-120"/>
                        </a:rPr>
                        <a:t>USD 3.862</a:t>
                      </a:r>
                      <a:endParaRPr lang="en-US" sz="115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4"/>
                          </a:solidFill>
                          <a:latin typeface="Calibri" pitchFamily="34" charset="0"/>
                          <a:ea typeface="Calibri" pitchFamily="34" charset="-122"/>
                          <a:cs typeface="Calibri" pitchFamily="34" charset="-120"/>
                        </a:rPr>
                        <a:t>Migración anual</a:t>
                      </a:r>
                      <a:endParaRPr lang="en-US" sz="115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r>
            </a:tbl>
          </a:graphicData>
        </a:graphic>
      </p:graphicFrame>
      <p:sp>
        <p:nvSpPr>
          <p:cNvPr id="9" name="Shape 4"/>
          <p:cNvSpPr/>
          <p:nvPr/>
        </p:nvSpPr>
        <p:spPr>
          <a:xfrm>
            <a:off x="5989320" y="4800600"/>
            <a:ext cx="5650992" cy="1097280"/>
          </a:xfrm>
          <a:prstGeom prst="roundRect">
            <a:avLst>
              <a:gd name="adj" fmla="val 6667"/>
            </a:avLst>
          </a:prstGeom>
          <a:solidFill>
            <a:srgbClr val="EEF4FC"/>
          </a:solidFill>
          <a:ln w="12700">
            <a:solidFill>
              <a:srgbClr val="EEF4FC"/>
            </a:solidFill>
            <a:prstDash val="solid"/>
          </a:ln>
        </p:spPr>
        <p:txBody>
          <a:bodyPr/>
          <a:p/>
        </p:txBody>
      </p:sp>
      <p:sp>
        <p:nvSpPr>
          <p:cNvPr id="10" name="Text 5"/>
          <p:cNvSpPr txBox="1"/>
          <p:nvPr/>
        </p:nvSpPr>
        <p:spPr>
          <a:xfrm>
            <a:off x="6172200" y="4846320"/>
            <a:ext cx="5303520" cy="1005840"/>
          </a:xfrm>
          <a:prstGeom prst="rect">
            <a:avLst/>
          </a:prstGeom>
          <a:noFill/>
          <a:ln/>
        </p:spPr>
        <p:txBody>
          <a:bodyPr wrap="square" lIns="0" tIns="0" rIns="0" bIns="0" rtlCol="0" anchor="ctr"/>
          <a:lstStyle/>
          <a:p>
            <a:pPr indent="0" marL="0">
              <a:buNone/>
            </a:pPr>
            <a:r>
              <a:rPr lang="en-US" sz="1350" dirty="0">
                <a:solidFill>
                  <a:srgbClr val="1B1F24"/>
                </a:solidFill>
                <a:latin typeface="Calibri" pitchFamily="34" charset="0"/>
                <a:ea typeface="Calibri" pitchFamily="34" charset="-122"/>
                <a:cs typeface="Calibri" pitchFamily="34" charset="-120"/>
              </a:rPr>
              <a:t>P1 = churn ≥ 40 % y ≥ 5 % del MRR en riesgo esperado. Los tres segmentos P1 suman 1.175 clientes activos y el 62 % del MRR en riesgo.</a:t>
            </a:r>
            <a:endParaRPr lang="en-US" sz="1350" dirty="0"/>
          </a:p>
        </p:txBody>
      </p:sp>
      <p:sp>
        <p:nvSpPr>
          <p:cNvPr id="25" name="Slide Number Placeholder 0"/>
          <p:cNvSpPr>
            <a:spLocks noGrp="1"/>
          </p:cNvSpPr>
          <p:nvPr>
            <p:ph type="sldNum" sz="quarter" idx="4294967295"/>
          </p:nvPr>
        </p:nvSpPr>
        <p:spPr>
          <a:xfrm>
            <a:off x="11091672"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5B6573"/>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822960" y="1234440"/>
            <a:ext cx="2743200" cy="914400"/>
          </a:xfrm>
          <a:prstGeom prst="rect">
            <a:avLst/>
          </a:prstGeom>
          <a:noFill/>
          <a:ln/>
        </p:spPr>
        <p:txBody>
          <a:bodyPr wrap="square" lIns="0" tIns="0" rIns="0" bIns="0" rtlCol="0" anchor="ctr"/>
          <a:lstStyle/>
          <a:p>
            <a:pPr indent="0" marL="0">
              <a:buNone/>
            </a:pPr>
            <a:r>
              <a:rPr lang="en-US" sz="6000" b="1" dirty="0">
                <a:solidFill>
                  <a:srgbClr val="EB6834"/>
                </a:solidFill>
                <a:latin typeface="Cambria" pitchFamily="34" charset="0"/>
                <a:ea typeface="Cambria" pitchFamily="34" charset="-122"/>
                <a:cs typeface="Cambria" pitchFamily="34" charset="-120"/>
              </a:rPr>
              <a:t>04</a:t>
            </a:r>
            <a:endParaRPr lang="en-US" sz="6000" dirty="0"/>
          </a:p>
        </p:txBody>
      </p:sp>
      <p:sp>
        <p:nvSpPr>
          <p:cNvPr id="3" name="Text 0"/>
          <p:cNvSpPr/>
          <p:nvPr>
            <p:ph idx="100" type="title" hasCustomPrompt="1"/>
          </p:nvPr>
        </p:nvSpPr>
        <p:spPr>
          <a:xfrm>
            <a:off x="822960" y="2331720"/>
            <a:ext cx="10515600" cy="1005840"/>
          </a:xfrm>
          <a:prstGeom prst="rect">
            <a:avLst/>
          </a:prstGeom>
          <a:noFill/>
          <a:ln/>
        </p:spPr>
        <p:txBody>
          <a:bodyPr wrap="square" lIns="0" tIns="0" rIns="0" bIns="0" rtlCol="0" anchor="t"/>
          <a:lstStyle/>
          <a:p>
            <a:pPr algn="l" indent="0" marL="0">
              <a:buNone/>
            </a:pPr>
            <a:r>
              <a:rPr lang="en-US" sz="4000" b="1" dirty="0">
                <a:solidFill>
                  <a:srgbClr val="FFFFFF"/>
                </a:solidFill>
                <a:latin typeface="Cambria" pitchFamily="34" charset="0"/>
                <a:ea typeface="Cambria" pitchFamily="34" charset="-122"/>
                <a:cs typeface="Cambria" pitchFamily="34" charset="-120"/>
              </a:rPr>
              <a:t>Impacto y dashboard</a:t>
            </a:r>
            <a:endParaRPr lang="en-US" sz="4000" dirty="0"/>
          </a:p>
        </p:txBody>
      </p:sp>
      <p:sp>
        <p:nvSpPr>
          <p:cNvPr id="4" name="Text 0"/>
          <p:cNvSpPr/>
          <p:nvPr>
            <p:ph idx="101" type="body" hasCustomPrompt="1"/>
          </p:nvPr>
        </p:nvSpPr>
        <p:spPr>
          <a:xfrm>
            <a:off x="822960" y="3429000"/>
            <a:ext cx="10515600" cy="548640"/>
          </a:xfrm>
          <a:prstGeom prst="rect">
            <a:avLst/>
          </a:prstGeom>
          <a:noFill/>
          <a:ln/>
        </p:spPr>
        <p:txBody>
          <a:bodyPr wrap="square" lIns="0" tIns="0" rIns="0" bIns="0" rtlCol="0" anchor="t"/>
          <a:lstStyle/>
          <a:p>
            <a:pPr algn="l" indent="0" marL="0">
              <a:buNone/>
            </a:pPr>
            <a:r>
              <a:rPr lang="en-US" sz="2000" dirty="0">
                <a:solidFill>
                  <a:srgbClr val="C3D2E6"/>
                </a:solidFill>
                <a:latin typeface="Calibri" pitchFamily="34" charset="0"/>
                <a:ea typeface="Calibri" pitchFamily="34" charset="-122"/>
                <a:cs typeface="Calibri" pitchFamily="34" charset="-120"/>
              </a:rPr>
              <a:t>Presenta: Daniel Felipe Pérez Pineda</a:t>
            </a:r>
            <a:endParaRPr lang="en-US" sz="2000" dirty="0"/>
          </a:p>
        </p:txBody>
      </p:sp>
      <p:sp>
        <p:nvSpPr>
          <p:cNvPr id="5" name="Text 3"/>
          <p:cNvSpPr txBox="1"/>
          <p:nvPr/>
        </p:nvSpPr>
        <p:spPr>
          <a:xfrm>
            <a:off x="822960" y="4343400"/>
            <a:ext cx="10515600" cy="45720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Evidencia y supuestos · ROI por escenarios · Sensibilidad y piloto · Dashboard: vista ejecutiva, diagnóstica, de monitoreo y simulador</a:t>
            </a:r>
            <a:endParaRPr 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FA3BF"/>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164592"/>
            <a:ext cx="11091672" cy="256032"/>
          </a:xfrm>
          <a:prstGeom prst="rect">
            <a:avLst/>
          </a:prstGeom>
          <a:noFill/>
          <a:ln/>
        </p:spPr>
        <p:txBody>
          <a:bodyPr wrap="square" lIns="0" tIns="0" rIns="0" bIns="0" rtlCol="0" anchor="ctr"/>
          <a:lstStyle/>
          <a:p>
            <a:pPr indent="0" marL="0">
              <a:buNone/>
            </a:pPr>
            <a:r>
              <a:rPr lang="en-US" sz="1100" b="1" spc="50" kern="0" dirty="0">
                <a:solidFill>
                  <a:srgbClr val="2A78D6"/>
                </a:solidFill>
                <a:latin typeface="Calibri" pitchFamily="34" charset="0"/>
                <a:ea typeface="Calibri" pitchFamily="34" charset="-122"/>
                <a:cs typeface="Calibri" pitchFamily="34" charset="-120"/>
              </a:rPr>
              <a:t>04 · IMPACTO Y DASHBOARD</a:t>
            </a:r>
            <a:pPr indent="0" marL="0">
              <a:buNone/>
            </a:pPr>
            <a:endParaRPr lang="en-US" sz="1100" dirty="0"/>
          </a:p>
        </p:txBody>
      </p:sp>
      <p:sp>
        <p:nvSpPr>
          <p:cNvPr id="3" name="Text 0"/>
          <p:cNvSpPr/>
          <p:nvPr>
            <p:ph idx="100" type="title" hasCustomPrompt="1"/>
          </p:nvPr>
        </p:nvSpPr>
        <p:spPr>
          <a:xfrm>
            <a:off x="548640" y="457200"/>
            <a:ext cx="11091672" cy="841248"/>
          </a:xfrm>
          <a:prstGeom prst="rect">
            <a:avLst/>
          </a:prstGeom>
          <a:noFill/>
          <a:ln/>
        </p:spPr>
        <p:txBody>
          <a:bodyPr wrap="square" lIns="0" tIns="0" rIns="0" bIns="0" rtlCol="0" anchor="t"/>
          <a:lstStyle/>
          <a:p>
            <a:pPr algn="l" indent="0" marL="0">
              <a:buNone/>
            </a:pPr>
            <a:r>
              <a:rPr lang="en-US" sz="2400" b="1" dirty="0">
                <a:solidFill>
                  <a:srgbClr val="13294B"/>
                </a:solidFill>
                <a:latin typeface="Cambria" pitchFamily="34" charset="0"/>
                <a:ea typeface="Cambria" pitchFamily="34" charset="-122"/>
                <a:cs typeface="Cambria" pitchFamily="34" charset="-120"/>
              </a:rPr>
              <a:t>Las brechas observadas acotan el efecto que podemos suponer para cada palanca</a:t>
            </a:r>
            <a:endParaRPr lang="en-US" sz="2400" dirty="0"/>
          </a:p>
        </p:txBody>
      </p:sp>
      <p:sp>
        <p:nvSpPr>
          <p:cNvPr id="5" name="Text 2"/>
          <p:cNvSpPr txBox="1"/>
          <p:nvPr/>
        </p:nvSpPr>
        <p:spPr>
          <a:xfrm>
            <a:off x="548640" y="1371600"/>
            <a:ext cx="6766560" cy="292608"/>
          </a:xfrm>
          <a:prstGeom prst="rect">
            <a:avLst/>
          </a:prstGeom>
          <a:noFill/>
          <a:ln/>
        </p:spPr>
        <p:txBody>
          <a:bodyPr wrap="square" lIns="0" tIns="0" rIns="0" bIns="0" rtlCol="0" anchor="ctr"/>
          <a:lstStyle/>
          <a:p>
            <a:pPr indent="0" marL="0">
              <a:buNone/>
            </a:pPr>
            <a:r>
              <a:rPr lang="en-US" sz="1400" b="1" dirty="0">
                <a:solidFill>
                  <a:srgbClr val="1B1F24"/>
                </a:solidFill>
                <a:latin typeface="Calibri" pitchFamily="34" charset="0"/>
                <a:ea typeface="Calibri" pitchFamily="34" charset="-122"/>
                <a:cs typeface="Calibri" pitchFamily="34" charset="-120"/>
              </a:rPr>
              <a:t>Reducción observada del churn dentro de estratos homogéneos</a:t>
            </a:r>
            <a:endParaRPr lang="en-US" sz="1400" dirty="0"/>
          </a:p>
        </p:txBody>
      </p:sp>
      <p:sp>
        <p:nvSpPr>
          <p:cNvPr id="6" name="Text 3"/>
          <p:cNvSpPr txBox="1"/>
          <p:nvPr/>
        </p:nvSpPr>
        <p:spPr>
          <a:xfrm>
            <a:off x="548640" y="1664208"/>
            <a:ext cx="6766560" cy="256032"/>
          </a:xfrm>
          <a:prstGeom prst="rect">
            <a:avLst/>
          </a:prstGeom>
          <a:noFill/>
          <a:ln/>
        </p:spPr>
        <p:txBody>
          <a:bodyPr wrap="square" lIns="0" tIns="0" rIns="0" bIns="0" rtlCol="0" anchor="ctr"/>
          <a:lstStyle/>
          <a:p>
            <a:pPr indent="0" marL="0">
              <a:buNone/>
            </a:pPr>
            <a:r>
              <a:rPr lang="en-US" sz="1100" dirty="0">
                <a:solidFill>
                  <a:srgbClr val="5B6573"/>
                </a:solidFill>
                <a:latin typeface="Calibri" pitchFamily="34" charset="0"/>
                <a:ea typeface="Calibri" pitchFamily="34" charset="-122"/>
                <a:cs typeface="Calibri" pitchFamily="34" charset="-120"/>
              </a:rPr>
              <a:t>Diferencia en puntos porcentuales (IC 95 %) · asociaciones, no efectos causales</a:t>
            </a:r>
            <a:endParaRPr lang="en-US" sz="1100" dirty="0"/>
          </a:p>
        </p:txBody>
      </p:sp>
      <p:graphicFrame>
        <p:nvGraphicFramePr>
          <p:cNvPr id="7" name="Chart 0" descr=""/>
          <p:cNvGraphicFramePr/>
          <p:nvPr/>
        </p:nvGraphicFramePr>
        <p:xfrm>
          <a:off x="457200" y="1920240"/>
          <a:ext cx="6858000" cy="4023360"/>
        </p:xfrm>
        <a:graphic xmlns:a="http://schemas.openxmlformats.org/drawingml/2006/main">
          <a:graphicData uri="http://schemas.openxmlformats.org/drawingml/2006/chart">
            <c:chart xmlns:c="http://schemas.openxmlformats.org/drawingml/2006/chart" r:id="rId1"/>
          </a:graphicData>
        </a:graphic>
      </p:graphicFrame>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7635240" y="1417320"/>
          <a:ext cx="4005072" cy="914400"/>
        </p:xfrm>
        <a:graphic>
          <a:graphicData uri="http://schemas.openxmlformats.org/drawingml/2006/table">
            <a:tbl>
              <a:tblPr/>
              <a:tblGrid>
                <a:gridCol w="1417320"/>
                <a:gridCol w="1673352"/>
                <a:gridCol w="91440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Palanca</a:t>
                      </a:r>
                      <a:endParaRPr lang="en-US" sz="120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13294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Evidencia</a:t>
                      </a:r>
                      <a:endParaRPr lang="en-US" sz="120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13294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Supuesto base</a:t>
                      </a:r>
                      <a:endParaRPr lang="en-US" sz="120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13294B"/>
                    </a:solidFill>
                  </a:tcPr>
                </a:tc>
              </a:tr>
              <a:tr h="502920">
                <a:tc>
                  <a:txBody>
                    <a:bodyPr/>
                    <a:lstStyle/>
                    <a:p>
                      <a:pPr algn="l" indent="0" marL="0">
                        <a:buNone/>
                      </a:pPr>
                      <a:r>
                        <a:rPr lang="en-US" sz="1200" b="1" dirty="0">
                          <a:solidFill>
                            <a:srgbClr val="1B1F24"/>
                          </a:solidFill>
                          <a:latin typeface="Calibri" pitchFamily="34" charset="0"/>
                          <a:ea typeface="Calibri" pitchFamily="34" charset="-122"/>
                          <a:cs typeface="Calibri" pitchFamily="34" charset="-120"/>
                        </a:rPr>
                        <a:t>L4 Onboarding</a:t>
                      </a:r>
                      <a:endParaRPr lang="en-US" sz="120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1F24"/>
                          </a:solidFill>
                          <a:latin typeface="Calibri" pitchFamily="34" charset="0"/>
                          <a:ea typeface="Calibri" pitchFamily="34" charset="-122"/>
                          <a:cs typeface="Calibri" pitchFamily="34" charset="-120"/>
                        </a:rPr>
                        <a:t>Churn 0–6 m de 52,9 %</a:t>
                      </a:r>
                      <a:endParaRPr lang="en-US" sz="120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algn="ctr" indent="0" marL="0">
                        <a:buNone/>
                      </a:pPr>
                      <a:r>
                        <a:rPr lang="en-US" sz="1200" dirty="0">
                          <a:solidFill>
                            <a:srgbClr val="1B1F24"/>
                          </a:solidFill>
                          <a:latin typeface="Calibri" pitchFamily="34" charset="0"/>
                          <a:ea typeface="Calibri" pitchFamily="34" charset="-122"/>
                          <a:cs typeface="Calibri" pitchFamily="34" charset="-120"/>
                        </a:rPr>
                        <a:t>10 %</a:t>
                      </a:r>
                      <a:endParaRPr lang="en-US" sz="120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r>
              <a:tr h="502920">
                <a:tc>
                  <a:txBody>
                    <a:bodyPr/>
                    <a:lstStyle/>
                    <a:p>
                      <a:pPr algn="l" indent="0" marL="0">
                        <a:buNone/>
                      </a:pPr>
                      <a:r>
                        <a:rPr lang="en-US" sz="1200" b="1" dirty="0">
                          <a:solidFill>
                            <a:srgbClr val="1B1F24"/>
                          </a:solidFill>
                          <a:latin typeface="Calibri" pitchFamily="34" charset="0"/>
                          <a:ea typeface="Calibri" pitchFamily="34" charset="-122"/>
                          <a:cs typeface="Calibri" pitchFamily="34" charset="-120"/>
                        </a:rPr>
                        <a:t>L2 Protección</a:t>
                      </a:r>
                      <a:endParaRPr lang="en-US" sz="120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4"/>
                          </a:solidFill>
                          <a:latin typeface="Calibri" pitchFamily="34" charset="0"/>
                          <a:ea typeface="Calibri" pitchFamily="34" charset="-122"/>
                          <a:cs typeface="Calibri" pitchFamily="34" charset="-120"/>
                        </a:rPr>
                        <a:t>−21 pp (seguridad)</a:t>
                      </a:r>
                      <a:endParaRPr lang="en-US" sz="120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1F24"/>
                          </a:solidFill>
                          <a:latin typeface="Calibri" pitchFamily="34" charset="0"/>
                          <a:ea typeface="Calibri" pitchFamily="34" charset="-122"/>
                          <a:cs typeface="Calibri" pitchFamily="34" charset="-120"/>
                        </a:rPr>
                        <a:t>20 %</a:t>
                      </a:r>
                      <a:endParaRPr lang="en-US" sz="120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r>
              <a:tr h="502920">
                <a:tc>
                  <a:txBody>
                    <a:bodyPr/>
                    <a:lstStyle/>
                    <a:p>
                      <a:pPr algn="l" indent="0" marL="0">
                        <a:buNone/>
                      </a:pPr>
                      <a:r>
                        <a:rPr lang="en-US" sz="1200" b="1" dirty="0">
                          <a:solidFill>
                            <a:srgbClr val="1B1F24"/>
                          </a:solidFill>
                          <a:latin typeface="Calibri" pitchFamily="34" charset="0"/>
                          <a:ea typeface="Calibri" pitchFamily="34" charset="-122"/>
                          <a:cs typeface="Calibri" pitchFamily="34" charset="-120"/>
                        </a:rPr>
                        <a:t>L3 Pago automático</a:t>
                      </a:r>
                      <a:endParaRPr lang="en-US" sz="120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1F24"/>
                          </a:solidFill>
                          <a:latin typeface="Calibri" pitchFamily="34" charset="0"/>
                          <a:ea typeface="Calibri" pitchFamily="34" charset="-122"/>
                          <a:cs typeface="Calibri" pitchFamily="34" charset="-120"/>
                        </a:rPr>
                        <a:t>−17 pp; OR 1,42</a:t>
                      </a:r>
                      <a:endParaRPr lang="en-US" sz="120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algn="ctr" indent="0" marL="0">
                        <a:buNone/>
                      </a:pPr>
                      <a:r>
                        <a:rPr lang="en-US" sz="1200" dirty="0">
                          <a:solidFill>
                            <a:srgbClr val="1B1F24"/>
                          </a:solidFill>
                          <a:latin typeface="Calibri" pitchFamily="34" charset="0"/>
                          <a:ea typeface="Calibri" pitchFamily="34" charset="-122"/>
                          <a:cs typeface="Calibri" pitchFamily="34" charset="-120"/>
                        </a:rPr>
                        <a:t>15 %</a:t>
                      </a:r>
                      <a:endParaRPr lang="en-US" sz="120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r>
              <a:tr h="502920">
                <a:tc>
                  <a:txBody>
                    <a:bodyPr/>
                    <a:lstStyle/>
                    <a:p>
                      <a:pPr algn="l" indent="0" marL="0">
                        <a:buNone/>
                      </a:pPr>
                      <a:r>
                        <a:rPr lang="en-US" sz="1200" b="1" dirty="0">
                          <a:solidFill>
                            <a:srgbClr val="1B1F24"/>
                          </a:solidFill>
                          <a:latin typeface="Calibri" pitchFamily="34" charset="0"/>
                          <a:ea typeface="Calibri" pitchFamily="34" charset="-122"/>
                          <a:cs typeface="Calibri" pitchFamily="34" charset="-120"/>
                        </a:rPr>
                        <a:t>L1 Migración anual</a:t>
                      </a:r>
                      <a:endParaRPr lang="en-US" sz="120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4"/>
                          </a:solidFill>
                          <a:latin typeface="Calibri" pitchFamily="34" charset="0"/>
                          <a:ea typeface="Calibri" pitchFamily="34" charset="-122"/>
                          <a:cs typeface="Calibri" pitchFamily="34" charset="-120"/>
                        </a:rPr>
                        <a:t>−41 pp, alta autoselección</a:t>
                      </a:r>
                      <a:endParaRPr lang="en-US" sz="120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1F24"/>
                          </a:solidFill>
                          <a:latin typeface="Calibri" pitchFamily="34" charset="0"/>
                          <a:ea typeface="Calibri" pitchFamily="34" charset="-122"/>
                          <a:cs typeface="Calibri" pitchFamily="34" charset="-120"/>
                        </a:rPr>
                        <a:t>35 %</a:t>
                      </a:r>
                      <a:endParaRPr lang="en-US" sz="1200" dirty="0">
                        <a:latin typeface="Calibri" charset="0"/>
                        <a:ea typeface="Calibri" charset="0"/>
                        <a:cs typeface="Calibri" charset="0"/>
                      </a:endParaRPr>
                    </a:p>
                  </a:txBody>
                  <a:tcPr marL="54864" marR="54864" marT="27432" marB="27432"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r>
            </a:tbl>
          </a:graphicData>
        </a:graphic>
      </p:graphicFrame>
      <p:sp>
        <p:nvSpPr>
          <p:cNvPr id="9" name="Shape 4"/>
          <p:cNvSpPr/>
          <p:nvPr/>
        </p:nvSpPr>
        <p:spPr>
          <a:xfrm>
            <a:off x="7635240" y="4206240"/>
            <a:ext cx="4005072" cy="1737360"/>
          </a:xfrm>
          <a:prstGeom prst="roundRect">
            <a:avLst>
              <a:gd name="adj" fmla="val 4211"/>
            </a:avLst>
          </a:prstGeom>
          <a:solidFill>
            <a:srgbClr val="FCEBE3"/>
          </a:solidFill>
          <a:ln w="12700">
            <a:solidFill>
              <a:srgbClr val="FCEBE3"/>
            </a:solidFill>
            <a:prstDash val="solid"/>
          </a:ln>
        </p:spPr>
        <p:txBody>
          <a:bodyPr/>
          <a:p/>
        </p:txBody>
      </p:sp>
      <p:sp>
        <p:nvSpPr>
          <p:cNvPr id="10" name="Text 5"/>
          <p:cNvSpPr txBox="1"/>
          <p:nvPr/>
        </p:nvSpPr>
        <p:spPr>
          <a:xfrm>
            <a:off x="7818120" y="4297680"/>
            <a:ext cx="3657600" cy="1554480"/>
          </a:xfrm>
          <a:prstGeom prst="rect">
            <a:avLst/>
          </a:prstGeom>
          <a:noFill/>
          <a:ln/>
        </p:spPr>
        <p:txBody>
          <a:bodyPr wrap="square" lIns="0" tIns="0" rIns="0" bIns="0" rtlCol="0" anchor="ctr"/>
          <a:lstStyle/>
          <a:p>
            <a:pPr indent="0" marL="0">
              <a:buNone/>
            </a:pPr>
            <a:r>
              <a:rPr lang="en-US" sz="1350" b="1" dirty="0">
                <a:solidFill>
                  <a:srgbClr val="13294B"/>
                </a:solidFill>
                <a:latin typeface="Calibri" pitchFamily="34" charset="0"/>
                <a:ea typeface="Calibri" pitchFamily="34" charset="-122"/>
                <a:cs typeface="Calibri" pitchFamily="34" charset="-120"/>
              </a:rPr>
              <a:t>Reducción atribuible: </a:t>
            </a:r>
            <a:pPr indent="0" marL="0">
              <a:buNone/>
            </a:pPr>
            <a:r>
              <a:rPr lang="en-US" sz="1350" dirty="0">
                <a:solidFill>
                  <a:srgbClr val="1B1F24"/>
                </a:solidFill>
                <a:latin typeface="Calibri" pitchFamily="34" charset="0"/>
                <a:ea typeface="Calibri" pitchFamily="34" charset="-122"/>
                <a:cs typeface="Calibri" pitchFamily="34" charset="-120"/>
              </a:rPr>
              <a:t>disminución del riesgo de churn entre los clientes que aceptan la palanca. Se descuenta frente a las brechas observadas por sesgo de selección.</a:t>
            </a:r>
            <a:endParaRPr lang="en-US" sz="1350" dirty="0"/>
          </a:p>
        </p:txBody>
      </p:sp>
      <p:sp>
        <p:nvSpPr>
          <p:cNvPr id="25" name="Slide Number Placeholder 0"/>
          <p:cNvSpPr>
            <a:spLocks noGrp="1"/>
          </p:cNvSpPr>
          <p:nvPr>
            <p:ph type="sldNum" sz="quarter" idx="4294967295"/>
          </p:nvPr>
        </p:nvSpPr>
        <p:spPr>
          <a:xfrm>
            <a:off x="11091672"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5B6573"/>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164592"/>
            <a:ext cx="11091672" cy="256032"/>
          </a:xfrm>
          <a:prstGeom prst="rect">
            <a:avLst/>
          </a:prstGeom>
          <a:noFill/>
          <a:ln/>
        </p:spPr>
        <p:txBody>
          <a:bodyPr wrap="square" lIns="0" tIns="0" rIns="0" bIns="0" rtlCol="0" anchor="ctr"/>
          <a:lstStyle/>
          <a:p>
            <a:pPr indent="0" marL="0">
              <a:buNone/>
            </a:pPr>
            <a:r>
              <a:rPr lang="en-US" sz="1100" b="1" spc="50" kern="0" dirty="0">
                <a:solidFill>
                  <a:srgbClr val="2A78D6"/>
                </a:solidFill>
                <a:latin typeface="Calibri" pitchFamily="34" charset="0"/>
                <a:ea typeface="Calibri" pitchFamily="34" charset="-122"/>
                <a:cs typeface="Calibri" pitchFamily="34" charset="-120"/>
              </a:rPr>
              <a:t>04 · IMPACTO Y DASHBOARD</a:t>
            </a:r>
            <a:pPr indent="0" marL="0">
              <a:buNone/>
            </a:pPr>
            <a:endParaRPr lang="en-US" sz="1100" dirty="0"/>
          </a:p>
        </p:txBody>
      </p:sp>
      <p:sp>
        <p:nvSpPr>
          <p:cNvPr id="3" name="Text 0"/>
          <p:cNvSpPr/>
          <p:nvPr>
            <p:ph idx="100" type="title" hasCustomPrompt="1"/>
          </p:nvPr>
        </p:nvSpPr>
        <p:spPr>
          <a:xfrm>
            <a:off x="548640" y="457200"/>
            <a:ext cx="11091672" cy="841248"/>
          </a:xfrm>
          <a:prstGeom prst="rect">
            <a:avLst/>
          </a:prstGeom>
          <a:noFill/>
          <a:ln/>
        </p:spPr>
        <p:txBody>
          <a:bodyPr wrap="square" lIns="0" tIns="0" rIns="0" bIns="0" rtlCol="0" anchor="t"/>
          <a:lstStyle/>
          <a:p>
            <a:pPr algn="l" indent="0" marL="0">
              <a:buNone/>
            </a:pPr>
            <a:r>
              <a:rPr lang="en-US" sz="2400" b="1" dirty="0">
                <a:solidFill>
                  <a:srgbClr val="13294B"/>
                </a:solidFill>
                <a:latin typeface="Cambria" pitchFamily="34" charset="0"/>
                <a:ea typeface="Cambria" pitchFamily="34" charset="-122"/>
                <a:cs typeface="Cambria" pitchFamily="34" charset="-120"/>
              </a:rPr>
              <a:t>Simulamos tres escenarios con supuestos explícitos por palanca</a:t>
            </a:r>
            <a:endParaRPr lang="en-US" sz="24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2514600"/>
                <a:gridCol w="3291840"/>
                <a:gridCol w="1783080"/>
                <a:gridCol w="2011680"/>
                <a:gridCol w="1490472"/>
              </a:tblGrid>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Palanca</a:t>
                      </a:r>
                      <a:endParaRPr lang="en-US" sz="13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Incentivo y costo</a:t>
                      </a:r>
                      <a:endParaRPr lang="en-US" sz="13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Aceptación (C / B / O)</a:t>
                      </a:r>
                      <a:endParaRPr lang="en-US" sz="13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Reducción atribuible (C / B / O)</a:t>
                      </a:r>
                      <a:endParaRPr lang="en-US" sz="13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Responsable</a:t>
                      </a:r>
                      <a:endParaRPr lang="en-US" sz="13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13294B"/>
                    </a:solidFill>
                  </a:tcPr>
                </a:tc>
              </a:tr>
              <a:tr h="566928">
                <a:tc>
                  <a:txBody>
                    <a:bodyPr/>
                    <a:lstStyle/>
                    <a:p>
                      <a:pPr algn="l" indent="0" marL="0">
                        <a:buNone/>
                      </a:pPr>
                      <a:r>
                        <a:rPr lang="en-US" sz="1300" b="1" dirty="0">
                          <a:solidFill>
                            <a:srgbClr val="1B1F24"/>
                          </a:solidFill>
                          <a:latin typeface="Calibri" pitchFamily="34" charset="0"/>
                          <a:ea typeface="Calibri" pitchFamily="34" charset="-122"/>
                          <a:cs typeface="Calibri" pitchFamily="34" charset="-120"/>
                        </a:rPr>
                        <a:t>L4 · Onboarding temprano</a:t>
                      </a:r>
                      <a:endParaRPr lang="en-US" sz="13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algn="l" indent="0" marL="0">
                        <a:buNone/>
                      </a:pPr>
                      <a:r>
                        <a:rPr lang="en-US" sz="1300" dirty="0">
                          <a:solidFill>
                            <a:srgbClr val="1B1F24"/>
                          </a:solidFill>
                          <a:latin typeface="Calibri" pitchFamily="34" charset="0"/>
                          <a:ea typeface="Calibri" pitchFamily="34" charset="-122"/>
                          <a:cs typeface="Calibri" pitchFamily="34" charset="-120"/>
                        </a:rPr>
                        <a:t>Acompañamiento en los meses 1–3; USD 8 por cliente</a:t>
                      </a:r>
                      <a:endParaRPr lang="en-US" sz="13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algn="ctr" indent="0" marL="0">
                        <a:buNone/>
                      </a:pPr>
                      <a:r>
                        <a:rPr lang="en-US" sz="1300" dirty="0">
                          <a:solidFill>
                            <a:srgbClr val="1B1F24"/>
                          </a:solidFill>
                          <a:latin typeface="Calibri" pitchFamily="34" charset="0"/>
                          <a:ea typeface="Calibri" pitchFamily="34" charset="-122"/>
                          <a:cs typeface="Calibri" pitchFamily="34" charset="-120"/>
                        </a:rPr>
                        <a:t>50 / 65 / 80 %</a:t>
                      </a:r>
                      <a:endParaRPr lang="en-US" sz="13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algn="ctr" indent="0" marL="0">
                        <a:buNone/>
                      </a:pPr>
                      <a:r>
                        <a:rPr lang="en-US" sz="1300" dirty="0">
                          <a:solidFill>
                            <a:srgbClr val="1B1F24"/>
                          </a:solidFill>
                          <a:latin typeface="Calibri" pitchFamily="34" charset="0"/>
                          <a:ea typeface="Calibri" pitchFamily="34" charset="-122"/>
                          <a:cs typeface="Calibri" pitchFamily="34" charset="-120"/>
                        </a:rPr>
                        <a:t>5 / 10 / 20 %</a:t>
                      </a:r>
                      <a:endParaRPr lang="en-US" sz="13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algn="l" indent="0" marL="0">
                        <a:buNone/>
                      </a:pPr>
                      <a:r>
                        <a:rPr lang="en-US" sz="1300" dirty="0">
                          <a:solidFill>
                            <a:srgbClr val="1B1F24"/>
                          </a:solidFill>
                          <a:latin typeface="Calibri" pitchFamily="34" charset="0"/>
                          <a:ea typeface="Calibri" pitchFamily="34" charset="-122"/>
                          <a:cs typeface="Calibri" pitchFamily="34" charset="-120"/>
                        </a:rPr>
                        <a:t>Customer Success</a:t>
                      </a:r>
                      <a:endParaRPr lang="en-US" sz="13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r>
              <a:tr h="566928">
                <a:tc>
                  <a:txBody>
                    <a:bodyPr/>
                    <a:lstStyle/>
                    <a:p>
                      <a:pPr algn="l" indent="0" marL="0">
                        <a:buNone/>
                      </a:pPr>
                      <a:r>
                        <a:rPr lang="en-US" sz="1300" b="1" dirty="0">
                          <a:solidFill>
                            <a:srgbClr val="1B1F24"/>
                          </a:solidFill>
                          <a:latin typeface="Calibri" pitchFamily="34" charset="0"/>
                          <a:ea typeface="Calibri" pitchFamily="34" charset="-122"/>
                          <a:cs typeface="Calibri" pitchFamily="34" charset="-120"/>
                        </a:rPr>
                        <a:t>L2 · Bundle de protección</a:t>
                      </a:r>
                      <a:endParaRPr lang="en-US" sz="13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4"/>
                          </a:solidFill>
                          <a:latin typeface="Calibri" pitchFamily="34" charset="0"/>
                          <a:ea typeface="Calibri" pitchFamily="34" charset="-122"/>
                          <a:cs typeface="Calibri" pitchFamily="34" charset="-120"/>
                        </a:rPr>
                        <a:t>3 meses sin costo de seguridad + soporte</a:t>
                      </a:r>
                      <a:endParaRPr lang="en-US" sz="13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4"/>
                          </a:solidFill>
                          <a:latin typeface="Calibri" pitchFamily="34" charset="0"/>
                          <a:ea typeface="Calibri" pitchFamily="34" charset="-122"/>
                          <a:cs typeface="Calibri" pitchFamily="34" charset="-120"/>
                        </a:rPr>
                        <a:t>20 / 30 / 40 %</a:t>
                      </a:r>
                      <a:endParaRPr lang="en-US" sz="13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4"/>
                          </a:solidFill>
                          <a:latin typeface="Calibri" pitchFamily="34" charset="0"/>
                          <a:ea typeface="Calibri" pitchFamily="34" charset="-122"/>
                          <a:cs typeface="Calibri" pitchFamily="34" charset="-120"/>
                        </a:rPr>
                        <a:t>10 / 20 / 30 %</a:t>
                      </a:r>
                      <a:endParaRPr lang="en-US" sz="13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4"/>
                          </a:solidFill>
                          <a:latin typeface="Calibri" pitchFamily="34" charset="0"/>
                          <a:ea typeface="Calibri" pitchFamily="34" charset="-122"/>
                          <a:cs typeface="Calibri" pitchFamily="34" charset="-120"/>
                        </a:rPr>
                        <a:t>Producto / Marketing</a:t>
                      </a:r>
                      <a:endParaRPr lang="en-US" sz="13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300" b="1" dirty="0">
                          <a:solidFill>
                            <a:srgbClr val="1B1F24"/>
                          </a:solidFill>
                          <a:latin typeface="Calibri" pitchFamily="34" charset="0"/>
                          <a:ea typeface="Calibri" pitchFamily="34" charset="-122"/>
                          <a:cs typeface="Calibri" pitchFamily="34" charset="-120"/>
                        </a:rPr>
                        <a:t>L3 · Pago automático</a:t>
                      </a:r>
                      <a:endParaRPr lang="en-US" sz="13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algn="l" indent="0" marL="0">
                        <a:buNone/>
                      </a:pPr>
                      <a:r>
                        <a:rPr lang="en-US" sz="1300" dirty="0">
                          <a:solidFill>
                            <a:srgbClr val="1B1F24"/>
                          </a:solidFill>
                          <a:latin typeface="Calibri" pitchFamily="34" charset="0"/>
                          <a:ea typeface="Calibri" pitchFamily="34" charset="-122"/>
                          <a:cs typeface="Calibri" pitchFamily="34" charset="-120"/>
                        </a:rPr>
                        <a:t>Crédito único de USD 10 al migrar desde cheque</a:t>
                      </a:r>
                      <a:endParaRPr lang="en-US" sz="13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algn="ctr" indent="0" marL="0">
                        <a:buNone/>
                      </a:pPr>
                      <a:r>
                        <a:rPr lang="en-US" sz="1300" dirty="0">
                          <a:solidFill>
                            <a:srgbClr val="1B1F24"/>
                          </a:solidFill>
                          <a:latin typeface="Calibri" pitchFamily="34" charset="0"/>
                          <a:ea typeface="Calibri" pitchFamily="34" charset="-122"/>
                          <a:cs typeface="Calibri" pitchFamily="34" charset="-120"/>
                        </a:rPr>
                        <a:t>20 / 30 / 40 %</a:t>
                      </a:r>
                      <a:endParaRPr lang="en-US" sz="13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algn="ctr" indent="0" marL="0">
                        <a:buNone/>
                      </a:pPr>
                      <a:r>
                        <a:rPr lang="en-US" sz="1300" dirty="0">
                          <a:solidFill>
                            <a:srgbClr val="1B1F24"/>
                          </a:solidFill>
                          <a:latin typeface="Calibri" pitchFamily="34" charset="0"/>
                          <a:ea typeface="Calibri" pitchFamily="34" charset="-122"/>
                          <a:cs typeface="Calibri" pitchFamily="34" charset="-120"/>
                        </a:rPr>
                        <a:t>10 / 15 / 25 %</a:t>
                      </a:r>
                      <a:endParaRPr lang="en-US" sz="13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algn="l" indent="0" marL="0">
                        <a:buNone/>
                      </a:pPr>
                      <a:r>
                        <a:rPr lang="en-US" sz="1300" dirty="0">
                          <a:solidFill>
                            <a:srgbClr val="1B1F24"/>
                          </a:solidFill>
                          <a:latin typeface="Calibri" pitchFamily="34" charset="0"/>
                          <a:ea typeface="Calibri" pitchFamily="34" charset="-122"/>
                          <a:cs typeface="Calibri" pitchFamily="34" charset="-120"/>
                        </a:rPr>
                        <a:t>Facturación</a:t>
                      </a:r>
                      <a:endParaRPr lang="en-US" sz="13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r>
              <a:tr h="566928">
                <a:tc>
                  <a:txBody>
                    <a:bodyPr/>
                    <a:lstStyle/>
                    <a:p>
                      <a:pPr algn="l" indent="0" marL="0">
                        <a:buNone/>
                      </a:pPr>
                      <a:r>
                        <a:rPr lang="en-US" sz="1300" b="1" dirty="0">
                          <a:solidFill>
                            <a:srgbClr val="1B1F24"/>
                          </a:solidFill>
                          <a:latin typeface="Calibri" pitchFamily="34" charset="0"/>
                          <a:ea typeface="Calibri" pitchFamily="34" charset="-122"/>
                          <a:cs typeface="Calibri" pitchFamily="34" charset="-120"/>
                        </a:rPr>
                        <a:t>L1 · Migración a contrato anual</a:t>
                      </a:r>
                      <a:endParaRPr lang="en-US" sz="13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4"/>
                          </a:solidFill>
                          <a:latin typeface="Calibri" pitchFamily="34" charset="0"/>
                          <a:ea typeface="Calibri" pitchFamily="34" charset="-122"/>
                          <a:cs typeface="Calibri" pitchFamily="34" charset="-120"/>
                        </a:rPr>
                        <a:t>10 % de descuento por 12 meses</a:t>
                      </a:r>
                      <a:endParaRPr lang="en-US" sz="13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4"/>
                          </a:solidFill>
                          <a:latin typeface="Calibri" pitchFamily="34" charset="0"/>
                          <a:ea typeface="Calibri" pitchFamily="34" charset="-122"/>
                          <a:cs typeface="Calibri" pitchFamily="34" charset="-120"/>
                        </a:rPr>
                        <a:t>15 / 25 / 35 %</a:t>
                      </a:r>
                      <a:endParaRPr lang="en-US" sz="13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4"/>
                          </a:solidFill>
                          <a:latin typeface="Calibri" pitchFamily="34" charset="0"/>
                          <a:ea typeface="Calibri" pitchFamily="34" charset="-122"/>
                          <a:cs typeface="Calibri" pitchFamily="34" charset="-120"/>
                        </a:rPr>
                        <a:t>20 / 35 / 50 %</a:t>
                      </a:r>
                      <a:endParaRPr lang="en-US" sz="13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4"/>
                          </a:solidFill>
                          <a:latin typeface="Calibri" pitchFamily="34" charset="0"/>
                          <a:ea typeface="Calibri" pitchFamily="34" charset="-122"/>
                          <a:cs typeface="Calibri" pitchFamily="34" charset="-120"/>
                        </a:rPr>
                        <a:t>Comercial de retención</a:t>
                      </a:r>
                      <a:endParaRPr lang="en-US" sz="13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r>
            </a:tbl>
          </a:graphicData>
        </a:graphic>
      </p:graphicFrame>
      <p:sp>
        <p:nvSpPr>
          <p:cNvPr id="6" name="Shape 2"/>
          <p:cNvSpPr/>
          <p:nvPr/>
        </p:nvSpPr>
        <p:spPr>
          <a:xfrm>
            <a:off x="548640" y="4526280"/>
            <a:ext cx="2240280" cy="1371600"/>
          </a:xfrm>
          <a:prstGeom prst="roundRect">
            <a:avLst>
              <a:gd name="adj" fmla="val 5333"/>
            </a:avLst>
          </a:prstGeom>
          <a:solidFill>
            <a:srgbClr val="F3F5F8"/>
          </a:solidFill>
          <a:ln w="12700">
            <a:solidFill>
              <a:srgbClr val="F3F5F8"/>
            </a:solidFill>
            <a:prstDash val="solid"/>
          </a:ln>
        </p:spPr>
        <p:txBody>
          <a:bodyPr/>
          <a:p/>
        </p:txBody>
      </p:sp>
      <p:sp>
        <p:nvSpPr>
          <p:cNvPr id="7" name="Text 3"/>
          <p:cNvSpPr txBox="1"/>
          <p:nvPr/>
        </p:nvSpPr>
        <p:spPr>
          <a:xfrm>
            <a:off x="731520" y="4654296"/>
            <a:ext cx="1874520" cy="65836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45 / 55 / 65 %</a:t>
            </a:r>
            <a:endParaRPr lang="en-US" sz="2000" dirty="0"/>
          </a:p>
        </p:txBody>
      </p:sp>
      <p:sp>
        <p:nvSpPr>
          <p:cNvPr id="8" name="Text 4"/>
          <p:cNvSpPr txBox="1"/>
          <p:nvPr/>
        </p:nvSpPr>
        <p:spPr>
          <a:xfrm>
            <a:off x="731520" y="5312664"/>
            <a:ext cx="1874520" cy="493776"/>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Margen de contribución</a:t>
            </a:r>
            <a:endParaRPr lang="en-US" sz="1300" dirty="0"/>
          </a:p>
        </p:txBody>
      </p:sp>
      <p:sp>
        <p:nvSpPr>
          <p:cNvPr id="9" name="Shape 5"/>
          <p:cNvSpPr/>
          <p:nvPr/>
        </p:nvSpPr>
        <p:spPr>
          <a:xfrm>
            <a:off x="2926080" y="4526280"/>
            <a:ext cx="2240280" cy="1371600"/>
          </a:xfrm>
          <a:prstGeom prst="roundRect">
            <a:avLst>
              <a:gd name="adj" fmla="val 5333"/>
            </a:avLst>
          </a:prstGeom>
          <a:solidFill>
            <a:srgbClr val="F3F5F8"/>
          </a:solidFill>
          <a:ln w="12700">
            <a:solidFill>
              <a:srgbClr val="F3F5F8"/>
            </a:solidFill>
            <a:prstDash val="solid"/>
          </a:ln>
        </p:spPr>
        <p:txBody>
          <a:bodyPr/>
          <a:p/>
        </p:txBody>
      </p:sp>
      <p:sp>
        <p:nvSpPr>
          <p:cNvPr id="10" name="Text 6"/>
          <p:cNvSpPr txBox="1"/>
          <p:nvPr/>
        </p:nvSpPr>
        <p:spPr>
          <a:xfrm>
            <a:off x="3108960" y="4654296"/>
            <a:ext cx="1874520" cy="65836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6 / 12 / 18</a:t>
            </a:r>
            <a:endParaRPr lang="en-US" sz="2000" dirty="0"/>
          </a:p>
        </p:txBody>
      </p:sp>
      <p:sp>
        <p:nvSpPr>
          <p:cNvPr id="11" name="Text 7"/>
          <p:cNvSpPr txBox="1"/>
          <p:nvPr/>
        </p:nvSpPr>
        <p:spPr>
          <a:xfrm>
            <a:off x="3108960" y="5312664"/>
            <a:ext cx="1874520" cy="493776"/>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Meses de permanencia del cliente salvado</a:t>
            </a:r>
            <a:endParaRPr lang="en-US" sz="1300" dirty="0"/>
          </a:p>
        </p:txBody>
      </p:sp>
      <p:sp>
        <p:nvSpPr>
          <p:cNvPr id="12" name="Shape 8"/>
          <p:cNvSpPr/>
          <p:nvPr/>
        </p:nvSpPr>
        <p:spPr>
          <a:xfrm>
            <a:off x="5303520" y="4526280"/>
            <a:ext cx="2240280" cy="1371600"/>
          </a:xfrm>
          <a:prstGeom prst="roundRect">
            <a:avLst>
              <a:gd name="adj" fmla="val 5333"/>
            </a:avLst>
          </a:prstGeom>
          <a:solidFill>
            <a:srgbClr val="F3F5F8"/>
          </a:solidFill>
          <a:ln w="12700">
            <a:solidFill>
              <a:srgbClr val="F3F5F8"/>
            </a:solidFill>
            <a:prstDash val="solid"/>
          </a:ln>
        </p:spPr>
        <p:txBody>
          <a:bodyPr/>
          <a:p/>
        </p:txBody>
      </p:sp>
      <p:sp>
        <p:nvSpPr>
          <p:cNvPr id="13" name="Text 9"/>
          <p:cNvSpPr txBox="1"/>
          <p:nvPr/>
        </p:nvSpPr>
        <p:spPr>
          <a:xfrm>
            <a:off x="5486400" y="4654296"/>
            <a:ext cx="1874520" cy="65836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USD 2</a:t>
            </a:r>
            <a:endParaRPr lang="en-US" sz="2000" dirty="0"/>
          </a:p>
        </p:txBody>
      </p:sp>
      <p:sp>
        <p:nvSpPr>
          <p:cNvPr id="14" name="Text 10"/>
          <p:cNvSpPr txBox="1"/>
          <p:nvPr/>
        </p:nvSpPr>
        <p:spPr>
          <a:xfrm>
            <a:off x="5486400" y="5312664"/>
            <a:ext cx="1874520" cy="493776"/>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Costo de contacto (L1–L3)</a:t>
            </a:r>
            <a:endParaRPr lang="en-US" sz="1300" dirty="0"/>
          </a:p>
        </p:txBody>
      </p:sp>
      <p:sp>
        <p:nvSpPr>
          <p:cNvPr id="15" name="Shape 11"/>
          <p:cNvSpPr/>
          <p:nvPr/>
        </p:nvSpPr>
        <p:spPr>
          <a:xfrm>
            <a:off x="7772400" y="4526280"/>
            <a:ext cx="3867912" cy="1371600"/>
          </a:xfrm>
          <a:prstGeom prst="roundRect">
            <a:avLst>
              <a:gd name="adj" fmla="val 5333"/>
            </a:avLst>
          </a:prstGeom>
          <a:solidFill>
            <a:srgbClr val="EEF4FC"/>
          </a:solidFill>
          <a:ln w="12700">
            <a:solidFill>
              <a:srgbClr val="EEF4FC"/>
            </a:solidFill>
            <a:prstDash val="solid"/>
          </a:ln>
        </p:spPr>
        <p:txBody>
          <a:bodyPr/>
          <a:p/>
        </p:txBody>
      </p:sp>
      <p:sp>
        <p:nvSpPr>
          <p:cNvPr id="16" name="Text 12"/>
          <p:cNvSpPr txBox="1"/>
          <p:nvPr/>
        </p:nvSpPr>
        <p:spPr>
          <a:xfrm>
            <a:off x="7955280" y="4572000"/>
            <a:ext cx="3566160" cy="1280160"/>
          </a:xfrm>
          <a:prstGeom prst="rect">
            <a:avLst/>
          </a:prstGeom>
          <a:noFill/>
          <a:ln/>
        </p:spPr>
        <p:txBody>
          <a:bodyPr wrap="square" lIns="0" tIns="0" rIns="0" bIns="0" rtlCol="0" anchor="ctr"/>
          <a:lstStyle/>
          <a:p>
            <a:pPr indent="0" marL="0">
              <a:spcAft>
                <a:spcPts val="300"/>
              </a:spcAft>
              <a:buNone/>
            </a:pPr>
            <a:r>
              <a:rPr lang="en-US" sz="1300" b="1" dirty="0">
                <a:solidFill>
                  <a:srgbClr val="13294B"/>
                </a:solidFill>
                <a:latin typeface="Calibri" pitchFamily="34" charset="0"/>
                <a:ea typeface="Calibri" pitchFamily="34" charset="-122"/>
                <a:cs typeface="Calibri" pitchFamily="34" charset="-120"/>
              </a:rPr>
              <a:t>Valor esperado por cliente</a:t>
            </a:r>
            <a:endParaRPr lang="en-US" sz="1300" dirty="0"/>
          </a:p>
          <a:p>
            <a:pPr indent="0" marL="0">
              <a:spcAft>
                <a:spcPts val="300"/>
              </a:spcAft>
              <a:buNone/>
            </a:pPr>
            <a:r>
              <a:rPr lang="en-US" sz="1300" dirty="0">
                <a:solidFill>
                  <a:srgbClr val="1B1F24"/>
                </a:solidFill>
                <a:latin typeface="Calibri" pitchFamily="34" charset="0"/>
                <a:ea typeface="Calibri" pitchFamily="34" charset="-122"/>
                <a:cs typeface="Calibri" pitchFamily="34" charset="-120"/>
              </a:rPr>
              <a:t>p(churn) × aceptación × reducción × cargo × margen × horizonte</a:t>
            </a:r>
            <a:endParaRPr lang="en-US" sz="1300" dirty="0"/>
          </a:p>
          <a:p>
            <a:pPr indent="0" marL="0">
              <a:spcAft>
                <a:spcPts val="300"/>
              </a:spcAft>
              <a:buNone/>
            </a:pPr>
            <a:r>
              <a:rPr lang="en-US" sz="1300" dirty="0">
                <a:solidFill>
                  <a:srgbClr val="5B6573"/>
                </a:solidFill>
                <a:latin typeface="Calibri" pitchFamily="34" charset="0"/>
                <a:ea typeface="Calibri" pitchFamily="34" charset="-122"/>
                <a:cs typeface="Calibri" pitchFamily="34" charset="-120"/>
              </a:rPr>
              <a:t>Costo = contacto + aceptación × incentivo</a:t>
            </a:r>
            <a:endParaRPr lang="en-US" sz="1300" dirty="0"/>
          </a:p>
        </p:txBody>
      </p:sp>
      <p:sp>
        <p:nvSpPr>
          <p:cNvPr id="25" name="Slide Number Placeholder 0"/>
          <p:cNvSpPr>
            <a:spLocks noGrp="1"/>
          </p:cNvSpPr>
          <p:nvPr>
            <p:ph type="sldNum" sz="quarter" idx="4294967295"/>
          </p:nvPr>
        </p:nvSpPr>
        <p:spPr>
          <a:xfrm>
            <a:off x="11091672"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5B6573"/>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164592"/>
            <a:ext cx="11091672" cy="256032"/>
          </a:xfrm>
          <a:prstGeom prst="rect">
            <a:avLst/>
          </a:prstGeom>
          <a:noFill/>
          <a:ln/>
        </p:spPr>
        <p:txBody>
          <a:bodyPr wrap="square" lIns="0" tIns="0" rIns="0" bIns="0" rtlCol="0" anchor="ctr"/>
          <a:lstStyle/>
          <a:p>
            <a:pPr indent="0" marL="0">
              <a:buNone/>
            </a:pPr>
            <a:r>
              <a:rPr lang="en-US" sz="1100" b="1" spc="50" kern="0" dirty="0">
                <a:solidFill>
                  <a:srgbClr val="2A78D6"/>
                </a:solidFill>
                <a:latin typeface="Calibri" pitchFamily="34" charset="0"/>
                <a:ea typeface="Calibri" pitchFamily="34" charset="-122"/>
                <a:cs typeface="Calibri" pitchFamily="34" charset="-120"/>
              </a:rPr>
              <a:t>04 · IMPACTO Y DASHBOARD</a:t>
            </a:r>
            <a:pPr indent="0" marL="0">
              <a:buNone/>
            </a:pPr>
            <a:endParaRPr lang="en-US" sz="1100" dirty="0"/>
          </a:p>
        </p:txBody>
      </p:sp>
      <p:sp>
        <p:nvSpPr>
          <p:cNvPr id="3" name="Text 0"/>
          <p:cNvSpPr/>
          <p:nvPr>
            <p:ph idx="100" type="title" hasCustomPrompt="1"/>
          </p:nvPr>
        </p:nvSpPr>
        <p:spPr>
          <a:xfrm>
            <a:off x="548640" y="457200"/>
            <a:ext cx="11091672" cy="841248"/>
          </a:xfrm>
          <a:prstGeom prst="rect">
            <a:avLst/>
          </a:prstGeom>
          <a:noFill/>
          <a:ln/>
        </p:spPr>
        <p:txBody>
          <a:bodyPr wrap="square" lIns="0" tIns="0" rIns="0" bIns="0" rtlCol="0" anchor="t"/>
          <a:lstStyle/>
          <a:p>
            <a:pPr algn="l" indent="0" marL="0">
              <a:buNone/>
            </a:pPr>
            <a:r>
              <a:rPr lang="en-US" sz="2400" b="1" dirty="0">
                <a:solidFill>
                  <a:srgbClr val="13294B"/>
                </a:solidFill>
                <a:latin typeface="Cambria" pitchFamily="34" charset="0"/>
                <a:ea typeface="Cambria" pitchFamily="34" charset="-122"/>
                <a:cs typeface="Cambria" pitchFamily="34" charset="-120"/>
              </a:rPr>
              <a:t>Focalizar paga en el escenario base (+179 %); el descuento masivo pierde dinero (−32 %)</a:t>
            </a:r>
            <a:endParaRPr lang="en-US" sz="2400" dirty="0"/>
          </a:p>
        </p:txBody>
      </p:sp>
      <p:sp>
        <p:nvSpPr>
          <p:cNvPr id="5" name="Text 2"/>
          <p:cNvSpPr txBox="1"/>
          <p:nvPr/>
        </p:nvSpPr>
        <p:spPr>
          <a:xfrm>
            <a:off x="548640" y="1371600"/>
            <a:ext cx="7315200" cy="292608"/>
          </a:xfrm>
          <a:prstGeom prst="rect">
            <a:avLst/>
          </a:prstGeom>
          <a:noFill/>
          <a:ln/>
        </p:spPr>
        <p:txBody>
          <a:bodyPr wrap="square" lIns="0" tIns="0" rIns="0" bIns="0" rtlCol="0" anchor="ctr"/>
          <a:lstStyle/>
          <a:p>
            <a:pPr indent="0" marL="0">
              <a:buNone/>
            </a:pPr>
            <a:r>
              <a:rPr lang="en-US" sz="1400" b="1" dirty="0">
                <a:solidFill>
                  <a:srgbClr val="1B1F24"/>
                </a:solidFill>
                <a:latin typeface="Calibri" pitchFamily="34" charset="0"/>
                <a:ea typeface="Calibri" pitchFamily="34" charset="-122"/>
                <a:cs typeface="Calibri" pitchFamily="34" charset="-120"/>
              </a:rPr>
              <a:t>ROI estimado por alternativa y escenario</a:t>
            </a:r>
            <a:endParaRPr lang="en-US" sz="1400" dirty="0"/>
          </a:p>
        </p:txBody>
      </p:sp>
      <p:sp>
        <p:nvSpPr>
          <p:cNvPr id="6" name="Text 3"/>
          <p:cNvSpPr txBox="1"/>
          <p:nvPr/>
        </p:nvSpPr>
        <p:spPr>
          <a:xfrm>
            <a:off x="548640" y="1664208"/>
            <a:ext cx="7315200" cy="256032"/>
          </a:xfrm>
          <a:prstGeom prst="rect">
            <a:avLst/>
          </a:prstGeom>
          <a:noFill/>
          <a:ln/>
        </p:spPr>
        <p:txBody>
          <a:bodyPr wrap="square" lIns="0" tIns="0" rIns="0" bIns="0" rtlCol="0" anchor="ctr"/>
          <a:lstStyle/>
          <a:p>
            <a:pPr indent="0" marL="0">
              <a:buNone/>
            </a:pPr>
            <a:r>
              <a:rPr lang="en-US" sz="1100" dirty="0">
                <a:solidFill>
                  <a:srgbClr val="5B6573"/>
                </a:solidFill>
                <a:latin typeface="Calibri" pitchFamily="34" charset="0"/>
                <a:ea typeface="Calibri" pitchFamily="34" charset="-122"/>
                <a:cs typeface="Calibri" pitchFamily="34" charset="-120"/>
              </a:rPr>
              <a:t>Conservador · base · optimista</a:t>
            </a:r>
            <a:endParaRPr lang="en-US" sz="1100" dirty="0"/>
          </a:p>
        </p:txBody>
      </p:sp>
      <p:graphicFrame>
        <p:nvGraphicFramePr>
          <p:cNvPr id="7" name="Chart 0" descr=""/>
          <p:cNvGraphicFramePr/>
          <p:nvPr/>
        </p:nvGraphicFramePr>
        <p:xfrm>
          <a:off x="457200" y="1920240"/>
          <a:ext cx="7406640" cy="4023360"/>
        </p:xfrm>
        <a:graphic xmlns:a="http://schemas.openxmlformats.org/drawingml/2006/main">
          <a:graphicData uri="http://schemas.openxmlformats.org/drawingml/2006/chart">
            <c:chart xmlns:c="http://schemas.openxmlformats.org/drawingml/2006/chart" r:id="rId1"/>
          </a:graphicData>
        </a:graphic>
      </p:graphicFrame>
      <p:sp>
        <p:nvSpPr>
          <p:cNvPr id="8" name="Shape 4"/>
          <p:cNvSpPr/>
          <p:nvPr/>
        </p:nvSpPr>
        <p:spPr>
          <a:xfrm>
            <a:off x="8229600" y="1417320"/>
            <a:ext cx="3410712" cy="1371600"/>
          </a:xfrm>
          <a:prstGeom prst="roundRect">
            <a:avLst>
              <a:gd name="adj" fmla="val 5333"/>
            </a:avLst>
          </a:prstGeom>
          <a:solidFill>
            <a:srgbClr val="F3F5F8"/>
          </a:solidFill>
          <a:ln w="12700">
            <a:solidFill>
              <a:srgbClr val="F3F5F8"/>
            </a:solidFill>
            <a:prstDash val="solid"/>
          </a:ln>
        </p:spPr>
        <p:txBody>
          <a:bodyPr/>
          <a:p/>
        </p:txBody>
      </p:sp>
      <p:sp>
        <p:nvSpPr>
          <p:cNvPr id="9" name="Text 5"/>
          <p:cNvSpPr txBox="1"/>
          <p:nvPr/>
        </p:nvSpPr>
        <p:spPr>
          <a:xfrm>
            <a:off x="8412480" y="1545336"/>
            <a:ext cx="3044952" cy="658368"/>
          </a:xfrm>
          <a:prstGeom prst="rect">
            <a:avLst/>
          </a:prstGeom>
          <a:noFill/>
          <a:ln/>
        </p:spPr>
        <p:txBody>
          <a:bodyPr wrap="square" lIns="0" tIns="0" rIns="0" bIns="0" rtlCol="0" anchor="ctr"/>
          <a:lstStyle/>
          <a:p>
            <a:pPr indent="0" marL="0">
              <a:buNone/>
            </a:pPr>
            <a:r>
              <a:rPr lang="en-US" sz="3000" b="1" dirty="0">
                <a:solidFill>
                  <a:srgbClr val="138A3F"/>
                </a:solidFill>
                <a:latin typeface="Cambria" pitchFamily="34" charset="0"/>
                <a:ea typeface="Cambria" pitchFamily="34" charset="-122"/>
                <a:cs typeface="Cambria" pitchFamily="34" charset="-120"/>
              </a:rPr>
              <a:t>+179 %</a:t>
            </a:r>
            <a:endParaRPr lang="en-US" sz="3000" dirty="0"/>
          </a:p>
        </p:txBody>
      </p:sp>
      <p:sp>
        <p:nvSpPr>
          <p:cNvPr id="10" name="Text 6"/>
          <p:cNvSpPr txBox="1"/>
          <p:nvPr/>
        </p:nvSpPr>
        <p:spPr>
          <a:xfrm>
            <a:off x="8412480" y="2203704"/>
            <a:ext cx="3044952" cy="493776"/>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ROI base del programa focalizado (820 clientes)</a:t>
            </a:r>
            <a:endParaRPr lang="en-US" sz="1300" dirty="0"/>
          </a:p>
        </p:txBody>
      </p:sp>
      <p:sp>
        <p:nvSpPr>
          <p:cNvPr id="11" name="Shape 7"/>
          <p:cNvSpPr/>
          <p:nvPr/>
        </p:nvSpPr>
        <p:spPr>
          <a:xfrm>
            <a:off x="8229600" y="2926080"/>
            <a:ext cx="3410712" cy="1371600"/>
          </a:xfrm>
          <a:prstGeom prst="roundRect">
            <a:avLst>
              <a:gd name="adj" fmla="val 5333"/>
            </a:avLst>
          </a:prstGeom>
          <a:solidFill>
            <a:srgbClr val="F3F5F8"/>
          </a:solidFill>
          <a:ln w="12700">
            <a:solidFill>
              <a:srgbClr val="F3F5F8"/>
            </a:solidFill>
            <a:prstDash val="solid"/>
          </a:ln>
        </p:spPr>
        <p:txBody>
          <a:bodyPr/>
          <a:p/>
        </p:txBody>
      </p:sp>
      <p:sp>
        <p:nvSpPr>
          <p:cNvPr id="12" name="Text 8"/>
          <p:cNvSpPr txBox="1"/>
          <p:nvPr/>
        </p:nvSpPr>
        <p:spPr>
          <a:xfrm>
            <a:off x="8412480" y="3054096"/>
            <a:ext cx="3044952" cy="658368"/>
          </a:xfrm>
          <a:prstGeom prst="rect">
            <a:avLst/>
          </a:prstGeom>
          <a:noFill/>
          <a:ln/>
        </p:spPr>
        <p:txBody>
          <a:bodyPr wrap="square" lIns="0" tIns="0" rIns="0" bIns="0" rtlCol="0" anchor="ctr"/>
          <a:lstStyle/>
          <a:p>
            <a:pPr indent="0" marL="0">
              <a:buNone/>
            </a:pPr>
            <a:r>
              <a:rPr lang="en-US" sz="2400" b="1" dirty="0">
                <a:solidFill>
                  <a:srgbClr val="13294B"/>
                </a:solidFill>
                <a:latin typeface="Cambria" pitchFamily="34" charset="0"/>
                <a:ea typeface="Cambria" pitchFamily="34" charset="-122"/>
                <a:cs typeface="Cambria" pitchFamily="34" charset="-120"/>
              </a:rPr>
              <a:t>USD 184 vs. 677</a:t>
            </a:r>
            <a:endParaRPr lang="en-US" sz="2400" dirty="0"/>
          </a:p>
        </p:txBody>
      </p:sp>
      <p:sp>
        <p:nvSpPr>
          <p:cNvPr id="13" name="Text 9"/>
          <p:cNvSpPr txBox="1"/>
          <p:nvPr/>
        </p:nvSpPr>
        <p:spPr>
          <a:xfrm>
            <a:off x="8412480" y="3712464"/>
            <a:ext cx="3044952" cy="493776"/>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costo por cliente salvado: focalizado frente a masivo</a:t>
            </a:r>
            <a:endParaRPr lang="en-US" sz="1300" dirty="0"/>
          </a:p>
        </p:txBody>
      </p:sp>
      <p:sp>
        <p:nvSpPr>
          <p:cNvPr id="14" name="Shape 10"/>
          <p:cNvSpPr/>
          <p:nvPr/>
        </p:nvSpPr>
        <p:spPr>
          <a:xfrm>
            <a:off x="8229600" y="4434840"/>
            <a:ext cx="3410712" cy="1463040"/>
          </a:xfrm>
          <a:prstGeom prst="roundRect">
            <a:avLst>
              <a:gd name="adj" fmla="val 5000"/>
            </a:avLst>
          </a:prstGeom>
          <a:solidFill>
            <a:srgbClr val="F3F5F8"/>
          </a:solidFill>
          <a:ln w="12700">
            <a:solidFill>
              <a:srgbClr val="F3F5F8"/>
            </a:solidFill>
            <a:prstDash val="solid"/>
          </a:ln>
        </p:spPr>
        <p:txBody>
          <a:bodyPr/>
          <a:p/>
        </p:txBody>
      </p:sp>
      <p:sp>
        <p:nvSpPr>
          <p:cNvPr id="15" name="Text 11"/>
          <p:cNvSpPr txBox="1"/>
          <p:nvPr/>
        </p:nvSpPr>
        <p:spPr>
          <a:xfrm>
            <a:off x="8412480" y="4562856"/>
            <a:ext cx="3044952" cy="702259"/>
          </a:xfrm>
          <a:prstGeom prst="rect">
            <a:avLst/>
          </a:prstGeom>
          <a:noFill/>
          <a:ln/>
        </p:spPr>
        <p:txBody>
          <a:bodyPr wrap="square" lIns="0" tIns="0" rIns="0" bIns="0" rtlCol="0" anchor="ctr"/>
          <a:lstStyle/>
          <a:p>
            <a:pPr indent="0" marL="0">
              <a:buNone/>
            </a:pPr>
            <a:r>
              <a:rPr lang="en-US" sz="3000" b="1" dirty="0">
                <a:solidFill>
                  <a:srgbClr val="C8312F"/>
                </a:solidFill>
                <a:latin typeface="Cambria" pitchFamily="34" charset="0"/>
                <a:ea typeface="Cambria" pitchFamily="34" charset="-122"/>
                <a:cs typeface="Cambria" pitchFamily="34" charset="-120"/>
              </a:rPr>
              <a:t>−48 %</a:t>
            </a:r>
            <a:endParaRPr lang="en-US" sz="3000" dirty="0"/>
          </a:p>
        </p:txBody>
      </p:sp>
      <p:sp>
        <p:nvSpPr>
          <p:cNvPr id="16" name="Text 12"/>
          <p:cNvSpPr txBox="1"/>
          <p:nvPr/>
        </p:nvSpPr>
        <p:spPr>
          <a:xfrm>
            <a:off x="8412480" y="5265115"/>
            <a:ext cx="3044952" cy="541325"/>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en el escenario conservador: por eso se valida con piloto</a:t>
            </a:r>
            <a:endParaRPr lang="en-US" sz="1300" dirty="0"/>
          </a:p>
        </p:txBody>
      </p:sp>
      <p:sp>
        <p:nvSpPr>
          <p:cNvPr id="25" name="Slide Number Placeholder 0"/>
          <p:cNvSpPr>
            <a:spLocks noGrp="1"/>
          </p:cNvSpPr>
          <p:nvPr>
            <p:ph type="sldNum" sz="quarter" idx="4294967295"/>
          </p:nvPr>
        </p:nvSpPr>
        <p:spPr>
          <a:xfrm>
            <a:off x="11091672"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5B6573"/>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164592"/>
            <a:ext cx="11091672" cy="256032"/>
          </a:xfrm>
          <a:prstGeom prst="rect">
            <a:avLst/>
          </a:prstGeom>
          <a:noFill/>
          <a:ln/>
        </p:spPr>
        <p:txBody>
          <a:bodyPr wrap="square" lIns="0" tIns="0" rIns="0" bIns="0" rtlCol="0" anchor="ctr"/>
          <a:lstStyle/>
          <a:p>
            <a:pPr indent="0" marL="0">
              <a:buNone/>
            </a:pPr>
            <a:r>
              <a:rPr lang="en-US" sz="1100" b="1" spc="50" kern="0" dirty="0">
                <a:solidFill>
                  <a:srgbClr val="2A78D6"/>
                </a:solidFill>
                <a:latin typeface="Calibri" pitchFamily="34" charset="0"/>
                <a:ea typeface="Calibri" pitchFamily="34" charset="-122"/>
                <a:cs typeface="Calibri" pitchFamily="34" charset="-120"/>
              </a:rPr>
              <a:t>04 · IMPACTO Y DASHBOARD</a:t>
            </a:r>
            <a:pPr indent="0" marL="0">
              <a:buNone/>
            </a:pPr>
            <a:endParaRPr lang="en-US" sz="1100" dirty="0"/>
          </a:p>
        </p:txBody>
      </p:sp>
      <p:sp>
        <p:nvSpPr>
          <p:cNvPr id="3" name="Text 0"/>
          <p:cNvSpPr/>
          <p:nvPr>
            <p:ph idx="100" type="title" hasCustomPrompt="1"/>
          </p:nvPr>
        </p:nvSpPr>
        <p:spPr>
          <a:xfrm>
            <a:off x="548640" y="457200"/>
            <a:ext cx="11091672" cy="841248"/>
          </a:xfrm>
          <a:prstGeom prst="rect">
            <a:avLst/>
          </a:prstGeom>
          <a:noFill/>
          <a:ln/>
        </p:spPr>
        <p:txBody>
          <a:bodyPr wrap="square" lIns="0" tIns="0" rIns="0" bIns="0" rtlCol="0" anchor="t"/>
          <a:lstStyle/>
          <a:p>
            <a:pPr algn="l" indent="0" marL="0">
              <a:buNone/>
            </a:pPr>
            <a:r>
              <a:rPr lang="en-US" sz="2400" b="1" dirty="0">
                <a:solidFill>
                  <a:srgbClr val="13294B"/>
                </a:solidFill>
                <a:latin typeface="Cambria" pitchFamily="34" charset="0"/>
                <a:ea typeface="Cambria" pitchFamily="34" charset="-122"/>
                <a:cs typeface="Cambria" pitchFamily="34" charset="-120"/>
              </a:rPr>
              <a:t>Basta una reducción atribuible de 5 % para recuperar la inversión: esa es la meta del piloto</a:t>
            </a:r>
            <a:endParaRPr lang="en-US" sz="2400" dirty="0"/>
          </a:p>
        </p:txBody>
      </p:sp>
      <p:sp>
        <p:nvSpPr>
          <p:cNvPr id="5" name="Text 2"/>
          <p:cNvSpPr txBox="1"/>
          <p:nvPr/>
        </p:nvSpPr>
        <p:spPr>
          <a:xfrm>
            <a:off x="548640" y="1371600"/>
            <a:ext cx="6675120" cy="292608"/>
          </a:xfrm>
          <a:prstGeom prst="rect">
            <a:avLst/>
          </a:prstGeom>
          <a:noFill/>
          <a:ln/>
        </p:spPr>
        <p:txBody>
          <a:bodyPr wrap="square" lIns="0" tIns="0" rIns="0" bIns="0" rtlCol="0" anchor="ctr"/>
          <a:lstStyle/>
          <a:p>
            <a:pPr indent="0" marL="0">
              <a:buNone/>
            </a:pPr>
            <a:r>
              <a:rPr lang="en-US" sz="1400" b="1" dirty="0">
                <a:solidFill>
                  <a:srgbClr val="1B1F24"/>
                </a:solidFill>
                <a:latin typeface="Calibri" pitchFamily="34" charset="0"/>
                <a:ea typeface="Calibri" pitchFamily="34" charset="-122"/>
                <a:cs typeface="Calibri" pitchFamily="34" charset="-120"/>
              </a:rPr>
              <a:t>ROI del programa focalizado según la reducción atribuible</a:t>
            </a:r>
            <a:endParaRPr lang="en-US" sz="1400" dirty="0"/>
          </a:p>
        </p:txBody>
      </p:sp>
      <p:sp>
        <p:nvSpPr>
          <p:cNvPr id="6" name="Text 3"/>
          <p:cNvSpPr txBox="1"/>
          <p:nvPr/>
        </p:nvSpPr>
        <p:spPr>
          <a:xfrm>
            <a:off x="548640" y="1664208"/>
            <a:ext cx="6675120" cy="256032"/>
          </a:xfrm>
          <a:prstGeom prst="rect">
            <a:avLst/>
          </a:prstGeom>
          <a:noFill/>
          <a:ln/>
        </p:spPr>
        <p:txBody>
          <a:bodyPr wrap="square" lIns="0" tIns="0" rIns="0" bIns="0" rtlCol="0" anchor="ctr"/>
          <a:lstStyle/>
          <a:p>
            <a:pPr indent="0" marL="0">
              <a:buNone/>
            </a:pPr>
            <a:r>
              <a:rPr lang="en-US" sz="1100" dirty="0">
                <a:solidFill>
                  <a:srgbClr val="5B6573"/>
                </a:solidFill>
                <a:latin typeface="Calibri" pitchFamily="34" charset="0"/>
                <a:ea typeface="Calibri" pitchFamily="34" charset="-122"/>
                <a:cs typeface="Calibri" pitchFamily="34" charset="-120"/>
              </a:rPr>
              <a:t>Escenario base · horizonte de permanencia de 6, 12 y 18 meses</a:t>
            </a:r>
            <a:endParaRPr lang="en-US" sz="1100" dirty="0"/>
          </a:p>
        </p:txBody>
      </p:sp>
      <p:graphicFrame>
        <p:nvGraphicFramePr>
          <p:cNvPr id="7" name="Chart 0" descr=""/>
          <p:cNvGraphicFramePr/>
          <p:nvPr/>
        </p:nvGraphicFramePr>
        <p:xfrm>
          <a:off x="457200" y="1920240"/>
          <a:ext cx="6766560" cy="4023360"/>
        </p:xfrm>
        <a:graphic xmlns:a="http://schemas.openxmlformats.org/drawingml/2006/main">
          <a:graphicData uri="http://schemas.openxmlformats.org/drawingml/2006/chart">
            <c:chart xmlns:c="http://schemas.openxmlformats.org/drawingml/2006/chart" r:id="rId1"/>
          </a:graphicData>
        </a:graphic>
      </p:graphicFrame>
      <p:sp>
        <p:nvSpPr>
          <p:cNvPr id="8" name="Shape 4"/>
          <p:cNvSpPr/>
          <p:nvPr/>
        </p:nvSpPr>
        <p:spPr>
          <a:xfrm>
            <a:off x="7543800" y="1417320"/>
            <a:ext cx="4096512" cy="4526280"/>
          </a:xfrm>
          <a:prstGeom prst="roundRect">
            <a:avLst>
              <a:gd name="adj" fmla="val 1786"/>
            </a:avLst>
          </a:prstGeom>
          <a:solidFill>
            <a:srgbClr val="F3F5F8"/>
          </a:solidFill>
          <a:ln w="12700">
            <a:solidFill>
              <a:srgbClr val="F3F5F8"/>
            </a:solidFill>
            <a:prstDash val="solid"/>
          </a:ln>
        </p:spPr>
        <p:txBody>
          <a:bodyPr/>
          <a:p/>
        </p:txBody>
      </p:sp>
      <p:sp>
        <p:nvSpPr>
          <p:cNvPr id="9" name="Text 5"/>
          <p:cNvSpPr txBox="1"/>
          <p:nvPr/>
        </p:nvSpPr>
        <p:spPr>
          <a:xfrm>
            <a:off x="7772400" y="1572768"/>
            <a:ext cx="3657600" cy="310896"/>
          </a:xfrm>
          <a:prstGeom prst="rect">
            <a:avLst/>
          </a:prstGeom>
          <a:noFill/>
          <a:ln/>
        </p:spPr>
        <p:txBody>
          <a:bodyPr wrap="square" lIns="0" tIns="0" rIns="0" bIns="0" rtlCol="0" anchor="t"/>
          <a:lstStyle/>
          <a:p>
            <a:pPr indent="0" marL="0">
              <a:buNone/>
            </a:pPr>
            <a:r>
              <a:rPr lang="en-US" sz="1500" b="1" dirty="0">
                <a:solidFill>
                  <a:srgbClr val="13294B"/>
                </a:solidFill>
                <a:latin typeface="Calibri" pitchFamily="34" charset="0"/>
                <a:ea typeface="Calibri" pitchFamily="34" charset="-122"/>
                <a:cs typeface="Calibri" pitchFamily="34" charset="-120"/>
              </a:rPr>
              <a:t>Diseño del piloto A/B</a:t>
            </a:r>
            <a:endParaRPr lang="en-US" sz="1500" dirty="0"/>
          </a:p>
        </p:txBody>
      </p:sp>
      <p:sp>
        <p:nvSpPr>
          <p:cNvPr id="10" name="Text 6"/>
          <p:cNvSpPr txBox="1"/>
          <p:nvPr/>
        </p:nvSpPr>
        <p:spPr>
          <a:xfrm>
            <a:off x="7772400" y="1965960"/>
            <a:ext cx="3703320" cy="3931920"/>
          </a:xfrm>
          <a:prstGeom prst="rect">
            <a:avLst/>
          </a:prstGeom>
          <a:noFill/>
          <a:ln/>
        </p:spPr>
        <p:txBody>
          <a:bodyPr wrap="square" lIns="0" tIns="0" rIns="0" bIns="0" rtlCol="0" anchor="t"/>
          <a:lstStyle/>
          <a:p>
            <a:pPr marL="177800" indent="-177800">
              <a:spcAft>
                <a:spcPts val="600"/>
              </a:spcAft>
              <a:buSzPct val="100000"/>
              <a:buChar char="•"/>
            </a:pPr>
            <a:r>
              <a:rPr lang="en-US" sz="1350" b="1" dirty="0">
                <a:solidFill>
                  <a:srgbClr val="13294B"/>
                </a:solidFill>
                <a:latin typeface="Calibri" pitchFamily="34" charset="0"/>
                <a:ea typeface="Calibri" pitchFamily="34" charset="-122"/>
                <a:cs typeface="Calibri" pitchFamily="34" charset="-120"/>
              </a:rPr>
              <a:t>Población: </a:t>
            </a:r>
            <a:pPr indent="0" marL="0">
              <a:spcAft>
                <a:spcPts val="600"/>
              </a:spcAft>
              <a:buNone/>
            </a:pPr>
            <a:r>
              <a:rPr lang="en-US" sz="1350" dirty="0">
                <a:solidFill>
                  <a:srgbClr val="1B1F24"/>
                </a:solidFill>
                <a:latin typeface="Calibri" pitchFamily="34" charset="0"/>
                <a:ea typeface="Calibri" pitchFamily="34" charset="-122"/>
                <a:cs typeface="Calibri" pitchFamily="34" charset="-120"/>
              </a:rPr>
              <a:t>820 clientes de riesgo alto; 410 por brazo, estratificado por palanca.</a:t>
            </a:r>
            <a:endParaRPr lang="en-US" sz="1350" dirty="0"/>
          </a:p>
          <a:p>
            <a:pPr marL="177800" indent="-177800">
              <a:spcAft>
                <a:spcPts val="600"/>
              </a:spcAft>
              <a:buSzPct val="100000"/>
              <a:buChar char="•"/>
            </a:pPr>
            <a:r>
              <a:rPr lang="en-US" sz="1350" b="1" dirty="0">
                <a:solidFill>
                  <a:srgbClr val="13294B"/>
                </a:solidFill>
                <a:latin typeface="Calibri" pitchFamily="34" charset="0"/>
                <a:ea typeface="Calibri" pitchFamily="34" charset="-122"/>
                <a:cs typeface="Calibri" pitchFamily="34" charset="-120"/>
              </a:rPr>
              <a:t>Métrica primaria: </a:t>
            </a:r>
            <a:pPr indent="0" marL="0">
              <a:spcAft>
                <a:spcPts val="600"/>
              </a:spcAft>
              <a:buNone/>
            </a:pPr>
            <a:r>
              <a:rPr lang="en-US" sz="1350" dirty="0">
                <a:solidFill>
                  <a:srgbClr val="1B1F24"/>
                </a:solidFill>
                <a:latin typeface="Calibri" pitchFamily="34" charset="0"/>
                <a:ea typeface="Calibri" pitchFamily="34" charset="-122"/>
                <a:cs typeface="Calibri" pitchFamily="34" charset="-120"/>
              </a:rPr>
              <a:t>churn a 90 días frente al grupo control.</a:t>
            </a:r>
            <a:endParaRPr lang="en-US" sz="1350" dirty="0"/>
          </a:p>
          <a:p>
            <a:pPr marL="177800" indent="-177800">
              <a:spcAft>
                <a:spcPts val="600"/>
              </a:spcAft>
              <a:buSzPct val="100000"/>
              <a:buChar char="•"/>
            </a:pPr>
            <a:r>
              <a:rPr lang="en-US" sz="1350" b="1" dirty="0">
                <a:solidFill>
                  <a:srgbClr val="13294B"/>
                </a:solidFill>
                <a:latin typeface="Calibri" pitchFamily="34" charset="0"/>
                <a:ea typeface="Calibri" pitchFamily="34" charset="-122"/>
                <a:cs typeface="Calibri" pitchFamily="34" charset="-120"/>
              </a:rPr>
              <a:t>Secundarias: </a:t>
            </a:r>
            <a:pPr indent="0" marL="0">
              <a:spcAft>
                <a:spcPts val="600"/>
              </a:spcAft>
              <a:buNone/>
            </a:pPr>
            <a:r>
              <a:rPr lang="en-US" sz="1350" dirty="0">
                <a:solidFill>
                  <a:srgbClr val="1B1F24"/>
                </a:solidFill>
                <a:latin typeface="Calibri" pitchFamily="34" charset="0"/>
                <a:ea typeface="Calibri" pitchFamily="34" charset="-122"/>
                <a:cs typeface="Calibri" pitchFamily="34" charset="-120"/>
              </a:rPr>
              <a:t>aceptación, adopción de protección y cambio a pago automático.</a:t>
            </a:r>
            <a:endParaRPr lang="en-US" sz="1350" dirty="0"/>
          </a:p>
          <a:p>
            <a:pPr marL="177800" indent="-177800">
              <a:spcAft>
                <a:spcPts val="600"/>
              </a:spcAft>
              <a:buSzPct val="100000"/>
              <a:buChar char="•"/>
            </a:pPr>
            <a:r>
              <a:rPr lang="en-US" sz="1350" b="1" dirty="0">
                <a:solidFill>
                  <a:srgbClr val="13294B"/>
                </a:solidFill>
                <a:latin typeface="Calibri" pitchFamily="34" charset="0"/>
                <a:ea typeface="Calibri" pitchFamily="34" charset="-122"/>
                <a:cs typeface="Calibri" pitchFamily="34" charset="-120"/>
              </a:rPr>
              <a:t>Guardrails: </a:t>
            </a:r>
            <a:pPr indent="0" marL="0">
              <a:spcAft>
                <a:spcPts val="600"/>
              </a:spcAft>
              <a:buNone/>
            </a:pPr>
            <a:r>
              <a:rPr lang="en-US" sz="1350" dirty="0">
                <a:solidFill>
                  <a:srgbClr val="1B1F24"/>
                </a:solidFill>
                <a:latin typeface="Calibri" pitchFamily="34" charset="0"/>
                <a:ea typeface="Calibri" pitchFamily="34" charset="-122"/>
                <a:cs typeface="Calibri" pitchFamily="34" charset="-120"/>
              </a:rPr>
              <a:t>ARPU, costo por cliente salvado y reclamos.</a:t>
            </a:r>
            <a:endParaRPr lang="en-US" sz="1350" dirty="0"/>
          </a:p>
          <a:p>
            <a:pPr marL="177800" indent="-177800">
              <a:spcAft>
                <a:spcPts val="600"/>
              </a:spcAft>
              <a:buSzPct val="100000"/>
              <a:buChar char="•"/>
            </a:pPr>
            <a:r>
              <a:rPr lang="en-US" sz="1350" b="1" dirty="0">
                <a:solidFill>
                  <a:srgbClr val="13294B"/>
                </a:solidFill>
                <a:latin typeface="Calibri" pitchFamily="34" charset="0"/>
                <a:ea typeface="Calibri" pitchFamily="34" charset="-122"/>
                <a:cs typeface="Calibri" pitchFamily="34" charset="-120"/>
              </a:rPr>
              <a:t>Poder: </a:t>
            </a:r>
            <a:pPr indent="0" marL="0">
              <a:spcAft>
                <a:spcPts val="600"/>
              </a:spcAft>
              <a:buNone/>
            </a:pPr>
            <a:r>
              <a:rPr lang="en-US" sz="1350" dirty="0">
                <a:solidFill>
                  <a:srgbClr val="1B1F24"/>
                </a:solidFill>
                <a:latin typeface="Calibri" pitchFamily="34" charset="0"/>
                <a:ea typeface="Calibri" pitchFamily="34" charset="-122"/>
                <a:cs typeface="Calibri" pitchFamily="34" charset="-120"/>
              </a:rPr>
              <a:t>efecto esperado 3,4 pp vs. MDE 9,7 pp: acumular ≈ 9 cortes.</a:t>
            </a:r>
            <a:endParaRPr lang="en-US" sz="1350" dirty="0"/>
          </a:p>
        </p:txBody>
      </p:sp>
      <p:sp>
        <p:nvSpPr>
          <p:cNvPr id="25" name="Slide Number Placeholder 0"/>
          <p:cNvSpPr>
            <a:spLocks noGrp="1"/>
          </p:cNvSpPr>
          <p:nvPr>
            <p:ph type="sldNum" sz="quarter" idx="4294967295"/>
          </p:nvPr>
        </p:nvSpPr>
        <p:spPr>
          <a:xfrm>
            <a:off x="11091672"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5B6573"/>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164592"/>
            <a:ext cx="11091672" cy="256032"/>
          </a:xfrm>
          <a:prstGeom prst="rect">
            <a:avLst/>
          </a:prstGeom>
          <a:noFill/>
          <a:ln/>
        </p:spPr>
        <p:txBody>
          <a:bodyPr wrap="square" lIns="0" tIns="0" rIns="0" bIns="0" rtlCol="0" anchor="ctr"/>
          <a:lstStyle/>
          <a:p>
            <a:pPr indent="0" marL="0">
              <a:buNone/>
            </a:pPr>
            <a:r>
              <a:rPr lang="en-US" sz="1100" b="1" spc="50" kern="0" dirty="0">
                <a:solidFill>
                  <a:srgbClr val="2A78D6"/>
                </a:solidFill>
                <a:latin typeface="Calibri" pitchFamily="34" charset="0"/>
                <a:ea typeface="Calibri" pitchFamily="34" charset="-122"/>
                <a:cs typeface="Calibri" pitchFamily="34" charset="-120"/>
              </a:rPr>
              <a:t>04 · IMPACTO Y DASHBOARD</a:t>
            </a:r>
            <a:pPr indent="0" marL="0">
              <a:buNone/>
            </a:pPr>
            <a:endParaRPr lang="en-US" sz="1100" dirty="0"/>
          </a:p>
        </p:txBody>
      </p:sp>
      <p:sp>
        <p:nvSpPr>
          <p:cNvPr id="3" name="Text 0"/>
          <p:cNvSpPr/>
          <p:nvPr>
            <p:ph idx="100" type="title" hasCustomPrompt="1"/>
          </p:nvPr>
        </p:nvSpPr>
        <p:spPr>
          <a:xfrm>
            <a:off x="548640" y="457200"/>
            <a:ext cx="11091672" cy="841248"/>
          </a:xfrm>
          <a:prstGeom prst="rect">
            <a:avLst/>
          </a:prstGeom>
          <a:noFill/>
          <a:ln/>
        </p:spPr>
        <p:txBody>
          <a:bodyPr wrap="square" lIns="0" tIns="0" rIns="0" bIns="0" rtlCol="0" anchor="t"/>
          <a:lstStyle/>
          <a:p>
            <a:pPr algn="l" indent="0" marL="0">
              <a:buNone/>
            </a:pPr>
            <a:r>
              <a:rPr lang="en-US" sz="2400" b="1" dirty="0">
                <a:solidFill>
                  <a:srgbClr val="13294B"/>
                </a:solidFill>
                <a:latin typeface="Cambria" pitchFamily="34" charset="0"/>
                <a:ea typeface="Cambria" pitchFamily="34" charset="-122"/>
                <a:cs typeface="Cambria" pitchFamily="34" charset="-120"/>
              </a:rPr>
              <a:t>Vista ejecutiva: dimensiona la pérdida y fija el foco del mes</a:t>
            </a:r>
            <a:endParaRPr lang="en-US" sz="2400" dirty="0"/>
          </a:p>
        </p:txBody>
      </p:sp>
      <p:sp>
        <p:nvSpPr>
          <p:cNvPr id="5" name="Shape 2"/>
          <p:cNvSpPr/>
          <p:nvPr/>
        </p:nvSpPr>
        <p:spPr>
          <a:xfrm>
            <a:off x="512064" y="1380744"/>
            <a:ext cx="7159752" cy="4060033"/>
          </a:xfrm>
          <a:prstGeom prst="rect">
            <a:avLst/>
          </a:prstGeom>
          <a:solidFill>
            <a:srgbClr val="DDE3EA"/>
          </a:solidFill>
          <a:ln w="12700">
            <a:solidFill>
              <a:srgbClr val="DDE3EA"/>
            </a:solidFill>
            <a:prstDash val="solid"/>
          </a:ln>
        </p:spPr>
        <p:txBody>
          <a:bodyPr/>
          <a:p/>
        </p:txBody>
      </p:sp>
      <p:pic>
        <p:nvPicPr>
          <p:cNvPr id="6" name="Image 0" descr="Captura del dashboard de Power BI">    </p:cNvPr>
          <p:cNvPicPr>
            <a:picLocks noChangeAspect="1"/>
          </p:cNvPicPr>
          <p:nvPr/>
        </p:nvPicPr>
        <p:blipFill>
          <a:blip r:embed="rId1"/>
          <a:stretch>
            <a:fillRect/>
          </a:stretch>
        </p:blipFill>
        <p:spPr>
          <a:xfrm>
            <a:off x="548640" y="1417320"/>
            <a:ext cx="7086600" cy="3986881"/>
          </a:xfrm>
          <a:prstGeom prst="rect">
            <a:avLst/>
          </a:prstGeom>
        </p:spPr>
      </p:pic>
      <p:sp>
        <p:nvSpPr>
          <p:cNvPr id="7" name="Text 3"/>
          <p:cNvSpPr txBox="1"/>
          <p:nvPr/>
        </p:nvSpPr>
        <p:spPr>
          <a:xfrm>
            <a:off x="548640" y="5532217"/>
            <a:ext cx="7086600" cy="274320"/>
          </a:xfrm>
          <a:prstGeom prst="rect">
            <a:avLst/>
          </a:prstGeom>
          <a:noFill/>
          <a:ln/>
        </p:spPr>
        <p:txBody>
          <a:bodyPr wrap="square" lIns="0" tIns="0" rIns="0" bIns="0" rtlCol="0" anchor="ctr"/>
          <a:lstStyle/>
          <a:p>
            <a:pPr indent="0" marL="0">
              <a:buNone/>
            </a:pPr>
            <a:r>
              <a:rPr lang="en-US" sz="1100" i="1" dirty="0">
                <a:solidFill>
                  <a:srgbClr val="5B6573"/>
                </a:solidFill>
                <a:latin typeface="Calibri" pitchFamily="34" charset="0"/>
                <a:ea typeface="Calibri" pitchFamily="34" charset="-122"/>
                <a:cs typeface="Calibri" pitchFamily="34" charset="-120"/>
              </a:rPr>
              <a:t>Power BI · página 1 de 5 · Vista ejecutiva (Comité Directivo y Gerencia de Retención)</a:t>
            </a:r>
            <a:endParaRPr lang="en-US" sz="1100" dirty="0"/>
          </a:p>
        </p:txBody>
      </p:sp>
      <p:sp>
        <p:nvSpPr>
          <p:cNvPr id="8" name="Shape 4"/>
          <p:cNvSpPr/>
          <p:nvPr/>
        </p:nvSpPr>
        <p:spPr>
          <a:xfrm>
            <a:off x="7909560" y="1417320"/>
            <a:ext cx="3730752" cy="4526280"/>
          </a:xfrm>
          <a:prstGeom prst="roundRect">
            <a:avLst>
              <a:gd name="adj" fmla="val 1961"/>
            </a:avLst>
          </a:prstGeom>
          <a:solidFill>
            <a:srgbClr val="EEF4FC"/>
          </a:solidFill>
          <a:ln w="12700">
            <a:solidFill>
              <a:srgbClr val="EEF4FC"/>
            </a:solidFill>
            <a:prstDash val="solid"/>
          </a:ln>
        </p:spPr>
        <p:txBody>
          <a:bodyPr/>
          <a:p/>
        </p:txBody>
      </p:sp>
      <p:sp>
        <p:nvSpPr>
          <p:cNvPr id="9" name="Text 5"/>
          <p:cNvSpPr txBox="1"/>
          <p:nvPr/>
        </p:nvSpPr>
        <p:spPr>
          <a:xfrm>
            <a:off x="8119872" y="1554480"/>
            <a:ext cx="3383280" cy="256032"/>
          </a:xfrm>
          <a:prstGeom prst="rect">
            <a:avLst/>
          </a:prstGeom>
          <a:noFill/>
          <a:ln/>
        </p:spPr>
        <p:txBody>
          <a:bodyPr wrap="square" lIns="0" tIns="0" rIns="0" bIns="0" rtlCol="0" anchor="ctr"/>
          <a:lstStyle/>
          <a:p>
            <a:pPr indent="0" marL="0">
              <a:buNone/>
            </a:pPr>
            <a:r>
              <a:rPr lang="en-US" sz="1100" b="1" spc="100" kern="0" dirty="0">
                <a:solidFill>
                  <a:srgbClr val="2A78D6"/>
                </a:solidFill>
                <a:latin typeface="Calibri" pitchFamily="34" charset="0"/>
                <a:ea typeface="Calibri" pitchFamily="34" charset="-122"/>
                <a:cs typeface="Calibri" pitchFamily="34" charset="-120"/>
              </a:rPr>
              <a:t>PREGUNTA QUE RESPONDE</a:t>
            </a:r>
            <a:endParaRPr lang="en-US" sz="1100" dirty="0"/>
          </a:p>
        </p:txBody>
      </p:sp>
      <p:sp>
        <p:nvSpPr>
          <p:cNvPr id="10" name="Text 6"/>
          <p:cNvSpPr txBox="1"/>
          <p:nvPr/>
        </p:nvSpPr>
        <p:spPr>
          <a:xfrm>
            <a:off x="8119872" y="1810512"/>
            <a:ext cx="3383280" cy="566928"/>
          </a:xfrm>
          <a:prstGeom prst="rect">
            <a:avLst/>
          </a:prstGeom>
          <a:noFill/>
          <a:ln/>
        </p:spPr>
        <p:txBody>
          <a:bodyPr wrap="square" lIns="0" tIns="0" rIns="0" bIns="0" rtlCol="0" anchor="t"/>
          <a:lstStyle/>
          <a:p>
            <a:pPr indent="0" marL="0">
              <a:buNone/>
            </a:pPr>
            <a:r>
              <a:rPr lang="en-US" sz="1500" b="1" dirty="0">
                <a:solidFill>
                  <a:srgbClr val="13294B"/>
                </a:solidFill>
                <a:latin typeface="Cambria" pitchFamily="34" charset="0"/>
                <a:ea typeface="Cambria" pitchFamily="34" charset="-122"/>
                <a:cs typeface="Cambria" pitchFamily="34" charset="-120"/>
              </a:rPr>
              <a:t>¿Cuánto valor perdemos y dónde?</a:t>
            </a:r>
            <a:endParaRPr lang="en-US" sz="1500" dirty="0"/>
          </a:p>
        </p:txBody>
      </p:sp>
      <p:sp>
        <p:nvSpPr>
          <p:cNvPr id="11" name="Text 7"/>
          <p:cNvSpPr txBox="1"/>
          <p:nvPr/>
        </p:nvSpPr>
        <p:spPr>
          <a:xfrm>
            <a:off x="8119872" y="2487168"/>
            <a:ext cx="3383280" cy="256032"/>
          </a:xfrm>
          <a:prstGeom prst="rect">
            <a:avLst/>
          </a:prstGeom>
          <a:noFill/>
          <a:ln/>
        </p:spPr>
        <p:txBody>
          <a:bodyPr wrap="square" lIns="0" tIns="0" rIns="0" bIns="0" rtlCol="0" anchor="ctr"/>
          <a:lstStyle/>
          <a:p>
            <a:pPr indent="0" marL="0">
              <a:buNone/>
            </a:pPr>
            <a:r>
              <a:rPr lang="en-US" sz="1100" b="1" spc="100" kern="0" dirty="0">
                <a:solidFill>
                  <a:srgbClr val="2A78D6"/>
                </a:solidFill>
                <a:latin typeface="Calibri" pitchFamily="34" charset="0"/>
                <a:ea typeface="Calibri" pitchFamily="34" charset="-122"/>
                <a:cs typeface="Calibri" pitchFamily="34" charset="-120"/>
              </a:rPr>
              <a:t>ACCIONES QUE TOMAMOS CON ESTA VISTA</a:t>
            </a:r>
            <a:endParaRPr lang="en-US" sz="1100" dirty="0"/>
          </a:p>
        </p:txBody>
      </p:sp>
      <p:sp>
        <p:nvSpPr>
          <p:cNvPr id="12" name="Shape 8"/>
          <p:cNvSpPr/>
          <p:nvPr/>
        </p:nvSpPr>
        <p:spPr>
          <a:xfrm>
            <a:off x="8119872" y="2834640"/>
            <a:ext cx="329184" cy="329184"/>
          </a:xfrm>
          <a:prstGeom prst="ellipse">
            <a:avLst/>
          </a:prstGeom>
          <a:solidFill>
            <a:srgbClr val="EB6834"/>
          </a:solidFill>
          <a:ln w="12700">
            <a:solidFill>
              <a:srgbClr val="EB6834"/>
            </a:solidFill>
            <a:prstDash val="solid"/>
          </a:ln>
        </p:spPr>
        <p:txBody>
          <a:bodyPr/>
          <a:p/>
        </p:txBody>
      </p:sp>
      <p:sp>
        <p:nvSpPr>
          <p:cNvPr id="13" name="Text 9"/>
          <p:cNvSpPr txBox="1"/>
          <p:nvPr/>
        </p:nvSpPr>
        <p:spPr>
          <a:xfrm>
            <a:off x="8119872" y="28346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4" name="Text 10"/>
          <p:cNvSpPr txBox="1"/>
          <p:nvPr/>
        </p:nvSpPr>
        <p:spPr>
          <a:xfrm>
            <a:off x="8558784" y="2816352"/>
            <a:ext cx="2971800" cy="987552"/>
          </a:xfrm>
          <a:prstGeom prst="rect">
            <a:avLst/>
          </a:prstGeom>
          <a:noFill/>
          <a:ln/>
        </p:spPr>
        <p:txBody>
          <a:bodyPr wrap="square" lIns="0" tIns="0" rIns="0" bIns="0" rtlCol="0" anchor="t"/>
          <a:lstStyle/>
          <a:p>
            <a:pPr indent="0" marL="0">
              <a:buNone/>
            </a:pPr>
            <a:r>
              <a:rPr lang="en-US" sz="1250" b="1" dirty="0">
                <a:solidFill>
                  <a:srgbClr val="13294B"/>
                </a:solidFill>
                <a:latin typeface="Calibri" pitchFamily="34" charset="0"/>
                <a:ea typeface="Calibri" pitchFamily="34" charset="-122"/>
                <a:cs typeface="Calibri" pitchFamily="34" charset="-120"/>
              </a:rPr>
              <a:t>North Star en amarillo (69,5 %)</a:t>
            </a:r>
            <a:endParaRPr lang="en-US" sz="1250" dirty="0"/>
          </a:p>
          <a:p>
            <a:pPr indent="0" marL="0">
              <a:buNone/>
            </a:pPr>
            <a:r>
              <a:rPr lang="en-US" sz="1250" dirty="0">
                <a:solidFill>
                  <a:srgbClr val="1B1F24"/>
                </a:solidFill>
                <a:latin typeface="Calibri" pitchFamily="34" charset="0"/>
                <a:ea typeface="Calibri" pitchFamily="34" charset="-122"/>
                <a:cs typeface="Calibri" pitchFamily="34" charset="-120"/>
              </a:rPr>
              <a:t>El Comité aprueba presupuesto para retención focalizada, no para descuentos generales.</a:t>
            </a:r>
            <a:endParaRPr lang="en-US" sz="1250" dirty="0"/>
          </a:p>
        </p:txBody>
      </p:sp>
      <p:sp>
        <p:nvSpPr>
          <p:cNvPr id="15" name="Shape 11"/>
          <p:cNvSpPr/>
          <p:nvPr/>
        </p:nvSpPr>
        <p:spPr>
          <a:xfrm>
            <a:off x="8119872" y="3858768"/>
            <a:ext cx="329184" cy="329184"/>
          </a:xfrm>
          <a:prstGeom prst="ellipse">
            <a:avLst/>
          </a:prstGeom>
          <a:solidFill>
            <a:srgbClr val="EB6834"/>
          </a:solidFill>
          <a:ln w="12700">
            <a:solidFill>
              <a:srgbClr val="EB6834"/>
            </a:solidFill>
            <a:prstDash val="solid"/>
          </a:ln>
        </p:spPr>
        <p:txBody>
          <a:bodyPr/>
          <a:p/>
        </p:txBody>
      </p:sp>
      <p:sp>
        <p:nvSpPr>
          <p:cNvPr id="16" name="Text 12"/>
          <p:cNvSpPr txBox="1"/>
          <p:nvPr/>
        </p:nvSpPr>
        <p:spPr>
          <a:xfrm>
            <a:off x="8119872" y="385876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7" name="Text 13"/>
          <p:cNvSpPr txBox="1"/>
          <p:nvPr/>
        </p:nvSpPr>
        <p:spPr>
          <a:xfrm>
            <a:off x="8558784" y="3840480"/>
            <a:ext cx="2971800" cy="987552"/>
          </a:xfrm>
          <a:prstGeom prst="rect">
            <a:avLst/>
          </a:prstGeom>
          <a:noFill/>
          <a:ln/>
        </p:spPr>
        <p:txBody>
          <a:bodyPr wrap="square" lIns="0" tIns="0" rIns="0" bIns="0" rtlCol="0" anchor="t"/>
          <a:lstStyle/>
          <a:p>
            <a:pPr indent="0" marL="0">
              <a:buNone/>
            </a:pPr>
            <a:r>
              <a:rPr lang="en-US" sz="1250" b="1" dirty="0">
                <a:solidFill>
                  <a:srgbClr val="13294B"/>
                </a:solidFill>
                <a:latin typeface="Calibri" pitchFamily="34" charset="0"/>
                <a:ea typeface="Calibri" pitchFamily="34" charset="-122"/>
                <a:cs typeface="Calibri" pitchFamily="34" charset="-120"/>
              </a:rPr>
              <a:t>87 % del MRR perdido es mes a mes</a:t>
            </a:r>
            <a:endParaRPr lang="en-US" sz="1250" dirty="0"/>
          </a:p>
          <a:p>
            <a:pPr indent="0" marL="0">
              <a:buNone/>
            </a:pPr>
            <a:r>
              <a:rPr lang="en-US" sz="1250" dirty="0">
                <a:solidFill>
                  <a:srgbClr val="1B1F24"/>
                </a:solidFill>
                <a:latin typeface="Calibri" pitchFamily="34" charset="0"/>
                <a:ea typeface="Calibri" pitchFamily="34" charset="-122"/>
                <a:cs typeface="Calibri" pitchFamily="34" charset="-120"/>
              </a:rPr>
              <a:t>La lista de trabajo del mes se arma con mes a mes y fibra (72 % de la pérdida).</a:t>
            </a:r>
            <a:endParaRPr lang="en-US" sz="1250" dirty="0"/>
          </a:p>
        </p:txBody>
      </p:sp>
      <p:sp>
        <p:nvSpPr>
          <p:cNvPr id="18" name="Shape 14"/>
          <p:cNvSpPr/>
          <p:nvPr/>
        </p:nvSpPr>
        <p:spPr>
          <a:xfrm>
            <a:off x="8119872" y="4882896"/>
            <a:ext cx="329184" cy="329184"/>
          </a:xfrm>
          <a:prstGeom prst="ellipse">
            <a:avLst/>
          </a:prstGeom>
          <a:solidFill>
            <a:srgbClr val="EB6834"/>
          </a:solidFill>
          <a:ln w="12700">
            <a:solidFill>
              <a:srgbClr val="EB6834"/>
            </a:solidFill>
            <a:prstDash val="solid"/>
          </a:ln>
        </p:spPr>
        <p:txBody>
          <a:bodyPr/>
          <a:p/>
        </p:txBody>
      </p:sp>
      <p:sp>
        <p:nvSpPr>
          <p:cNvPr id="19" name="Text 15"/>
          <p:cNvSpPr txBox="1"/>
          <p:nvPr/>
        </p:nvSpPr>
        <p:spPr>
          <a:xfrm>
            <a:off x="8119872" y="488289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6"/>
          <p:cNvSpPr txBox="1"/>
          <p:nvPr/>
        </p:nvSpPr>
        <p:spPr>
          <a:xfrm>
            <a:off x="8558784" y="4864608"/>
            <a:ext cx="2971800" cy="987552"/>
          </a:xfrm>
          <a:prstGeom prst="rect">
            <a:avLst/>
          </a:prstGeom>
          <a:noFill/>
          <a:ln/>
        </p:spPr>
        <p:txBody>
          <a:bodyPr wrap="square" lIns="0" tIns="0" rIns="0" bIns="0" rtlCol="0" anchor="t"/>
          <a:lstStyle/>
          <a:p>
            <a:pPr indent="0" marL="0">
              <a:buNone/>
            </a:pPr>
            <a:r>
              <a:rPr lang="en-US" sz="1250" b="1" dirty="0">
                <a:solidFill>
                  <a:srgbClr val="13294B"/>
                </a:solidFill>
                <a:latin typeface="Calibri" pitchFamily="34" charset="0"/>
                <a:ea typeface="Calibri" pitchFamily="34" charset="-122"/>
                <a:cs typeface="Calibri" pitchFamily="34" charset="-120"/>
              </a:rPr>
              <a:t>Churn temprano de 52,9 % (rojo)</a:t>
            </a:r>
            <a:endParaRPr lang="en-US" sz="1250" dirty="0"/>
          </a:p>
          <a:p>
            <a:pPr indent="0" marL="0">
              <a:buNone/>
            </a:pPr>
            <a:r>
              <a:rPr lang="en-US" sz="1250" dirty="0">
                <a:solidFill>
                  <a:srgbClr val="1B1F24"/>
                </a:solidFill>
                <a:latin typeface="Calibri" pitchFamily="34" charset="0"/>
                <a:ea typeface="Calibri" pitchFamily="34" charset="-122"/>
                <a:cs typeface="Calibri" pitchFamily="34" charset="-120"/>
              </a:rPr>
              <a:t>Se activa el onboarding L4 para todos los clientes de 0 a 6 meses.</a:t>
            </a:r>
            <a:endParaRPr lang="en-US" sz="1250" dirty="0"/>
          </a:p>
        </p:txBody>
      </p:sp>
      <p:sp>
        <p:nvSpPr>
          <p:cNvPr id="25" name="Slide Number Placeholder 0"/>
          <p:cNvSpPr>
            <a:spLocks noGrp="1"/>
          </p:cNvSpPr>
          <p:nvPr>
            <p:ph type="sldNum" sz="quarter" idx="4294967295"/>
          </p:nvPr>
        </p:nvSpPr>
        <p:spPr>
          <a:xfrm>
            <a:off x="11091672"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5B6573"/>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164592"/>
            <a:ext cx="11091672" cy="256032"/>
          </a:xfrm>
          <a:prstGeom prst="rect">
            <a:avLst/>
          </a:prstGeom>
          <a:noFill/>
          <a:ln/>
        </p:spPr>
        <p:txBody>
          <a:bodyPr wrap="square" lIns="0" tIns="0" rIns="0" bIns="0" rtlCol="0" anchor="ctr"/>
          <a:lstStyle/>
          <a:p>
            <a:pPr indent="0" marL="0">
              <a:buNone/>
            </a:pPr>
            <a:r>
              <a:rPr lang="en-US" sz="1100" b="1" spc="50" kern="0" dirty="0">
                <a:solidFill>
                  <a:srgbClr val="2A78D6"/>
                </a:solidFill>
                <a:latin typeface="Calibri" pitchFamily="34" charset="0"/>
                <a:ea typeface="Calibri" pitchFamily="34" charset="-122"/>
                <a:cs typeface="Calibri" pitchFamily="34" charset="-120"/>
              </a:rPr>
              <a:t>04 · IMPACTO Y DASHBOARD</a:t>
            </a:r>
            <a:pPr indent="0" marL="0">
              <a:buNone/>
            </a:pPr>
            <a:endParaRPr lang="en-US" sz="1100" dirty="0"/>
          </a:p>
        </p:txBody>
      </p:sp>
      <p:sp>
        <p:nvSpPr>
          <p:cNvPr id="3" name="Text 0"/>
          <p:cNvSpPr/>
          <p:nvPr>
            <p:ph idx="100" type="title" hasCustomPrompt="1"/>
          </p:nvPr>
        </p:nvSpPr>
        <p:spPr>
          <a:xfrm>
            <a:off x="548640" y="457200"/>
            <a:ext cx="11091672" cy="841248"/>
          </a:xfrm>
          <a:prstGeom prst="rect">
            <a:avLst/>
          </a:prstGeom>
          <a:noFill/>
          <a:ln/>
        </p:spPr>
        <p:txBody>
          <a:bodyPr wrap="square" lIns="0" tIns="0" rIns="0" bIns="0" rtlCol="0" anchor="t"/>
          <a:lstStyle/>
          <a:p>
            <a:pPr algn="l" indent="0" marL="0">
              <a:buNone/>
            </a:pPr>
            <a:r>
              <a:rPr lang="en-US" sz="2400" b="1" dirty="0">
                <a:solidFill>
                  <a:srgbClr val="13294B"/>
                </a:solidFill>
                <a:latin typeface="Cambria" pitchFamily="34" charset="0"/>
                <a:ea typeface="Cambria" pitchFamily="34" charset="-122"/>
                <a:cs typeface="Cambria" pitchFamily="34" charset="-120"/>
              </a:rPr>
              <a:t>Vista diagnóstica: explica por qué se van y qué palanca corresponde</a:t>
            </a:r>
            <a:endParaRPr lang="en-US" sz="2400" dirty="0"/>
          </a:p>
        </p:txBody>
      </p:sp>
      <p:sp>
        <p:nvSpPr>
          <p:cNvPr id="5" name="Shape 2"/>
          <p:cNvSpPr/>
          <p:nvPr/>
        </p:nvSpPr>
        <p:spPr>
          <a:xfrm>
            <a:off x="512064" y="1380744"/>
            <a:ext cx="7159752" cy="4060033"/>
          </a:xfrm>
          <a:prstGeom prst="rect">
            <a:avLst/>
          </a:prstGeom>
          <a:solidFill>
            <a:srgbClr val="DDE3EA"/>
          </a:solidFill>
          <a:ln w="12700">
            <a:solidFill>
              <a:srgbClr val="DDE3EA"/>
            </a:solidFill>
            <a:prstDash val="solid"/>
          </a:ln>
        </p:spPr>
        <p:txBody>
          <a:bodyPr/>
          <a:p/>
        </p:txBody>
      </p:sp>
      <p:pic>
        <p:nvPicPr>
          <p:cNvPr id="6" name="Image 0" descr="Captura del dashboard de Power BI">    </p:cNvPr>
          <p:cNvPicPr>
            <a:picLocks noChangeAspect="1"/>
          </p:cNvPicPr>
          <p:nvPr/>
        </p:nvPicPr>
        <p:blipFill>
          <a:blip r:embed="rId1"/>
          <a:stretch>
            <a:fillRect/>
          </a:stretch>
        </p:blipFill>
        <p:spPr>
          <a:xfrm>
            <a:off x="548640" y="1417320"/>
            <a:ext cx="7086600" cy="3986881"/>
          </a:xfrm>
          <a:prstGeom prst="rect">
            <a:avLst/>
          </a:prstGeom>
        </p:spPr>
      </p:pic>
      <p:sp>
        <p:nvSpPr>
          <p:cNvPr id="7" name="Text 3"/>
          <p:cNvSpPr txBox="1"/>
          <p:nvPr/>
        </p:nvSpPr>
        <p:spPr>
          <a:xfrm>
            <a:off x="548640" y="5532217"/>
            <a:ext cx="7086600" cy="274320"/>
          </a:xfrm>
          <a:prstGeom prst="rect">
            <a:avLst/>
          </a:prstGeom>
          <a:noFill/>
          <a:ln/>
        </p:spPr>
        <p:txBody>
          <a:bodyPr wrap="square" lIns="0" tIns="0" rIns="0" bIns="0" rtlCol="0" anchor="ctr"/>
          <a:lstStyle/>
          <a:p>
            <a:pPr indent="0" marL="0">
              <a:buNone/>
            </a:pPr>
            <a:r>
              <a:rPr lang="en-US" sz="1100" i="1" dirty="0">
                <a:solidFill>
                  <a:srgbClr val="5B6573"/>
                </a:solidFill>
                <a:latin typeface="Calibri" pitchFamily="34" charset="0"/>
                <a:ea typeface="Calibri" pitchFamily="34" charset="-122"/>
                <a:cs typeface="Calibri" pitchFamily="34" charset="-120"/>
              </a:rPr>
              <a:t>Power BI · página 2 de 5 · Vista diagnóstica (Gerencia y Analítica); filtros sincronizados con la vista 1</a:t>
            </a:r>
            <a:endParaRPr lang="en-US" sz="1100" dirty="0"/>
          </a:p>
        </p:txBody>
      </p:sp>
      <p:sp>
        <p:nvSpPr>
          <p:cNvPr id="8" name="Shape 4"/>
          <p:cNvSpPr/>
          <p:nvPr/>
        </p:nvSpPr>
        <p:spPr>
          <a:xfrm>
            <a:off x="7909560" y="1417320"/>
            <a:ext cx="3730752" cy="4526280"/>
          </a:xfrm>
          <a:prstGeom prst="roundRect">
            <a:avLst>
              <a:gd name="adj" fmla="val 1961"/>
            </a:avLst>
          </a:prstGeom>
          <a:solidFill>
            <a:srgbClr val="EEF4FC"/>
          </a:solidFill>
          <a:ln w="12700">
            <a:solidFill>
              <a:srgbClr val="EEF4FC"/>
            </a:solidFill>
            <a:prstDash val="solid"/>
          </a:ln>
        </p:spPr>
        <p:txBody>
          <a:bodyPr/>
          <a:p/>
        </p:txBody>
      </p:sp>
      <p:sp>
        <p:nvSpPr>
          <p:cNvPr id="9" name="Text 5"/>
          <p:cNvSpPr txBox="1"/>
          <p:nvPr/>
        </p:nvSpPr>
        <p:spPr>
          <a:xfrm>
            <a:off x="8119872" y="1554480"/>
            <a:ext cx="3383280" cy="256032"/>
          </a:xfrm>
          <a:prstGeom prst="rect">
            <a:avLst/>
          </a:prstGeom>
          <a:noFill/>
          <a:ln/>
        </p:spPr>
        <p:txBody>
          <a:bodyPr wrap="square" lIns="0" tIns="0" rIns="0" bIns="0" rtlCol="0" anchor="ctr"/>
          <a:lstStyle/>
          <a:p>
            <a:pPr indent="0" marL="0">
              <a:buNone/>
            </a:pPr>
            <a:r>
              <a:rPr lang="en-US" sz="1100" b="1" spc="100" kern="0" dirty="0">
                <a:solidFill>
                  <a:srgbClr val="2A78D6"/>
                </a:solidFill>
                <a:latin typeface="Calibri" pitchFamily="34" charset="0"/>
                <a:ea typeface="Calibri" pitchFamily="34" charset="-122"/>
                <a:cs typeface="Calibri" pitchFamily="34" charset="-120"/>
              </a:rPr>
              <a:t>PREGUNTA QUE RESPONDE</a:t>
            </a:r>
            <a:endParaRPr lang="en-US" sz="1100" dirty="0"/>
          </a:p>
        </p:txBody>
      </p:sp>
      <p:sp>
        <p:nvSpPr>
          <p:cNvPr id="10" name="Text 6"/>
          <p:cNvSpPr txBox="1"/>
          <p:nvPr/>
        </p:nvSpPr>
        <p:spPr>
          <a:xfrm>
            <a:off x="8119872" y="1810512"/>
            <a:ext cx="3383280" cy="566928"/>
          </a:xfrm>
          <a:prstGeom prst="rect">
            <a:avLst/>
          </a:prstGeom>
          <a:noFill/>
          <a:ln/>
        </p:spPr>
        <p:txBody>
          <a:bodyPr wrap="square" lIns="0" tIns="0" rIns="0" bIns="0" rtlCol="0" anchor="t"/>
          <a:lstStyle/>
          <a:p>
            <a:pPr indent="0" marL="0">
              <a:buNone/>
            </a:pPr>
            <a:r>
              <a:rPr lang="en-US" sz="1500" b="1" dirty="0">
                <a:solidFill>
                  <a:srgbClr val="13294B"/>
                </a:solidFill>
                <a:latin typeface="Cambria" pitchFamily="34" charset="0"/>
                <a:ea typeface="Cambria" pitchFamily="34" charset="-122"/>
                <a:cs typeface="Cambria" pitchFamily="34" charset="-120"/>
              </a:rPr>
              <a:t>¿Por qué abandonan y qué palanca usar?</a:t>
            </a:r>
            <a:endParaRPr lang="en-US" sz="1500" dirty="0"/>
          </a:p>
        </p:txBody>
      </p:sp>
      <p:sp>
        <p:nvSpPr>
          <p:cNvPr id="11" name="Text 7"/>
          <p:cNvSpPr txBox="1"/>
          <p:nvPr/>
        </p:nvSpPr>
        <p:spPr>
          <a:xfrm>
            <a:off x="8119872" y="2487168"/>
            <a:ext cx="3383280" cy="256032"/>
          </a:xfrm>
          <a:prstGeom prst="rect">
            <a:avLst/>
          </a:prstGeom>
          <a:noFill/>
          <a:ln/>
        </p:spPr>
        <p:txBody>
          <a:bodyPr wrap="square" lIns="0" tIns="0" rIns="0" bIns="0" rtlCol="0" anchor="ctr"/>
          <a:lstStyle/>
          <a:p>
            <a:pPr indent="0" marL="0">
              <a:buNone/>
            </a:pPr>
            <a:r>
              <a:rPr lang="en-US" sz="1100" b="1" spc="100" kern="0" dirty="0">
                <a:solidFill>
                  <a:srgbClr val="2A78D6"/>
                </a:solidFill>
                <a:latin typeface="Calibri" pitchFamily="34" charset="0"/>
                <a:ea typeface="Calibri" pitchFamily="34" charset="-122"/>
                <a:cs typeface="Calibri" pitchFamily="34" charset="-120"/>
              </a:rPr>
              <a:t>ACCIONES QUE TOMAMOS CON ESTA VISTA</a:t>
            </a:r>
            <a:endParaRPr lang="en-US" sz="1100" dirty="0"/>
          </a:p>
        </p:txBody>
      </p:sp>
      <p:sp>
        <p:nvSpPr>
          <p:cNvPr id="12" name="Shape 8"/>
          <p:cNvSpPr/>
          <p:nvPr/>
        </p:nvSpPr>
        <p:spPr>
          <a:xfrm>
            <a:off x="8119872" y="2834640"/>
            <a:ext cx="329184" cy="329184"/>
          </a:xfrm>
          <a:prstGeom prst="ellipse">
            <a:avLst/>
          </a:prstGeom>
          <a:solidFill>
            <a:srgbClr val="EB6834"/>
          </a:solidFill>
          <a:ln w="12700">
            <a:solidFill>
              <a:srgbClr val="EB6834"/>
            </a:solidFill>
            <a:prstDash val="solid"/>
          </a:ln>
        </p:spPr>
        <p:txBody>
          <a:bodyPr/>
          <a:p/>
        </p:txBody>
      </p:sp>
      <p:sp>
        <p:nvSpPr>
          <p:cNvPr id="13" name="Text 9"/>
          <p:cNvSpPr txBox="1"/>
          <p:nvPr/>
        </p:nvSpPr>
        <p:spPr>
          <a:xfrm>
            <a:off x="8119872" y="28346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4" name="Text 10"/>
          <p:cNvSpPr txBox="1"/>
          <p:nvPr/>
        </p:nvSpPr>
        <p:spPr>
          <a:xfrm>
            <a:off x="8558784" y="2816352"/>
            <a:ext cx="2971800" cy="987552"/>
          </a:xfrm>
          <a:prstGeom prst="rect">
            <a:avLst/>
          </a:prstGeom>
          <a:noFill/>
          <a:ln/>
        </p:spPr>
        <p:txBody>
          <a:bodyPr wrap="square" lIns="0" tIns="0" rIns="0" bIns="0" rtlCol="0" anchor="t"/>
          <a:lstStyle/>
          <a:p>
            <a:pPr indent="0" marL="0">
              <a:buNone/>
            </a:pPr>
            <a:r>
              <a:rPr lang="en-US" sz="1250" b="1" dirty="0">
                <a:solidFill>
                  <a:srgbClr val="13294B"/>
                </a:solidFill>
                <a:latin typeface="Calibri" pitchFamily="34" charset="0"/>
                <a:ea typeface="Calibri" pitchFamily="34" charset="-122"/>
                <a:cs typeface="Calibri" pitchFamily="34" charset="-120"/>
              </a:rPr>
              <a:t>Cheque electrónico: 45,3 % de churn</a:t>
            </a:r>
            <a:endParaRPr lang="en-US" sz="1250" dirty="0"/>
          </a:p>
          <a:p>
            <a:pPr indent="0" marL="0">
              <a:buNone/>
            </a:pPr>
            <a:r>
              <a:rPr lang="en-US" sz="1250" dirty="0">
                <a:solidFill>
                  <a:srgbClr val="1B1F24"/>
                </a:solidFill>
                <a:latin typeface="Calibri" pitchFamily="34" charset="0"/>
                <a:ea typeface="Calibri" pitchFamily="34" charset="-122"/>
                <a:cs typeface="Calibri" pitchFamily="34" charset="-120"/>
              </a:rPr>
              <a:t>Facturación lanza el incentivo de pago automático (L3) en ese grupo.</a:t>
            </a:r>
            <a:endParaRPr lang="en-US" sz="1250" dirty="0"/>
          </a:p>
        </p:txBody>
      </p:sp>
      <p:sp>
        <p:nvSpPr>
          <p:cNvPr id="15" name="Shape 11"/>
          <p:cNvSpPr/>
          <p:nvPr/>
        </p:nvSpPr>
        <p:spPr>
          <a:xfrm>
            <a:off x="8119872" y="3858768"/>
            <a:ext cx="329184" cy="329184"/>
          </a:xfrm>
          <a:prstGeom prst="ellipse">
            <a:avLst/>
          </a:prstGeom>
          <a:solidFill>
            <a:srgbClr val="EB6834"/>
          </a:solidFill>
          <a:ln w="12700">
            <a:solidFill>
              <a:srgbClr val="EB6834"/>
            </a:solidFill>
            <a:prstDash val="solid"/>
          </a:ln>
        </p:spPr>
        <p:txBody>
          <a:bodyPr/>
          <a:p/>
        </p:txBody>
      </p:sp>
      <p:sp>
        <p:nvSpPr>
          <p:cNvPr id="16" name="Text 12"/>
          <p:cNvSpPr txBox="1"/>
          <p:nvPr/>
        </p:nvSpPr>
        <p:spPr>
          <a:xfrm>
            <a:off x="8119872" y="385876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7" name="Text 13"/>
          <p:cNvSpPr txBox="1"/>
          <p:nvPr/>
        </p:nvSpPr>
        <p:spPr>
          <a:xfrm>
            <a:off x="8558784" y="3840480"/>
            <a:ext cx="2971800" cy="987552"/>
          </a:xfrm>
          <a:prstGeom prst="rect">
            <a:avLst/>
          </a:prstGeom>
          <a:noFill/>
          <a:ln/>
        </p:spPr>
        <p:txBody>
          <a:bodyPr wrap="square" lIns="0" tIns="0" rIns="0" bIns="0" rtlCol="0" anchor="t"/>
          <a:lstStyle/>
          <a:p>
            <a:pPr indent="0" marL="0">
              <a:buNone/>
            </a:pPr>
            <a:r>
              <a:rPr lang="en-US" sz="1250" b="1" dirty="0">
                <a:solidFill>
                  <a:srgbClr val="13294B"/>
                </a:solidFill>
                <a:latin typeface="Calibri" pitchFamily="34" charset="0"/>
                <a:ea typeface="Calibri" pitchFamily="34" charset="-122"/>
                <a:cs typeface="Calibri" pitchFamily="34" charset="-120"/>
              </a:rPr>
              <a:t>Sin protección: 49,0 % vs. 17,1 %</a:t>
            </a:r>
            <a:endParaRPr lang="en-US" sz="1250" dirty="0"/>
          </a:p>
          <a:p>
            <a:pPr indent="0" marL="0">
              <a:buNone/>
            </a:pPr>
            <a:r>
              <a:rPr lang="en-US" sz="1250" dirty="0">
                <a:solidFill>
                  <a:srgbClr val="1B1F24"/>
                </a:solidFill>
                <a:latin typeface="Calibri" pitchFamily="34" charset="0"/>
                <a:ea typeface="Calibri" pitchFamily="34" charset="-122"/>
                <a:cs typeface="Calibri" pitchFamily="34" charset="-120"/>
              </a:rPr>
              <a:t>Producto ofrece el bundle de seguridad y soporte (L2) a clientes de fibra.</a:t>
            </a:r>
            <a:endParaRPr lang="en-US" sz="1250" dirty="0"/>
          </a:p>
        </p:txBody>
      </p:sp>
      <p:sp>
        <p:nvSpPr>
          <p:cNvPr id="18" name="Shape 14"/>
          <p:cNvSpPr/>
          <p:nvPr/>
        </p:nvSpPr>
        <p:spPr>
          <a:xfrm>
            <a:off x="8119872" y="4882896"/>
            <a:ext cx="329184" cy="329184"/>
          </a:xfrm>
          <a:prstGeom prst="ellipse">
            <a:avLst/>
          </a:prstGeom>
          <a:solidFill>
            <a:srgbClr val="EB6834"/>
          </a:solidFill>
          <a:ln w="12700">
            <a:solidFill>
              <a:srgbClr val="EB6834"/>
            </a:solidFill>
            <a:prstDash val="solid"/>
          </a:ln>
        </p:spPr>
        <p:txBody>
          <a:bodyPr/>
          <a:p/>
        </p:txBody>
      </p:sp>
      <p:sp>
        <p:nvSpPr>
          <p:cNvPr id="19" name="Text 15"/>
          <p:cNvSpPr txBox="1"/>
          <p:nvPr/>
        </p:nvSpPr>
        <p:spPr>
          <a:xfrm>
            <a:off x="8119872" y="488289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6"/>
          <p:cNvSpPr txBox="1"/>
          <p:nvPr/>
        </p:nvSpPr>
        <p:spPr>
          <a:xfrm>
            <a:off x="8558784" y="4864608"/>
            <a:ext cx="2971800" cy="987552"/>
          </a:xfrm>
          <a:prstGeom prst="rect">
            <a:avLst/>
          </a:prstGeom>
          <a:noFill/>
          <a:ln/>
        </p:spPr>
        <p:txBody>
          <a:bodyPr wrap="square" lIns="0" tIns="0" rIns="0" bIns="0" rtlCol="0" anchor="t"/>
          <a:lstStyle/>
          <a:p>
            <a:pPr indent="0" marL="0">
              <a:buNone/>
            </a:pPr>
            <a:r>
              <a:rPr lang="en-US" sz="1250" b="1" dirty="0">
                <a:solidFill>
                  <a:srgbClr val="13294B"/>
                </a:solidFill>
                <a:latin typeface="Calibri" pitchFamily="34" charset="0"/>
                <a:ea typeface="Calibri" pitchFamily="34" charset="-122"/>
                <a:cs typeface="Calibri" pitchFamily="34" charset="-120"/>
              </a:rPr>
              <a:t>Fibra con OR 2,1 aun ajustada</a:t>
            </a:r>
            <a:endParaRPr lang="en-US" sz="1250" dirty="0"/>
          </a:p>
          <a:p>
            <a:pPr indent="0" marL="0">
              <a:buNone/>
            </a:pPr>
            <a:r>
              <a:rPr lang="en-US" sz="1250" dirty="0">
                <a:solidFill>
                  <a:srgbClr val="1B1F24"/>
                </a:solidFill>
                <a:latin typeface="Calibri" pitchFamily="34" charset="0"/>
                <a:ea typeface="Calibri" pitchFamily="34" charset="-122"/>
                <a:cs typeface="Calibri" pitchFamily="34" charset="-120"/>
              </a:rPr>
              <a:t>Se abre la línea de investigación D sobre precio y calidad de la fibra.</a:t>
            </a:r>
            <a:endParaRPr lang="en-US" sz="1250" dirty="0"/>
          </a:p>
        </p:txBody>
      </p:sp>
      <p:sp>
        <p:nvSpPr>
          <p:cNvPr id="25" name="Slide Number Placeholder 0"/>
          <p:cNvSpPr>
            <a:spLocks noGrp="1"/>
          </p:cNvSpPr>
          <p:nvPr>
            <p:ph type="sldNum" sz="quarter" idx="4294967295"/>
          </p:nvPr>
        </p:nvSpPr>
        <p:spPr>
          <a:xfrm>
            <a:off x="11091672"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5B6573"/>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164592"/>
            <a:ext cx="11091672" cy="256032"/>
          </a:xfrm>
          <a:prstGeom prst="rect">
            <a:avLst/>
          </a:prstGeom>
          <a:noFill/>
          <a:ln/>
        </p:spPr>
        <p:txBody>
          <a:bodyPr wrap="square" lIns="0" tIns="0" rIns="0" bIns="0" rtlCol="0" anchor="ctr"/>
          <a:lstStyle/>
          <a:p>
            <a:pPr indent="0" marL="0">
              <a:buNone/>
            </a:pPr>
            <a:r>
              <a:rPr lang="en-US" sz="1100" b="1" spc="50" kern="0" dirty="0">
                <a:solidFill>
                  <a:srgbClr val="2A78D6"/>
                </a:solidFill>
                <a:latin typeface="Calibri" pitchFamily="34" charset="0"/>
                <a:ea typeface="Calibri" pitchFamily="34" charset="-122"/>
                <a:cs typeface="Calibri" pitchFamily="34" charset="-120"/>
              </a:rPr>
              <a:t>04 · IMPACTO Y DASHBOARD</a:t>
            </a:r>
            <a:pPr indent="0" marL="0">
              <a:buNone/>
            </a:pPr>
            <a:endParaRPr lang="en-US" sz="1100" dirty="0"/>
          </a:p>
        </p:txBody>
      </p:sp>
      <p:sp>
        <p:nvSpPr>
          <p:cNvPr id="3" name="Text 0"/>
          <p:cNvSpPr/>
          <p:nvPr>
            <p:ph idx="100" type="title" hasCustomPrompt="1"/>
          </p:nvPr>
        </p:nvSpPr>
        <p:spPr>
          <a:xfrm>
            <a:off x="548640" y="457200"/>
            <a:ext cx="11091672" cy="841248"/>
          </a:xfrm>
          <a:prstGeom prst="rect">
            <a:avLst/>
          </a:prstGeom>
          <a:noFill/>
          <a:ln/>
        </p:spPr>
        <p:txBody>
          <a:bodyPr wrap="square" lIns="0" tIns="0" rIns="0" bIns="0" rtlCol="0" anchor="t"/>
          <a:lstStyle/>
          <a:p>
            <a:pPr algn="l" indent="0" marL="0">
              <a:buNone/>
            </a:pPr>
            <a:r>
              <a:rPr lang="en-US" sz="2400" b="1" dirty="0">
                <a:solidFill>
                  <a:srgbClr val="13294B"/>
                </a:solidFill>
                <a:latin typeface="Cambria" pitchFamily="34" charset="0"/>
                <a:ea typeface="Cambria" pitchFamily="34" charset="-122"/>
                <a:cs typeface="Cambria" pitchFamily="34" charset="-120"/>
              </a:rPr>
              <a:t>Monitoreo y acción: a quién intervenir este mes, con qué palanca y con qué retorno</a:t>
            </a:r>
            <a:endParaRPr lang="en-US" sz="2400" dirty="0"/>
          </a:p>
        </p:txBody>
      </p:sp>
      <p:sp>
        <p:nvSpPr>
          <p:cNvPr id="5" name="Shape 2"/>
          <p:cNvSpPr/>
          <p:nvPr/>
        </p:nvSpPr>
        <p:spPr>
          <a:xfrm>
            <a:off x="512064" y="1380744"/>
            <a:ext cx="7159752" cy="4060033"/>
          </a:xfrm>
          <a:prstGeom prst="rect">
            <a:avLst/>
          </a:prstGeom>
          <a:solidFill>
            <a:srgbClr val="DDE3EA"/>
          </a:solidFill>
          <a:ln w="12700">
            <a:solidFill>
              <a:srgbClr val="DDE3EA"/>
            </a:solidFill>
            <a:prstDash val="solid"/>
          </a:ln>
        </p:spPr>
        <p:txBody>
          <a:bodyPr/>
          <a:p/>
        </p:txBody>
      </p:sp>
      <p:pic>
        <p:nvPicPr>
          <p:cNvPr id="6" name="Image 0" descr="Captura del dashboard de Power BI">    </p:cNvPr>
          <p:cNvPicPr>
            <a:picLocks noChangeAspect="1"/>
          </p:cNvPicPr>
          <p:nvPr/>
        </p:nvPicPr>
        <p:blipFill>
          <a:blip r:embed="rId1"/>
          <a:stretch>
            <a:fillRect/>
          </a:stretch>
        </p:blipFill>
        <p:spPr>
          <a:xfrm>
            <a:off x="548640" y="1417320"/>
            <a:ext cx="7086600" cy="3986881"/>
          </a:xfrm>
          <a:prstGeom prst="rect">
            <a:avLst/>
          </a:prstGeom>
        </p:spPr>
      </p:pic>
      <p:sp>
        <p:nvSpPr>
          <p:cNvPr id="7" name="Text 3"/>
          <p:cNvSpPr txBox="1"/>
          <p:nvPr/>
        </p:nvSpPr>
        <p:spPr>
          <a:xfrm>
            <a:off x="548640" y="5532217"/>
            <a:ext cx="7086600" cy="274320"/>
          </a:xfrm>
          <a:prstGeom prst="rect">
            <a:avLst/>
          </a:prstGeom>
          <a:noFill/>
          <a:ln/>
        </p:spPr>
        <p:txBody>
          <a:bodyPr wrap="square" lIns="0" tIns="0" rIns="0" bIns="0" rtlCol="0" anchor="ctr"/>
          <a:lstStyle/>
          <a:p>
            <a:pPr indent="0" marL="0">
              <a:buNone/>
            </a:pPr>
            <a:r>
              <a:rPr lang="en-US" sz="1100" i="1" dirty="0">
                <a:solidFill>
                  <a:srgbClr val="5B6573"/>
                </a:solidFill>
                <a:latin typeface="Calibri" pitchFamily="34" charset="0"/>
                <a:ea typeface="Calibri" pitchFamily="34" charset="-122"/>
                <a:cs typeface="Calibri" pitchFamily="34" charset="-120"/>
              </a:rPr>
              <a:t>Power BI · página 3 de 5 · Monitoreo y acción (Gerencia de Retención); el escenario recalcula el ROI</a:t>
            </a:r>
            <a:endParaRPr lang="en-US" sz="1100" dirty="0"/>
          </a:p>
        </p:txBody>
      </p:sp>
      <p:sp>
        <p:nvSpPr>
          <p:cNvPr id="8" name="Shape 4"/>
          <p:cNvSpPr/>
          <p:nvPr/>
        </p:nvSpPr>
        <p:spPr>
          <a:xfrm>
            <a:off x="7909560" y="1417320"/>
            <a:ext cx="3730752" cy="4526280"/>
          </a:xfrm>
          <a:prstGeom prst="roundRect">
            <a:avLst>
              <a:gd name="adj" fmla="val 1961"/>
            </a:avLst>
          </a:prstGeom>
          <a:solidFill>
            <a:srgbClr val="EEF4FC"/>
          </a:solidFill>
          <a:ln w="12700">
            <a:solidFill>
              <a:srgbClr val="EEF4FC"/>
            </a:solidFill>
            <a:prstDash val="solid"/>
          </a:ln>
        </p:spPr>
        <p:txBody>
          <a:bodyPr/>
          <a:p/>
        </p:txBody>
      </p:sp>
      <p:sp>
        <p:nvSpPr>
          <p:cNvPr id="9" name="Text 5"/>
          <p:cNvSpPr txBox="1"/>
          <p:nvPr/>
        </p:nvSpPr>
        <p:spPr>
          <a:xfrm>
            <a:off x="8119872" y="1554480"/>
            <a:ext cx="3383280" cy="256032"/>
          </a:xfrm>
          <a:prstGeom prst="rect">
            <a:avLst/>
          </a:prstGeom>
          <a:noFill/>
          <a:ln/>
        </p:spPr>
        <p:txBody>
          <a:bodyPr wrap="square" lIns="0" tIns="0" rIns="0" bIns="0" rtlCol="0" anchor="ctr"/>
          <a:lstStyle/>
          <a:p>
            <a:pPr indent="0" marL="0">
              <a:buNone/>
            </a:pPr>
            <a:r>
              <a:rPr lang="en-US" sz="1100" b="1" spc="100" kern="0" dirty="0">
                <a:solidFill>
                  <a:srgbClr val="2A78D6"/>
                </a:solidFill>
                <a:latin typeface="Calibri" pitchFamily="34" charset="0"/>
                <a:ea typeface="Calibri" pitchFamily="34" charset="-122"/>
                <a:cs typeface="Calibri" pitchFamily="34" charset="-120"/>
              </a:rPr>
              <a:t>PREGUNTA QUE RESPONDE</a:t>
            </a:r>
            <a:endParaRPr lang="en-US" sz="1100" dirty="0"/>
          </a:p>
        </p:txBody>
      </p:sp>
      <p:sp>
        <p:nvSpPr>
          <p:cNvPr id="10" name="Text 6"/>
          <p:cNvSpPr txBox="1"/>
          <p:nvPr/>
        </p:nvSpPr>
        <p:spPr>
          <a:xfrm>
            <a:off x="8119872" y="1810512"/>
            <a:ext cx="3383280" cy="566928"/>
          </a:xfrm>
          <a:prstGeom prst="rect">
            <a:avLst/>
          </a:prstGeom>
          <a:noFill/>
          <a:ln/>
        </p:spPr>
        <p:txBody>
          <a:bodyPr wrap="square" lIns="0" tIns="0" rIns="0" bIns="0" rtlCol="0" anchor="t"/>
          <a:lstStyle/>
          <a:p>
            <a:pPr indent="0" marL="0">
              <a:buNone/>
            </a:pPr>
            <a:r>
              <a:rPr lang="en-US" sz="1500" b="1" dirty="0">
                <a:solidFill>
                  <a:srgbClr val="13294B"/>
                </a:solidFill>
                <a:latin typeface="Cambria" pitchFamily="34" charset="0"/>
                <a:ea typeface="Cambria" pitchFamily="34" charset="-122"/>
                <a:cs typeface="Cambria" pitchFamily="34" charset="-120"/>
              </a:rPr>
              <a:t>¿A quién intervenir y con qué palanca?</a:t>
            </a:r>
            <a:endParaRPr lang="en-US" sz="1500" dirty="0"/>
          </a:p>
        </p:txBody>
      </p:sp>
      <p:sp>
        <p:nvSpPr>
          <p:cNvPr id="11" name="Text 7"/>
          <p:cNvSpPr txBox="1"/>
          <p:nvPr/>
        </p:nvSpPr>
        <p:spPr>
          <a:xfrm>
            <a:off x="8119872" y="2487168"/>
            <a:ext cx="3383280" cy="256032"/>
          </a:xfrm>
          <a:prstGeom prst="rect">
            <a:avLst/>
          </a:prstGeom>
          <a:noFill/>
          <a:ln/>
        </p:spPr>
        <p:txBody>
          <a:bodyPr wrap="square" lIns="0" tIns="0" rIns="0" bIns="0" rtlCol="0" anchor="ctr"/>
          <a:lstStyle/>
          <a:p>
            <a:pPr indent="0" marL="0">
              <a:buNone/>
            </a:pPr>
            <a:r>
              <a:rPr lang="en-US" sz="1100" b="1" spc="100" kern="0" dirty="0">
                <a:solidFill>
                  <a:srgbClr val="2A78D6"/>
                </a:solidFill>
                <a:latin typeface="Calibri" pitchFamily="34" charset="0"/>
                <a:ea typeface="Calibri" pitchFamily="34" charset="-122"/>
                <a:cs typeface="Calibri" pitchFamily="34" charset="-120"/>
              </a:rPr>
              <a:t>ACCIONES QUE TOMAMOS CON ESTA VISTA</a:t>
            </a:r>
            <a:endParaRPr lang="en-US" sz="1100" dirty="0"/>
          </a:p>
        </p:txBody>
      </p:sp>
      <p:sp>
        <p:nvSpPr>
          <p:cNvPr id="12" name="Shape 8"/>
          <p:cNvSpPr/>
          <p:nvPr/>
        </p:nvSpPr>
        <p:spPr>
          <a:xfrm>
            <a:off x="8119872" y="2834640"/>
            <a:ext cx="329184" cy="329184"/>
          </a:xfrm>
          <a:prstGeom prst="ellipse">
            <a:avLst/>
          </a:prstGeom>
          <a:solidFill>
            <a:srgbClr val="EB6834"/>
          </a:solidFill>
          <a:ln w="12700">
            <a:solidFill>
              <a:srgbClr val="EB6834"/>
            </a:solidFill>
            <a:prstDash val="solid"/>
          </a:ln>
        </p:spPr>
        <p:txBody>
          <a:bodyPr/>
          <a:p/>
        </p:txBody>
      </p:sp>
      <p:sp>
        <p:nvSpPr>
          <p:cNvPr id="13" name="Text 9"/>
          <p:cNvSpPr txBox="1"/>
          <p:nvPr/>
        </p:nvSpPr>
        <p:spPr>
          <a:xfrm>
            <a:off x="8119872" y="28346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4" name="Text 10"/>
          <p:cNvSpPr txBox="1"/>
          <p:nvPr/>
        </p:nvSpPr>
        <p:spPr>
          <a:xfrm>
            <a:off x="8558784" y="2816352"/>
            <a:ext cx="2971800" cy="987552"/>
          </a:xfrm>
          <a:prstGeom prst="rect">
            <a:avLst/>
          </a:prstGeom>
          <a:noFill/>
          <a:ln/>
        </p:spPr>
        <p:txBody>
          <a:bodyPr wrap="square" lIns="0" tIns="0" rIns="0" bIns="0" rtlCol="0" anchor="t"/>
          <a:lstStyle/>
          <a:p>
            <a:pPr indent="0" marL="0">
              <a:buNone/>
            </a:pPr>
            <a:r>
              <a:rPr lang="en-US" sz="1250" b="1" dirty="0">
                <a:solidFill>
                  <a:srgbClr val="13294B"/>
                </a:solidFill>
                <a:latin typeface="Calibri" pitchFamily="34" charset="0"/>
                <a:ea typeface="Calibri" pitchFamily="34" charset="-122"/>
                <a:cs typeface="Calibri" pitchFamily="34" charset="-120"/>
              </a:rPr>
              <a:t>Lista P1: 1.175 clientes activos</a:t>
            </a:r>
            <a:endParaRPr lang="en-US" sz="1250" dirty="0"/>
          </a:p>
          <a:p>
            <a:pPr indent="0" marL="0">
              <a:buNone/>
            </a:pPr>
            <a:r>
              <a:rPr lang="en-US" sz="1250" dirty="0">
                <a:solidFill>
                  <a:srgbClr val="1B1F24"/>
                </a:solidFill>
                <a:latin typeface="Calibri" pitchFamily="34" charset="0"/>
                <a:ea typeface="Calibri" pitchFamily="34" charset="-122"/>
                <a:cs typeface="Calibri" pitchFamily="34" charset="-120"/>
              </a:rPr>
              <a:t>Tres segmentos con el 62 % del MRR en riesgo: se contactan esta semana.</a:t>
            </a:r>
            <a:endParaRPr lang="en-US" sz="1250" dirty="0"/>
          </a:p>
        </p:txBody>
      </p:sp>
      <p:sp>
        <p:nvSpPr>
          <p:cNvPr id="15" name="Shape 11"/>
          <p:cNvSpPr/>
          <p:nvPr/>
        </p:nvSpPr>
        <p:spPr>
          <a:xfrm>
            <a:off x="8119872" y="3858768"/>
            <a:ext cx="329184" cy="329184"/>
          </a:xfrm>
          <a:prstGeom prst="ellipse">
            <a:avLst/>
          </a:prstGeom>
          <a:solidFill>
            <a:srgbClr val="EB6834"/>
          </a:solidFill>
          <a:ln w="12700">
            <a:solidFill>
              <a:srgbClr val="EB6834"/>
            </a:solidFill>
            <a:prstDash val="solid"/>
          </a:ln>
        </p:spPr>
        <p:txBody>
          <a:bodyPr/>
          <a:p/>
        </p:txBody>
      </p:sp>
      <p:sp>
        <p:nvSpPr>
          <p:cNvPr id="16" name="Text 12"/>
          <p:cNvSpPr txBox="1"/>
          <p:nvPr/>
        </p:nvSpPr>
        <p:spPr>
          <a:xfrm>
            <a:off x="8119872" y="385876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7" name="Text 13"/>
          <p:cNvSpPr txBox="1"/>
          <p:nvPr/>
        </p:nvSpPr>
        <p:spPr>
          <a:xfrm>
            <a:off x="8558784" y="3840480"/>
            <a:ext cx="2971800" cy="987552"/>
          </a:xfrm>
          <a:prstGeom prst="rect">
            <a:avLst/>
          </a:prstGeom>
          <a:noFill/>
          <a:ln/>
        </p:spPr>
        <p:txBody>
          <a:bodyPr wrap="square" lIns="0" tIns="0" rIns="0" bIns="0" rtlCol="0" anchor="t"/>
          <a:lstStyle/>
          <a:p>
            <a:pPr indent="0" marL="0">
              <a:buNone/>
            </a:pPr>
            <a:r>
              <a:rPr lang="en-US" sz="1250" b="1" dirty="0">
                <a:solidFill>
                  <a:srgbClr val="13294B"/>
                </a:solidFill>
                <a:latin typeface="Calibri" pitchFamily="34" charset="0"/>
                <a:ea typeface="Calibri" pitchFamily="34" charset="-122"/>
                <a:cs typeface="Calibri" pitchFamily="34" charset="-120"/>
              </a:rPr>
              <a:t>L4, L2 y L3 rentables; L1 −18 %</a:t>
            </a:r>
            <a:endParaRPr lang="en-US" sz="1250" dirty="0"/>
          </a:p>
          <a:p>
            <a:pPr indent="0" marL="0">
              <a:buNone/>
            </a:pPr>
            <a:r>
              <a:rPr lang="en-US" sz="1250" dirty="0">
                <a:solidFill>
                  <a:srgbClr val="1B1F24"/>
                </a:solidFill>
                <a:latin typeface="Calibri" pitchFamily="34" charset="0"/>
                <a:ea typeface="Calibri" pitchFamily="34" charset="-122"/>
                <a:cs typeface="Calibri" pitchFamily="34" charset="-120"/>
              </a:rPr>
              <a:t>La migración con descuento queda limitada a casos residuales.</a:t>
            </a:r>
            <a:endParaRPr lang="en-US" sz="1250" dirty="0"/>
          </a:p>
        </p:txBody>
      </p:sp>
      <p:sp>
        <p:nvSpPr>
          <p:cNvPr id="18" name="Shape 14"/>
          <p:cNvSpPr/>
          <p:nvPr/>
        </p:nvSpPr>
        <p:spPr>
          <a:xfrm>
            <a:off x="8119872" y="4882896"/>
            <a:ext cx="329184" cy="329184"/>
          </a:xfrm>
          <a:prstGeom prst="ellipse">
            <a:avLst/>
          </a:prstGeom>
          <a:solidFill>
            <a:srgbClr val="EB6834"/>
          </a:solidFill>
          <a:ln w="12700">
            <a:solidFill>
              <a:srgbClr val="EB6834"/>
            </a:solidFill>
            <a:prstDash val="solid"/>
          </a:ln>
        </p:spPr>
        <p:txBody>
          <a:bodyPr/>
          <a:p/>
        </p:txBody>
      </p:sp>
      <p:sp>
        <p:nvSpPr>
          <p:cNvPr id="19" name="Text 15"/>
          <p:cNvSpPr txBox="1"/>
          <p:nvPr/>
        </p:nvSpPr>
        <p:spPr>
          <a:xfrm>
            <a:off x="8119872" y="488289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6"/>
          <p:cNvSpPr txBox="1"/>
          <p:nvPr/>
        </p:nvSpPr>
        <p:spPr>
          <a:xfrm>
            <a:off x="8558784" y="4864608"/>
            <a:ext cx="2971800" cy="987552"/>
          </a:xfrm>
          <a:prstGeom prst="rect">
            <a:avLst/>
          </a:prstGeom>
          <a:noFill/>
          <a:ln/>
        </p:spPr>
        <p:txBody>
          <a:bodyPr wrap="square" lIns="0" tIns="0" rIns="0" bIns="0" rtlCol="0" anchor="t"/>
          <a:lstStyle/>
          <a:p>
            <a:pPr indent="0" marL="0">
              <a:buNone/>
            </a:pPr>
            <a:r>
              <a:rPr lang="en-US" sz="1250" b="1" dirty="0">
                <a:solidFill>
                  <a:srgbClr val="13294B"/>
                </a:solidFill>
                <a:latin typeface="Calibri" pitchFamily="34" charset="0"/>
                <a:ea typeface="Calibri" pitchFamily="34" charset="-122"/>
                <a:cs typeface="Calibri" pitchFamily="34" charset="-120"/>
              </a:rPr>
              <a:t>Regla de decisión del mes</a:t>
            </a:r>
            <a:endParaRPr lang="en-US" sz="1250" dirty="0"/>
          </a:p>
          <a:p>
            <a:pPr indent="0" marL="0">
              <a:buNone/>
            </a:pPr>
            <a:r>
              <a:rPr lang="en-US" sz="1250" dirty="0">
                <a:solidFill>
                  <a:srgbClr val="1B1F24"/>
                </a:solidFill>
                <a:latin typeface="Calibri" pitchFamily="34" charset="0"/>
                <a:ea typeface="Calibri" pitchFamily="34" charset="-122"/>
                <a:cs typeface="Calibri" pitchFamily="34" charset="-120"/>
              </a:rPr>
              <a:t>Si el ROI focalizado es ≥ 0 en el escenario elegido, se ejecuta como piloto con grupo control.</a:t>
            </a:r>
            <a:endParaRPr lang="en-US" sz="1250" dirty="0"/>
          </a:p>
        </p:txBody>
      </p:sp>
      <p:sp>
        <p:nvSpPr>
          <p:cNvPr id="25" name="Slide Number Placeholder 0"/>
          <p:cNvSpPr>
            <a:spLocks noGrp="1"/>
          </p:cNvSpPr>
          <p:nvPr>
            <p:ph type="sldNum" sz="quarter" idx="4294967295"/>
          </p:nvPr>
        </p:nvSpPr>
        <p:spPr>
          <a:xfrm>
            <a:off x="11091672"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5B6573"/>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164592"/>
            <a:ext cx="11091672" cy="256032"/>
          </a:xfrm>
          <a:prstGeom prst="rect">
            <a:avLst/>
          </a:prstGeom>
          <a:noFill/>
          <a:ln/>
        </p:spPr>
        <p:txBody>
          <a:bodyPr wrap="square" lIns="0" tIns="0" rIns="0" bIns="0" rtlCol="0" anchor="ctr"/>
          <a:lstStyle/>
          <a:p>
            <a:pPr indent="0" marL="0">
              <a:buNone/>
            </a:pPr>
            <a:r>
              <a:rPr lang="en-US" sz="1100" b="1" spc="50" kern="0" dirty="0">
                <a:solidFill>
                  <a:srgbClr val="2A78D6"/>
                </a:solidFill>
                <a:latin typeface="Calibri" pitchFamily="34" charset="0"/>
                <a:ea typeface="Calibri" pitchFamily="34" charset="-122"/>
                <a:cs typeface="Calibri" pitchFamily="34" charset="-120"/>
              </a:rPr>
              <a:t>04 · IMPACTO Y DASHBOARD</a:t>
            </a:r>
            <a:pPr indent="0" marL="0">
              <a:buNone/>
            </a:pPr>
            <a:endParaRPr lang="en-US" sz="1100" dirty="0"/>
          </a:p>
        </p:txBody>
      </p:sp>
      <p:sp>
        <p:nvSpPr>
          <p:cNvPr id="3" name="Text 0"/>
          <p:cNvSpPr/>
          <p:nvPr>
            <p:ph idx="100" type="title" hasCustomPrompt="1"/>
          </p:nvPr>
        </p:nvSpPr>
        <p:spPr>
          <a:xfrm>
            <a:off x="548640" y="457200"/>
            <a:ext cx="11091672" cy="841248"/>
          </a:xfrm>
          <a:prstGeom prst="rect">
            <a:avLst/>
          </a:prstGeom>
          <a:noFill/>
          <a:ln/>
        </p:spPr>
        <p:txBody>
          <a:bodyPr wrap="square" lIns="0" tIns="0" rIns="0" bIns="0" rtlCol="0" anchor="t"/>
          <a:lstStyle/>
          <a:p>
            <a:pPr algn="l" indent="0" marL="0">
              <a:buNone/>
            </a:pPr>
            <a:r>
              <a:rPr lang="en-US" sz="2400" b="1" dirty="0">
                <a:solidFill>
                  <a:srgbClr val="13294B"/>
                </a:solidFill>
                <a:latin typeface="Cambria" pitchFamily="34" charset="0"/>
                <a:ea typeface="Cambria" pitchFamily="34" charset="-122"/>
                <a:cs typeface="Cambria" pitchFamily="34" charset="-120"/>
              </a:rPr>
              <a:t>Simulador «qué pasaría si»: probar los supuestos antes de invertir</a:t>
            </a:r>
            <a:endParaRPr lang="en-US" sz="2400" dirty="0"/>
          </a:p>
        </p:txBody>
      </p:sp>
      <p:sp>
        <p:nvSpPr>
          <p:cNvPr id="5" name="Shape 2"/>
          <p:cNvSpPr/>
          <p:nvPr/>
        </p:nvSpPr>
        <p:spPr>
          <a:xfrm>
            <a:off x="512064" y="1380744"/>
            <a:ext cx="7159752" cy="4060033"/>
          </a:xfrm>
          <a:prstGeom prst="rect">
            <a:avLst/>
          </a:prstGeom>
          <a:solidFill>
            <a:srgbClr val="DDE3EA"/>
          </a:solidFill>
          <a:ln w="12700">
            <a:solidFill>
              <a:srgbClr val="DDE3EA"/>
            </a:solidFill>
            <a:prstDash val="solid"/>
          </a:ln>
        </p:spPr>
        <p:txBody>
          <a:bodyPr/>
          <a:p/>
        </p:txBody>
      </p:sp>
      <p:pic>
        <p:nvPicPr>
          <p:cNvPr id="6" name="Image 0" descr="Captura del dashboard de Power BI">    </p:cNvPr>
          <p:cNvPicPr>
            <a:picLocks noChangeAspect="1"/>
          </p:cNvPicPr>
          <p:nvPr/>
        </p:nvPicPr>
        <p:blipFill>
          <a:blip r:embed="rId1"/>
          <a:stretch>
            <a:fillRect/>
          </a:stretch>
        </p:blipFill>
        <p:spPr>
          <a:xfrm>
            <a:off x="548640" y="1417320"/>
            <a:ext cx="7086600" cy="3986881"/>
          </a:xfrm>
          <a:prstGeom prst="rect">
            <a:avLst/>
          </a:prstGeom>
        </p:spPr>
      </p:pic>
      <p:sp>
        <p:nvSpPr>
          <p:cNvPr id="7" name="Text 3"/>
          <p:cNvSpPr txBox="1"/>
          <p:nvPr/>
        </p:nvSpPr>
        <p:spPr>
          <a:xfrm>
            <a:off x="548640" y="5532217"/>
            <a:ext cx="7086600" cy="274320"/>
          </a:xfrm>
          <a:prstGeom prst="rect">
            <a:avLst/>
          </a:prstGeom>
          <a:noFill/>
          <a:ln/>
        </p:spPr>
        <p:txBody>
          <a:bodyPr wrap="square" lIns="0" tIns="0" rIns="0" bIns="0" rtlCol="0" anchor="ctr"/>
          <a:lstStyle/>
          <a:p>
            <a:pPr indent="0" marL="0">
              <a:buNone/>
            </a:pPr>
            <a:r>
              <a:rPr lang="en-US" sz="1100" i="1" dirty="0">
                <a:solidFill>
                  <a:srgbClr val="5B6573"/>
                </a:solidFill>
                <a:latin typeface="Calibri" pitchFamily="34" charset="0"/>
                <a:ea typeface="Calibri" pitchFamily="34" charset="-122"/>
                <a:cs typeface="Calibri" pitchFamily="34" charset="-120"/>
              </a:rPr>
              <a:t>Power BI · página 4 de 5 · Simulador de escenarios; la página 5 contiene el diccionario y los supuestos</a:t>
            </a:r>
            <a:endParaRPr lang="en-US" sz="1100" dirty="0"/>
          </a:p>
        </p:txBody>
      </p:sp>
      <p:sp>
        <p:nvSpPr>
          <p:cNvPr id="8" name="Shape 4"/>
          <p:cNvSpPr/>
          <p:nvPr/>
        </p:nvSpPr>
        <p:spPr>
          <a:xfrm>
            <a:off x="7909560" y="1417320"/>
            <a:ext cx="3730752" cy="4526280"/>
          </a:xfrm>
          <a:prstGeom prst="roundRect">
            <a:avLst>
              <a:gd name="adj" fmla="val 1961"/>
            </a:avLst>
          </a:prstGeom>
          <a:solidFill>
            <a:srgbClr val="EEF4FC"/>
          </a:solidFill>
          <a:ln w="12700">
            <a:solidFill>
              <a:srgbClr val="EEF4FC"/>
            </a:solidFill>
            <a:prstDash val="solid"/>
          </a:ln>
        </p:spPr>
        <p:txBody>
          <a:bodyPr/>
          <a:p/>
        </p:txBody>
      </p:sp>
      <p:sp>
        <p:nvSpPr>
          <p:cNvPr id="9" name="Text 5"/>
          <p:cNvSpPr txBox="1"/>
          <p:nvPr/>
        </p:nvSpPr>
        <p:spPr>
          <a:xfrm>
            <a:off x="8119872" y="1554480"/>
            <a:ext cx="3383280" cy="256032"/>
          </a:xfrm>
          <a:prstGeom prst="rect">
            <a:avLst/>
          </a:prstGeom>
          <a:noFill/>
          <a:ln/>
        </p:spPr>
        <p:txBody>
          <a:bodyPr wrap="square" lIns="0" tIns="0" rIns="0" bIns="0" rtlCol="0" anchor="ctr"/>
          <a:lstStyle/>
          <a:p>
            <a:pPr indent="0" marL="0">
              <a:buNone/>
            </a:pPr>
            <a:r>
              <a:rPr lang="en-US" sz="1100" b="1" spc="100" kern="0" dirty="0">
                <a:solidFill>
                  <a:srgbClr val="2A78D6"/>
                </a:solidFill>
                <a:latin typeface="Calibri" pitchFamily="34" charset="0"/>
                <a:ea typeface="Calibri" pitchFamily="34" charset="-122"/>
                <a:cs typeface="Calibri" pitchFamily="34" charset="-120"/>
              </a:rPr>
              <a:t>PREGUNTA QUE RESPONDE</a:t>
            </a:r>
            <a:endParaRPr lang="en-US" sz="1100" dirty="0"/>
          </a:p>
        </p:txBody>
      </p:sp>
      <p:sp>
        <p:nvSpPr>
          <p:cNvPr id="10" name="Text 6"/>
          <p:cNvSpPr txBox="1"/>
          <p:nvPr/>
        </p:nvSpPr>
        <p:spPr>
          <a:xfrm>
            <a:off x="8119872" y="1810512"/>
            <a:ext cx="3383280" cy="566928"/>
          </a:xfrm>
          <a:prstGeom prst="rect">
            <a:avLst/>
          </a:prstGeom>
          <a:noFill/>
          <a:ln/>
        </p:spPr>
        <p:txBody>
          <a:bodyPr wrap="square" lIns="0" tIns="0" rIns="0" bIns="0" rtlCol="0" anchor="t"/>
          <a:lstStyle/>
          <a:p>
            <a:pPr indent="0" marL="0">
              <a:buNone/>
            </a:pPr>
            <a:r>
              <a:rPr lang="en-US" sz="1500" b="1" dirty="0">
                <a:solidFill>
                  <a:srgbClr val="13294B"/>
                </a:solidFill>
                <a:latin typeface="Cambria" pitchFamily="34" charset="0"/>
                <a:ea typeface="Cambria" pitchFamily="34" charset="-122"/>
                <a:cs typeface="Cambria" pitchFamily="34" charset="-120"/>
              </a:rPr>
              <a:t>¿Qué pasa si cambian los supuestos?</a:t>
            </a:r>
            <a:endParaRPr lang="en-US" sz="1500" dirty="0"/>
          </a:p>
        </p:txBody>
      </p:sp>
      <p:sp>
        <p:nvSpPr>
          <p:cNvPr id="11" name="Text 7"/>
          <p:cNvSpPr txBox="1"/>
          <p:nvPr/>
        </p:nvSpPr>
        <p:spPr>
          <a:xfrm>
            <a:off x="8119872" y="2487168"/>
            <a:ext cx="3383280" cy="256032"/>
          </a:xfrm>
          <a:prstGeom prst="rect">
            <a:avLst/>
          </a:prstGeom>
          <a:noFill/>
          <a:ln/>
        </p:spPr>
        <p:txBody>
          <a:bodyPr wrap="square" lIns="0" tIns="0" rIns="0" bIns="0" rtlCol="0" anchor="ctr"/>
          <a:lstStyle/>
          <a:p>
            <a:pPr indent="0" marL="0">
              <a:buNone/>
            </a:pPr>
            <a:r>
              <a:rPr lang="en-US" sz="1100" b="1" spc="100" kern="0" dirty="0">
                <a:solidFill>
                  <a:srgbClr val="2A78D6"/>
                </a:solidFill>
                <a:latin typeface="Calibri" pitchFamily="34" charset="0"/>
                <a:ea typeface="Calibri" pitchFamily="34" charset="-122"/>
                <a:cs typeface="Calibri" pitchFamily="34" charset="-120"/>
              </a:rPr>
              <a:t>ACCIONES QUE TOMAMOS CON ESTA VISTA</a:t>
            </a:r>
            <a:endParaRPr lang="en-US" sz="1100" dirty="0"/>
          </a:p>
        </p:txBody>
      </p:sp>
      <p:sp>
        <p:nvSpPr>
          <p:cNvPr id="12" name="Shape 8"/>
          <p:cNvSpPr/>
          <p:nvPr/>
        </p:nvSpPr>
        <p:spPr>
          <a:xfrm>
            <a:off x="8119872" y="2834640"/>
            <a:ext cx="329184" cy="329184"/>
          </a:xfrm>
          <a:prstGeom prst="ellipse">
            <a:avLst/>
          </a:prstGeom>
          <a:solidFill>
            <a:srgbClr val="EB6834"/>
          </a:solidFill>
          <a:ln w="12700">
            <a:solidFill>
              <a:srgbClr val="EB6834"/>
            </a:solidFill>
            <a:prstDash val="solid"/>
          </a:ln>
        </p:spPr>
        <p:txBody>
          <a:bodyPr/>
          <a:p/>
        </p:txBody>
      </p:sp>
      <p:sp>
        <p:nvSpPr>
          <p:cNvPr id="13" name="Text 9"/>
          <p:cNvSpPr txBox="1"/>
          <p:nvPr/>
        </p:nvSpPr>
        <p:spPr>
          <a:xfrm>
            <a:off x="8119872" y="28346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4" name="Text 10"/>
          <p:cNvSpPr txBox="1"/>
          <p:nvPr/>
        </p:nvSpPr>
        <p:spPr>
          <a:xfrm>
            <a:off x="8558784" y="2816352"/>
            <a:ext cx="2971800" cy="987552"/>
          </a:xfrm>
          <a:prstGeom prst="rect">
            <a:avLst/>
          </a:prstGeom>
          <a:noFill/>
          <a:ln/>
        </p:spPr>
        <p:txBody>
          <a:bodyPr wrap="square" lIns="0" tIns="0" rIns="0" bIns="0" rtlCol="0" anchor="t"/>
          <a:lstStyle/>
          <a:p>
            <a:pPr indent="0" marL="0">
              <a:buNone/>
            </a:pPr>
            <a:r>
              <a:rPr lang="en-US" sz="1250" b="1" dirty="0">
                <a:solidFill>
                  <a:srgbClr val="13294B"/>
                </a:solidFill>
                <a:latin typeface="Calibri" pitchFamily="34" charset="0"/>
                <a:ea typeface="Calibri" pitchFamily="34" charset="-122"/>
                <a:cs typeface="Calibri" pitchFamily="34" charset="-120"/>
              </a:rPr>
              <a:t>Escenario conservador</a:t>
            </a:r>
            <a:endParaRPr lang="en-US" sz="1250" dirty="0"/>
          </a:p>
          <a:p>
            <a:pPr indent="0" marL="0">
              <a:buNone/>
            </a:pPr>
            <a:r>
              <a:rPr lang="en-US" sz="1250" dirty="0">
                <a:solidFill>
                  <a:srgbClr val="1B1F24"/>
                </a:solidFill>
                <a:latin typeface="Calibri" pitchFamily="34" charset="0"/>
                <a:ea typeface="Calibri" pitchFamily="34" charset="-122"/>
                <a:cs typeface="Calibri" pitchFamily="34" charset="-120"/>
              </a:rPr>
              <a:t>El ROI focalizado cae a −48 %: por eso no se escala sin piloto.</a:t>
            </a:r>
            <a:endParaRPr lang="en-US" sz="1250" dirty="0"/>
          </a:p>
        </p:txBody>
      </p:sp>
      <p:sp>
        <p:nvSpPr>
          <p:cNvPr id="15" name="Shape 11"/>
          <p:cNvSpPr/>
          <p:nvPr/>
        </p:nvSpPr>
        <p:spPr>
          <a:xfrm>
            <a:off x="8119872" y="3858768"/>
            <a:ext cx="329184" cy="329184"/>
          </a:xfrm>
          <a:prstGeom prst="ellipse">
            <a:avLst/>
          </a:prstGeom>
          <a:solidFill>
            <a:srgbClr val="EB6834"/>
          </a:solidFill>
          <a:ln w="12700">
            <a:solidFill>
              <a:srgbClr val="EB6834"/>
            </a:solidFill>
            <a:prstDash val="solid"/>
          </a:ln>
        </p:spPr>
        <p:txBody>
          <a:bodyPr/>
          <a:p/>
        </p:txBody>
      </p:sp>
      <p:sp>
        <p:nvSpPr>
          <p:cNvPr id="16" name="Text 12"/>
          <p:cNvSpPr txBox="1"/>
          <p:nvPr/>
        </p:nvSpPr>
        <p:spPr>
          <a:xfrm>
            <a:off x="8119872" y="385876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7" name="Text 13"/>
          <p:cNvSpPr txBox="1"/>
          <p:nvPr/>
        </p:nvSpPr>
        <p:spPr>
          <a:xfrm>
            <a:off x="8558784" y="3840480"/>
            <a:ext cx="2971800" cy="987552"/>
          </a:xfrm>
          <a:prstGeom prst="rect">
            <a:avLst/>
          </a:prstGeom>
          <a:noFill/>
          <a:ln/>
        </p:spPr>
        <p:txBody>
          <a:bodyPr wrap="square" lIns="0" tIns="0" rIns="0" bIns="0" rtlCol="0" anchor="t"/>
          <a:lstStyle/>
          <a:p>
            <a:pPr indent="0" marL="0">
              <a:buNone/>
            </a:pPr>
            <a:r>
              <a:rPr lang="en-US" sz="1250" b="1" dirty="0">
                <a:solidFill>
                  <a:srgbClr val="13294B"/>
                </a:solidFill>
                <a:latin typeface="Calibri" pitchFamily="34" charset="0"/>
                <a:ea typeface="Calibri" pitchFamily="34" charset="-122"/>
                <a:cs typeface="Calibri" pitchFamily="34" charset="-120"/>
              </a:rPr>
              <a:t>Alternativa B en escenario base</a:t>
            </a:r>
            <a:endParaRPr lang="en-US" sz="1250" dirty="0"/>
          </a:p>
          <a:p>
            <a:pPr indent="0" marL="0">
              <a:buNone/>
            </a:pPr>
            <a:r>
              <a:rPr lang="en-US" sz="1250" dirty="0">
                <a:solidFill>
                  <a:srgbClr val="1B1F24"/>
                </a:solidFill>
                <a:latin typeface="Calibri" pitchFamily="34" charset="0"/>
                <a:ea typeface="Calibri" pitchFamily="34" charset="-122"/>
                <a:cs typeface="Calibri" pitchFamily="34" charset="-120"/>
              </a:rPr>
              <a:t>El descuento masivo da −32 %: se descarta.</a:t>
            </a:r>
            <a:endParaRPr lang="en-US" sz="1250" dirty="0"/>
          </a:p>
        </p:txBody>
      </p:sp>
      <p:sp>
        <p:nvSpPr>
          <p:cNvPr id="18" name="Shape 14"/>
          <p:cNvSpPr/>
          <p:nvPr/>
        </p:nvSpPr>
        <p:spPr>
          <a:xfrm>
            <a:off x="8119872" y="4882896"/>
            <a:ext cx="329184" cy="329184"/>
          </a:xfrm>
          <a:prstGeom prst="ellipse">
            <a:avLst/>
          </a:prstGeom>
          <a:solidFill>
            <a:srgbClr val="EB6834"/>
          </a:solidFill>
          <a:ln w="12700">
            <a:solidFill>
              <a:srgbClr val="EB6834"/>
            </a:solidFill>
            <a:prstDash val="solid"/>
          </a:ln>
        </p:spPr>
        <p:txBody>
          <a:bodyPr/>
          <a:p/>
        </p:txBody>
      </p:sp>
      <p:sp>
        <p:nvSpPr>
          <p:cNvPr id="19" name="Text 15"/>
          <p:cNvSpPr txBox="1"/>
          <p:nvPr/>
        </p:nvSpPr>
        <p:spPr>
          <a:xfrm>
            <a:off x="8119872" y="488289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6"/>
          <p:cNvSpPr txBox="1"/>
          <p:nvPr/>
        </p:nvSpPr>
        <p:spPr>
          <a:xfrm>
            <a:off x="8558784" y="4864608"/>
            <a:ext cx="2971800" cy="987552"/>
          </a:xfrm>
          <a:prstGeom prst="rect">
            <a:avLst/>
          </a:prstGeom>
          <a:noFill/>
          <a:ln/>
        </p:spPr>
        <p:txBody>
          <a:bodyPr wrap="square" lIns="0" tIns="0" rIns="0" bIns="0" rtlCol="0" anchor="t"/>
          <a:lstStyle/>
          <a:p>
            <a:pPr indent="0" marL="0">
              <a:buNone/>
            </a:pPr>
            <a:r>
              <a:rPr lang="en-US" sz="1250" b="1" dirty="0">
                <a:solidFill>
                  <a:srgbClr val="13294B"/>
                </a:solidFill>
                <a:latin typeface="Calibri" pitchFamily="34" charset="0"/>
                <a:ea typeface="Calibri" pitchFamily="34" charset="-122"/>
                <a:cs typeface="Calibri" pitchFamily="34" charset="-120"/>
              </a:rPr>
              <a:t>Reducción y horizonte</a:t>
            </a:r>
            <a:endParaRPr lang="en-US" sz="1250" dirty="0"/>
          </a:p>
          <a:p>
            <a:pPr indent="0" marL="0">
              <a:buNone/>
            </a:pPr>
            <a:r>
              <a:rPr lang="en-US" sz="1250" dirty="0">
                <a:solidFill>
                  <a:srgbClr val="1B1F24"/>
                </a:solidFill>
                <a:latin typeface="Calibri" pitchFamily="34" charset="0"/>
                <a:ea typeface="Calibri" pitchFamily="34" charset="-122"/>
                <a:cs typeface="Calibri" pitchFamily="34" charset="-120"/>
              </a:rPr>
              <a:t>El equilibrio está en 5,0 % con 12 meses y en 10,1 % con 6 meses; se puede filtrar por contrato e internet.</a:t>
            </a:r>
            <a:endParaRPr lang="en-US" sz="1250" dirty="0"/>
          </a:p>
        </p:txBody>
      </p:sp>
      <p:sp>
        <p:nvSpPr>
          <p:cNvPr id="25" name="Slide Number Placeholder 0"/>
          <p:cNvSpPr>
            <a:spLocks noGrp="1"/>
          </p:cNvSpPr>
          <p:nvPr>
            <p:ph type="sldNum" sz="quarter" idx="4294967295"/>
          </p:nvPr>
        </p:nvSpPr>
        <p:spPr>
          <a:xfrm>
            <a:off x="11091672"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5B6573"/>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164592"/>
            <a:ext cx="11091672" cy="256032"/>
          </a:xfrm>
          <a:prstGeom prst="rect">
            <a:avLst/>
          </a:prstGeom>
          <a:noFill/>
          <a:ln/>
        </p:spPr>
        <p:txBody>
          <a:bodyPr wrap="square" lIns="0" tIns="0" rIns="0" bIns="0" rtlCol="0" anchor="ctr"/>
          <a:lstStyle/>
          <a:p>
            <a:pPr indent="0" marL="0">
              <a:buNone/>
            </a:pPr>
            <a:r>
              <a:rPr lang="en-US" sz="1100" b="1" spc="50" kern="0" dirty="0">
                <a:solidFill>
                  <a:srgbClr val="2A78D6"/>
                </a:solidFill>
                <a:latin typeface="Calibri" pitchFamily="34" charset="0"/>
                <a:ea typeface="Calibri" pitchFamily="34" charset="-122"/>
                <a:cs typeface="Calibri" pitchFamily="34" charset="-120"/>
              </a:rPr>
              <a:t>05 · MONITOREO Y RECOMENDACIÓN</a:t>
            </a:r>
            <a:pPr indent="0" marL="0">
              <a:buNone/>
            </a:pPr>
            <a:endParaRPr lang="en-US" sz="1100" dirty="0"/>
          </a:p>
        </p:txBody>
      </p:sp>
      <p:sp>
        <p:nvSpPr>
          <p:cNvPr id="3" name="Text 0"/>
          <p:cNvSpPr/>
          <p:nvPr>
            <p:ph idx="100" type="title" hasCustomPrompt="1"/>
          </p:nvPr>
        </p:nvSpPr>
        <p:spPr>
          <a:xfrm>
            <a:off x="548640" y="457200"/>
            <a:ext cx="11091672" cy="841248"/>
          </a:xfrm>
          <a:prstGeom prst="rect">
            <a:avLst/>
          </a:prstGeom>
          <a:noFill/>
          <a:ln/>
        </p:spPr>
        <p:txBody>
          <a:bodyPr wrap="square" lIns="0" tIns="0" rIns="0" bIns="0" rtlCol="0" anchor="t"/>
          <a:lstStyle/>
          <a:p>
            <a:pPr algn="l" indent="0" marL="0">
              <a:buNone/>
            </a:pPr>
            <a:r>
              <a:rPr lang="en-US" sz="2400" b="1" dirty="0">
                <a:solidFill>
                  <a:srgbClr val="13294B"/>
                </a:solidFill>
                <a:latin typeface="Cambria" pitchFamily="34" charset="0"/>
                <a:ea typeface="Cambria" pitchFamily="34" charset="-122"/>
                <a:cs typeface="Cambria" pitchFamily="34" charset="-120"/>
              </a:rPr>
              <a:t>Reglas de monitoreo: cada métrica tiene umbral, interpretación, acción y responsable</a:t>
            </a:r>
            <a:endParaRPr lang="en-US" sz="24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1737360"/>
                <a:gridCol w="914400"/>
                <a:gridCol w="1005840"/>
                <a:gridCol w="1280160"/>
                <a:gridCol w="960120"/>
                <a:gridCol w="1691640"/>
                <a:gridCol w="2194560"/>
                <a:gridCol w="1307592"/>
              </a:tblGrid>
              <a:tr h="40233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Métrica</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13294B"/>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Corte</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13294B"/>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Verde</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13294B"/>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Amarillo</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13294B"/>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Rojo</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13294B"/>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Interpretación</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13294B"/>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Acción si sale del umbral</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13294B"/>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Responsable</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13294B"/>
                    </a:solidFill>
                  </a:tcPr>
                </a:tc>
              </a:tr>
              <a:tr h="402336">
                <a:tc>
                  <a:txBody>
                    <a:bodyPr/>
                    <a:lstStyle/>
                    <a:p>
                      <a:pPr indent="0" marL="0">
                        <a:buNone/>
                      </a:pPr>
                      <a:r>
                        <a:rPr lang="en-US" sz="1050" b="1" dirty="0">
                          <a:solidFill>
                            <a:srgbClr val="1B1F24"/>
                          </a:solidFill>
                          <a:latin typeface="Calibri" pitchFamily="34" charset="0"/>
                          <a:ea typeface="Calibri" pitchFamily="34" charset="-122"/>
                          <a:cs typeface="Calibri" pitchFamily="34" charset="-120"/>
                        </a:rPr>
                        <a:t>% MRR retenido (NSM)</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indent="0" marL="0">
                        <a:buNone/>
                      </a:pPr>
                      <a:r>
                        <a:rPr lang="en-US" sz="1050" dirty="0">
                          <a:solidFill>
                            <a:srgbClr val="1B1F24"/>
                          </a:solidFill>
                          <a:latin typeface="Calibri" pitchFamily="34" charset="0"/>
                          <a:ea typeface="Calibri" pitchFamily="34" charset="-122"/>
                          <a:cs typeface="Calibri" pitchFamily="34" charset="-120"/>
                        </a:rPr>
                        <a:t>69,5 %</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indent="0" marL="0">
                        <a:buNone/>
                      </a:pPr>
                      <a:r>
                        <a:rPr lang="en-US" sz="1050" dirty="0">
                          <a:solidFill>
                            <a:srgbClr val="138A3F"/>
                          </a:solidFill>
                          <a:latin typeface="Calibri" pitchFamily="34" charset="0"/>
                          <a:ea typeface="Calibri" pitchFamily="34" charset="-122"/>
                          <a:cs typeface="Calibri" pitchFamily="34" charset="-120"/>
                        </a:rPr>
                        <a:t>≥ 75 %</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indent="0" marL="0">
                        <a:buNone/>
                      </a:pPr>
                      <a:r>
                        <a:rPr lang="en-US" sz="1050" dirty="0">
                          <a:solidFill>
                            <a:srgbClr val="B07400"/>
                          </a:solidFill>
                          <a:latin typeface="Calibri" pitchFamily="34" charset="0"/>
                          <a:ea typeface="Calibri" pitchFamily="34" charset="-122"/>
                          <a:cs typeface="Calibri" pitchFamily="34" charset="-120"/>
                        </a:rPr>
                        <a:t>69,5 % – 75 %</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indent="0" marL="0">
                        <a:buNone/>
                      </a:pPr>
                      <a:r>
                        <a:rPr lang="en-US" sz="1050" dirty="0">
                          <a:solidFill>
                            <a:srgbClr val="C8312F"/>
                          </a:solidFill>
                          <a:latin typeface="Calibri" pitchFamily="34" charset="0"/>
                          <a:ea typeface="Calibri" pitchFamily="34" charset="-122"/>
                          <a:cs typeface="Calibri" pitchFamily="34" charset="-120"/>
                        </a:rPr>
                        <a:t>&lt; 69,5 %</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indent="0" marL="0">
                        <a:buNone/>
                      </a:pPr>
                      <a:r>
                        <a:rPr lang="en-US" sz="1050" dirty="0">
                          <a:solidFill>
                            <a:srgbClr val="1B1F24"/>
                          </a:solidFill>
                          <a:latin typeface="Calibri" pitchFamily="34" charset="0"/>
                          <a:ea typeface="Calibri" pitchFamily="34" charset="-122"/>
                          <a:cs typeface="Calibri" pitchFamily="34" charset="-120"/>
                        </a:rPr>
                        <a:t>Ingreso recurrente que se conserva</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indent="0" marL="0">
                        <a:buNone/>
                      </a:pPr>
                      <a:r>
                        <a:rPr lang="en-US" sz="1050" dirty="0">
                          <a:solidFill>
                            <a:srgbClr val="1B1F24"/>
                          </a:solidFill>
                          <a:latin typeface="Calibri" pitchFamily="34" charset="0"/>
                          <a:ea typeface="Calibri" pitchFamily="34" charset="-122"/>
                          <a:cs typeface="Calibri" pitchFamily="34" charset="-120"/>
                        </a:rPr>
                        <a:t>Rojo: el Comité revisa presupuesto y palancas. Amarillo: mantener el piloto y reforzar P1.</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indent="0" marL="0">
                        <a:buNone/>
                      </a:pPr>
                      <a:r>
                        <a:rPr lang="en-US" sz="1050" dirty="0">
                          <a:solidFill>
                            <a:srgbClr val="1B1F24"/>
                          </a:solidFill>
                          <a:latin typeface="Calibri" pitchFamily="34" charset="0"/>
                          <a:ea typeface="Calibri" pitchFamily="34" charset="-122"/>
                          <a:cs typeface="Calibri" pitchFamily="34" charset="-120"/>
                        </a:rPr>
                        <a:t>Gerencia de Retención</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r>
              <a:tr h="402336">
                <a:tc>
                  <a:txBody>
                    <a:bodyPr/>
                    <a:lstStyle/>
                    <a:p>
                      <a:pPr indent="0" marL="0">
                        <a:buNone/>
                      </a:pPr>
                      <a:r>
                        <a:rPr lang="en-US" sz="1050" b="1" dirty="0">
                          <a:solidFill>
                            <a:srgbClr val="1B1F24"/>
                          </a:solidFill>
                          <a:latin typeface="Calibri" pitchFamily="34" charset="0"/>
                          <a:ea typeface="Calibri" pitchFamily="34" charset="-122"/>
                          <a:cs typeface="Calibri" pitchFamily="34" charset="-120"/>
                        </a:rPr>
                        <a:t>Tasa de churn</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dirty="0">
                          <a:solidFill>
                            <a:srgbClr val="1B1F24"/>
                          </a:solidFill>
                          <a:latin typeface="Calibri" pitchFamily="34" charset="0"/>
                          <a:ea typeface="Calibri" pitchFamily="34" charset="-122"/>
                          <a:cs typeface="Calibri" pitchFamily="34" charset="-120"/>
                        </a:rPr>
                        <a:t>26,5 %</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dirty="0">
                          <a:solidFill>
                            <a:srgbClr val="138A3F"/>
                          </a:solidFill>
                          <a:latin typeface="Calibri" pitchFamily="34" charset="0"/>
                          <a:ea typeface="Calibri" pitchFamily="34" charset="-122"/>
                          <a:cs typeface="Calibri" pitchFamily="34" charset="-120"/>
                        </a:rPr>
                        <a:t>≤ 22 %</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dirty="0">
                          <a:solidFill>
                            <a:srgbClr val="B07400"/>
                          </a:solidFill>
                          <a:latin typeface="Calibri" pitchFamily="34" charset="0"/>
                          <a:ea typeface="Calibri" pitchFamily="34" charset="-122"/>
                          <a:cs typeface="Calibri" pitchFamily="34" charset="-120"/>
                        </a:rPr>
                        <a:t>22 % – 26,5 %</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dirty="0">
                          <a:solidFill>
                            <a:srgbClr val="C8312F"/>
                          </a:solidFill>
                          <a:latin typeface="Calibri" pitchFamily="34" charset="0"/>
                          <a:ea typeface="Calibri" pitchFamily="34" charset="-122"/>
                          <a:cs typeface="Calibri" pitchFamily="34" charset="-120"/>
                        </a:rPr>
                        <a:t>&gt; 26,5 %</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dirty="0">
                          <a:solidFill>
                            <a:srgbClr val="1B1F24"/>
                          </a:solidFill>
                          <a:latin typeface="Calibri" pitchFamily="34" charset="0"/>
                          <a:ea typeface="Calibri" pitchFamily="34" charset="-122"/>
                          <a:cs typeface="Calibri" pitchFamily="34" charset="-120"/>
                        </a:rPr>
                        <a:t>Clientes perdidos en el período</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dirty="0">
                          <a:solidFill>
                            <a:srgbClr val="1B1F24"/>
                          </a:solidFill>
                          <a:latin typeface="Calibri" pitchFamily="34" charset="0"/>
                          <a:ea typeface="Calibri" pitchFamily="34" charset="-122"/>
                          <a:cs typeface="Calibri" pitchFamily="34" charset="-120"/>
                        </a:rPr>
                        <a:t>Revisar en la vista diagnóstica qué segmento empeoró.</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dirty="0">
                          <a:solidFill>
                            <a:srgbClr val="1B1F24"/>
                          </a:solidFill>
                          <a:latin typeface="Calibri" pitchFamily="34" charset="0"/>
                          <a:ea typeface="Calibri" pitchFamily="34" charset="-122"/>
                          <a:cs typeface="Calibri" pitchFamily="34" charset="-120"/>
                        </a:rPr>
                        <a:t>Gerencia de Retención</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r>
              <a:tr h="402336">
                <a:tc>
                  <a:txBody>
                    <a:bodyPr/>
                    <a:lstStyle/>
                    <a:p>
                      <a:pPr indent="0" marL="0">
                        <a:buNone/>
                      </a:pPr>
                      <a:r>
                        <a:rPr lang="en-US" sz="1050" b="1" dirty="0">
                          <a:solidFill>
                            <a:srgbClr val="1B1F24"/>
                          </a:solidFill>
                          <a:latin typeface="Calibri" pitchFamily="34" charset="0"/>
                          <a:ea typeface="Calibri" pitchFamily="34" charset="-122"/>
                          <a:cs typeface="Calibri" pitchFamily="34" charset="-120"/>
                        </a:rPr>
                        <a:t>Churn temprano (0–6 m)</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indent="0" marL="0">
                        <a:buNone/>
                      </a:pPr>
                      <a:r>
                        <a:rPr lang="en-US" sz="1050" dirty="0">
                          <a:solidFill>
                            <a:srgbClr val="1B1F24"/>
                          </a:solidFill>
                          <a:latin typeface="Calibri" pitchFamily="34" charset="0"/>
                          <a:ea typeface="Calibri" pitchFamily="34" charset="-122"/>
                          <a:cs typeface="Calibri" pitchFamily="34" charset="-120"/>
                        </a:rPr>
                        <a:t>52,9 %</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indent="0" marL="0">
                        <a:buNone/>
                      </a:pPr>
                      <a:r>
                        <a:rPr lang="en-US" sz="1050" dirty="0">
                          <a:solidFill>
                            <a:srgbClr val="138A3F"/>
                          </a:solidFill>
                          <a:latin typeface="Calibri" pitchFamily="34" charset="0"/>
                          <a:ea typeface="Calibri" pitchFamily="34" charset="-122"/>
                          <a:cs typeface="Calibri" pitchFamily="34" charset="-120"/>
                        </a:rPr>
                        <a:t>≤ 45 %</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indent="0" marL="0">
                        <a:buNone/>
                      </a:pPr>
                      <a:r>
                        <a:rPr lang="en-US" sz="1050" dirty="0">
                          <a:solidFill>
                            <a:srgbClr val="B07400"/>
                          </a:solidFill>
                          <a:latin typeface="Calibri" pitchFamily="34" charset="0"/>
                          <a:ea typeface="Calibri" pitchFamily="34" charset="-122"/>
                          <a:cs typeface="Calibri" pitchFamily="34" charset="-120"/>
                        </a:rPr>
                        <a:t>45 % – 52,9 %</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indent="0" marL="0">
                        <a:buNone/>
                      </a:pPr>
                      <a:r>
                        <a:rPr lang="en-US" sz="1050" dirty="0">
                          <a:solidFill>
                            <a:srgbClr val="C8312F"/>
                          </a:solidFill>
                          <a:latin typeface="Calibri" pitchFamily="34" charset="0"/>
                          <a:ea typeface="Calibri" pitchFamily="34" charset="-122"/>
                          <a:cs typeface="Calibri" pitchFamily="34" charset="-120"/>
                        </a:rPr>
                        <a:t>&gt; 52,9 %</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indent="0" marL="0">
                        <a:buNone/>
                      </a:pPr>
                      <a:r>
                        <a:rPr lang="en-US" sz="1050" dirty="0">
                          <a:solidFill>
                            <a:srgbClr val="1B1F24"/>
                          </a:solidFill>
                          <a:latin typeface="Calibri" pitchFamily="34" charset="0"/>
                          <a:ea typeface="Calibri" pitchFamily="34" charset="-122"/>
                          <a:cs typeface="Calibri" pitchFamily="34" charset="-120"/>
                        </a:rPr>
                        <a:t>Calidad de la experiencia inicial</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indent="0" marL="0">
                        <a:buNone/>
                      </a:pPr>
                      <a:r>
                        <a:rPr lang="en-US" sz="1050" dirty="0">
                          <a:solidFill>
                            <a:srgbClr val="1B1F24"/>
                          </a:solidFill>
                          <a:latin typeface="Calibri" pitchFamily="34" charset="0"/>
                          <a:ea typeface="Calibri" pitchFamily="34" charset="-122"/>
                          <a:cs typeface="Calibri" pitchFamily="34" charset="-120"/>
                        </a:rPr>
                        <a:t>Auditar el onboarding y ampliar la cobertura de L4.</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indent="0" marL="0">
                        <a:buNone/>
                      </a:pPr>
                      <a:r>
                        <a:rPr lang="en-US" sz="1050" dirty="0">
                          <a:solidFill>
                            <a:srgbClr val="1B1F24"/>
                          </a:solidFill>
                          <a:latin typeface="Calibri" pitchFamily="34" charset="0"/>
                          <a:ea typeface="Calibri" pitchFamily="34" charset="-122"/>
                          <a:cs typeface="Calibri" pitchFamily="34" charset="-120"/>
                        </a:rPr>
                        <a:t>Customer Success</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r>
              <a:tr h="402336">
                <a:tc>
                  <a:txBody>
                    <a:bodyPr/>
                    <a:lstStyle/>
                    <a:p>
                      <a:pPr indent="0" marL="0">
                        <a:buNone/>
                      </a:pPr>
                      <a:r>
                        <a:rPr lang="en-US" sz="1050" b="1" dirty="0">
                          <a:solidFill>
                            <a:srgbClr val="1B1F24"/>
                          </a:solidFill>
                          <a:latin typeface="Calibri" pitchFamily="34" charset="0"/>
                          <a:ea typeface="Calibri" pitchFamily="34" charset="-122"/>
                          <a:cs typeface="Calibri" pitchFamily="34" charset="-120"/>
                        </a:rPr>
                        <a:t>% contratos a plazo</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dirty="0">
                          <a:solidFill>
                            <a:srgbClr val="1B1F24"/>
                          </a:solidFill>
                          <a:latin typeface="Calibri" pitchFamily="34" charset="0"/>
                          <a:ea typeface="Calibri" pitchFamily="34" charset="-122"/>
                          <a:cs typeface="Calibri" pitchFamily="34" charset="-120"/>
                        </a:rPr>
                        <a:t>45,0 %</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dirty="0">
                          <a:solidFill>
                            <a:srgbClr val="138A3F"/>
                          </a:solidFill>
                          <a:latin typeface="Calibri" pitchFamily="34" charset="0"/>
                          <a:ea typeface="Calibri" pitchFamily="34" charset="-122"/>
                          <a:cs typeface="Calibri" pitchFamily="34" charset="-120"/>
                        </a:rPr>
                        <a:t>≥ 50 %</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dirty="0">
                          <a:solidFill>
                            <a:srgbClr val="B07400"/>
                          </a:solidFill>
                          <a:latin typeface="Calibri" pitchFamily="34" charset="0"/>
                          <a:ea typeface="Calibri" pitchFamily="34" charset="-122"/>
                          <a:cs typeface="Calibri" pitchFamily="34" charset="-120"/>
                        </a:rPr>
                        <a:t>45,0 % – 50 %</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dirty="0">
                          <a:solidFill>
                            <a:srgbClr val="C8312F"/>
                          </a:solidFill>
                          <a:latin typeface="Calibri" pitchFamily="34" charset="0"/>
                          <a:ea typeface="Calibri" pitchFamily="34" charset="-122"/>
                          <a:cs typeface="Calibri" pitchFamily="34" charset="-120"/>
                        </a:rPr>
                        <a:t>&lt; 45,0 %</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dirty="0">
                          <a:solidFill>
                            <a:srgbClr val="1B1F24"/>
                          </a:solidFill>
                          <a:latin typeface="Calibri" pitchFamily="34" charset="0"/>
                          <a:ea typeface="Calibri" pitchFamily="34" charset="-122"/>
                          <a:cs typeface="Calibri" pitchFamily="34" charset="-120"/>
                        </a:rPr>
                        <a:t>Estabilidad de la base</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dirty="0">
                          <a:solidFill>
                            <a:srgbClr val="1B1F24"/>
                          </a:solidFill>
                          <a:latin typeface="Calibri" pitchFamily="34" charset="0"/>
                          <a:ea typeface="Calibri" pitchFamily="34" charset="-122"/>
                          <a:cs typeface="Calibri" pitchFamily="34" charset="-120"/>
                        </a:rPr>
                        <a:t>Revisar la oferta L1, solo en riesgo alto.</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dirty="0">
                          <a:solidFill>
                            <a:srgbClr val="1B1F24"/>
                          </a:solidFill>
                          <a:latin typeface="Calibri" pitchFamily="34" charset="0"/>
                          <a:ea typeface="Calibri" pitchFamily="34" charset="-122"/>
                          <a:cs typeface="Calibri" pitchFamily="34" charset="-120"/>
                        </a:rPr>
                        <a:t>Dirección Comercial</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r>
              <a:tr h="402336">
                <a:tc>
                  <a:txBody>
                    <a:bodyPr/>
                    <a:lstStyle/>
                    <a:p>
                      <a:pPr indent="0" marL="0">
                        <a:buNone/>
                      </a:pPr>
                      <a:r>
                        <a:rPr lang="en-US" sz="1050" b="1" dirty="0">
                          <a:solidFill>
                            <a:srgbClr val="1B1F24"/>
                          </a:solidFill>
                          <a:latin typeface="Calibri" pitchFamily="34" charset="0"/>
                          <a:ea typeface="Calibri" pitchFamily="34" charset="-122"/>
                          <a:cs typeface="Calibri" pitchFamily="34" charset="-120"/>
                        </a:rPr>
                        <a:t>% pago automático</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indent="0" marL="0">
                        <a:buNone/>
                      </a:pPr>
                      <a:r>
                        <a:rPr lang="en-US" sz="1050" dirty="0">
                          <a:solidFill>
                            <a:srgbClr val="1B1F24"/>
                          </a:solidFill>
                          <a:latin typeface="Calibri" pitchFamily="34" charset="0"/>
                          <a:ea typeface="Calibri" pitchFamily="34" charset="-122"/>
                          <a:cs typeface="Calibri" pitchFamily="34" charset="-120"/>
                        </a:rPr>
                        <a:t>43,5 %</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indent="0" marL="0">
                        <a:buNone/>
                      </a:pPr>
                      <a:r>
                        <a:rPr lang="en-US" sz="1050" dirty="0">
                          <a:solidFill>
                            <a:srgbClr val="138A3F"/>
                          </a:solidFill>
                          <a:latin typeface="Calibri" pitchFamily="34" charset="0"/>
                          <a:ea typeface="Calibri" pitchFamily="34" charset="-122"/>
                          <a:cs typeface="Calibri" pitchFamily="34" charset="-120"/>
                        </a:rPr>
                        <a:t>≥ 50 %</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indent="0" marL="0">
                        <a:buNone/>
                      </a:pPr>
                      <a:r>
                        <a:rPr lang="en-US" sz="1050" dirty="0">
                          <a:solidFill>
                            <a:srgbClr val="B07400"/>
                          </a:solidFill>
                          <a:latin typeface="Calibri" pitchFamily="34" charset="0"/>
                          <a:ea typeface="Calibri" pitchFamily="34" charset="-122"/>
                          <a:cs typeface="Calibri" pitchFamily="34" charset="-120"/>
                        </a:rPr>
                        <a:t>43,5 % – 50 %</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indent="0" marL="0">
                        <a:buNone/>
                      </a:pPr>
                      <a:r>
                        <a:rPr lang="en-US" sz="1050" dirty="0">
                          <a:solidFill>
                            <a:srgbClr val="C8312F"/>
                          </a:solidFill>
                          <a:latin typeface="Calibri" pitchFamily="34" charset="0"/>
                          <a:ea typeface="Calibri" pitchFamily="34" charset="-122"/>
                          <a:cs typeface="Calibri" pitchFamily="34" charset="-120"/>
                        </a:rPr>
                        <a:t>&lt; 43,5 %</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indent="0" marL="0">
                        <a:buNone/>
                      </a:pPr>
                      <a:r>
                        <a:rPr lang="en-US" sz="1050" dirty="0">
                          <a:solidFill>
                            <a:srgbClr val="1B1F24"/>
                          </a:solidFill>
                          <a:latin typeface="Calibri" pitchFamily="34" charset="0"/>
                          <a:ea typeface="Calibri" pitchFamily="34" charset="-122"/>
                          <a:cs typeface="Calibri" pitchFamily="34" charset="-120"/>
                        </a:rPr>
                        <a:t>Fricción de pago</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indent="0" marL="0">
                        <a:buNone/>
                      </a:pPr>
                      <a:r>
                        <a:rPr lang="en-US" sz="1050" dirty="0">
                          <a:solidFill>
                            <a:srgbClr val="1B1F24"/>
                          </a:solidFill>
                          <a:latin typeface="Calibri" pitchFamily="34" charset="0"/>
                          <a:ea typeface="Calibri" pitchFamily="34" charset="-122"/>
                          <a:cs typeface="Calibri" pitchFamily="34" charset="-120"/>
                        </a:rPr>
                        <a:t>Reforzar el incentivo L3 y la comunicación en la factura.</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indent="0" marL="0">
                        <a:buNone/>
                      </a:pPr>
                      <a:r>
                        <a:rPr lang="en-US" sz="1050" dirty="0">
                          <a:solidFill>
                            <a:srgbClr val="1B1F24"/>
                          </a:solidFill>
                          <a:latin typeface="Calibri" pitchFamily="34" charset="0"/>
                          <a:ea typeface="Calibri" pitchFamily="34" charset="-122"/>
                          <a:cs typeface="Calibri" pitchFamily="34" charset="-120"/>
                        </a:rPr>
                        <a:t>Facturación</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r>
              <a:tr h="402336">
                <a:tc>
                  <a:txBody>
                    <a:bodyPr/>
                    <a:lstStyle/>
                    <a:p>
                      <a:pPr indent="0" marL="0">
                        <a:buNone/>
                      </a:pPr>
                      <a:r>
                        <a:rPr lang="en-US" sz="1050" b="1" dirty="0">
                          <a:solidFill>
                            <a:srgbClr val="1B1F24"/>
                          </a:solidFill>
                          <a:latin typeface="Calibri" pitchFamily="34" charset="0"/>
                          <a:ea typeface="Calibri" pitchFamily="34" charset="-122"/>
                          <a:cs typeface="Calibri" pitchFamily="34" charset="-120"/>
                        </a:rPr>
                        <a:t>Adopción de protección</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dirty="0">
                          <a:solidFill>
                            <a:srgbClr val="1B1F24"/>
                          </a:solidFill>
                          <a:latin typeface="Calibri" pitchFamily="34" charset="0"/>
                          <a:ea typeface="Calibri" pitchFamily="34" charset="-122"/>
                          <a:cs typeface="Calibri" pitchFamily="34" charset="-120"/>
                        </a:rPr>
                        <a:t>53,7 %</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dirty="0">
                          <a:solidFill>
                            <a:srgbClr val="138A3F"/>
                          </a:solidFill>
                          <a:latin typeface="Calibri" pitchFamily="34" charset="0"/>
                          <a:ea typeface="Calibri" pitchFamily="34" charset="-122"/>
                          <a:cs typeface="Calibri" pitchFamily="34" charset="-120"/>
                        </a:rPr>
                        <a:t>≥ 58,7 %</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dirty="0">
                          <a:solidFill>
                            <a:srgbClr val="B07400"/>
                          </a:solidFill>
                          <a:latin typeface="Calibri" pitchFamily="34" charset="0"/>
                          <a:ea typeface="Calibri" pitchFamily="34" charset="-122"/>
                          <a:cs typeface="Calibri" pitchFamily="34" charset="-120"/>
                        </a:rPr>
                        <a:t>53,7 % – 58,7 %</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dirty="0">
                          <a:solidFill>
                            <a:srgbClr val="C8312F"/>
                          </a:solidFill>
                          <a:latin typeface="Calibri" pitchFamily="34" charset="0"/>
                          <a:ea typeface="Calibri" pitchFamily="34" charset="-122"/>
                          <a:cs typeface="Calibri" pitchFamily="34" charset="-120"/>
                        </a:rPr>
                        <a:t>&lt; 53,7 %</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dirty="0">
                          <a:solidFill>
                            <a:srgbClr val="1B1F24"/>
                          </a:solidFill>
                          <a:latin typeface="Calibri" pitchFamily="34" charset="0"/>
                          <a:ea typeface="Calibri" pitchFamily="34" charset="-122"/>
                          <a:cs typeface="Calibri" pitchFamily="34" charset="-120"/>
                        </a:rPr>
                        <a:t>Valor percibido del internet</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dirty="0">
                          <a:solidFill>
                            <a:srgbClr val="1B1F24"/>
                          </a:solidFill>
                          <a:latin typeface="Calibri" pitchFamily="34" charset="0"/>
                          <a:ea typeface="Calibri" pitchFamily="34" charset="-122"/>
                          <a:cs typeface="Calibri" pitchFamily="34" charset="-120"/>
                        </a:rPr>
                        <a:t>Revisar la oferta del bundle L2 en fibra.</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dirty="0">
                          <a:solidFill>
                            <a:srgbClr val="1B1F24"/>
                          </a:solidFill>
                          <a:latin typeface="Calibri" pitchFamily="34" charset="0"/>
                          <a:ea typeface="Calibri" pitchFamily="34" charset="-122"/>
                          <a:cs typeface="Calibri" pitchFamily="34" charset="-120"/>
                        </a:rPr>
                        <a:t>Producto</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r>
              <a:tr h="402336">
                <a:tc>
                  <a:txBody>
                    <a:bodyPr/>
                    <a:lstStyle/>
                    <a:p>
                      <a:pPr indent="0" marL="0">
                        <a:buNone/>
                      </a:pPr>
                      <a:r>
                        <a:rPr lang="en-US" sz="1050" b="1" dirty="0">
                          <a:solidFill>
                            <a:srgbClr val="1B1F24"/>
                          </a:solidFill>
                          <a:latin typeface="Calibri" pitchFamily="34" charset="0"/>
                          <a:ea typeface="Calibri" pitchFamily="34" charset="-122"/>
                          <a:cs typeface="Calibri" pitchFamily="34" charset="-120"/>
                        </a:rPr>
                        <a:t>MRR activo en riesgo alto</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indent="0" marL="0">
                        <a:buNone/>
                      </a:pPr>
                      <a:r>
                        <a:rPr lang="en-US" sz="1050" dirty="0">
                          <a:solidFill>
                            <a:srgbClr val="1B1F24"/>
                          </a:solidFill>
                          <a:latin typeface="Calibri" pitchFamily="34" charset="0"/>
                          <a:ea typeface="Calibri" pitchFamily="34" charset="-122"/>
                          <a:cs typeface="Calibri" pitchFamily="34" charset="-120"/>
                        </a:rPr>
                        <a:t>USD 64.085</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indent="0" marL="0">
                        <a:buNone/>
                      </a:pPr>
                      <a:r>
                        <a:rPr lang="en-US" sz="1050" dirty="0">
                          <a:solidFill>
                            <a:srgbClr val="138A3F"/>
                          </a:solidFill>
                          <a:latin typeface="Calibri" pitchFamily="34" charset="0"/>
                          <a:ea typeface="Calibri" pitchFamily="34" charset="-122"/>
                          <a:cs typeface="Calibri" pitchFamily="34" charset="-120"/>
                        </a:rPr>
                        <a:t>≤ USD 54.472</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indent="0" marL="0">
                        <a:buNone/>
                      </a:pPr>
                      <a:r>
                        <a:rPr lang="en-US" sz="1050" dirty="0">
                          <a:solidFill>
                            <a:srgbClr val="B07400"/>
                          </a:solidFill>
                          <a:latin typeface="Calibri" pitchFamily="34" charset="0"/>
                          <a:ea typeface="Calibri" pitchFamily="34" charset="-122"/>
                          <a:cs typeface="Calibri" pitchFamily="34" charset="-120"/>
                        </a:rPr>
                        <a:t>USD 54.472 – USD 70.493</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indent="0" marL="0">
                        <a:buNone/>
                      </a:pPr>
                      <a:r>
                        <a:rPr lang="en-US" sz="1050" dirty="0">
                          <a:solidFill>
                            <a:srgbClr val="C8312F"/>
                          </a:solidFill>
                          <a:latin typeface="Calibri" pitchFamily="34" charset="0"/>
                          <a:ea typeface="Calibri" pitchFamily="34" charset="-122"/>
                          <a:cs typeface="Calibri" pitchFamily="34" charset="-120"/>
                        </a:rPr>
                        <a:t>&gt; USD 70.493</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indent="0" marL="0">
                        <a:buNone/>
                      </a:pPr>
                      <a:r>
                        <a:rPr lang="en-US" sz="1050" dirty="0">
                          <a:solidFill>
                            <a:srgbClr val="1B1F24"/>
                          </a:solidFill>
                          <a:latin typeface="Calibri" pitchFamily="34" charset="0"/>
                          <a:ea typeface="Calibri" pitchFamily="34" charset="-122"/>
                          <a:cs typeface="Calibri" pitchFamily="34" charset="-120"/>
                        </a:rPr>
                        <a:t>Valor en juego en la lista de trabajo</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indent="0" marL="0">
                        <a:buNone/>
                      </a:pPr>
                      <a:r>
                        <a:rPr lang="en-US" sz="1050" dirty="0">
                          <a:solidFill>
                            <a:srgbClr val="1B1F24"/>
                          </a:solidFill>
                          <a:latin typeface="Calibri" pitchFamily="34" charset="0"/>
                          <a:ea typeface="Calibri" pitchFamily="34" charset="-122"/>
                          <a:cs typeface="Calibri" pitchFamily="34" charset="-120"/>
                        </a:rPr>
                        <a:t>Priorizar contactos P1 en la semana y ampliar capacidad.</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indent="0" marL="0">
                        <a:buNone/>
                      </a:pPr>
                      <a:r>
                        <a:rPr lang="en-US" sz="1050" dirty="0">
                          <a:solidFill>
                            <a:srgbClr val="1B1F24"/>
                          </a:solidFill>
                          <a:latin typeface="Calibri" pitchFamily="34" charset="0"/>
                          <a:ea typeface="Calibri" pitchFamily="34" charset="-122"/>
                          <a:cs typeface="Calibri" pitchFamily="34" charset="-120"/>
                        </a:rPr>
                        <a:t>Gerencia de Retención</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r>
              <a:tr h="402336">
                <a:tc>
                  <a:txBody>
                    <a:bodyPr/>
                    <a:lstStyle/>
                    <a:p>
                      <a:pPr indent="0" marL="0">
                        <a:buNone/>
                      </a:pPr>
                      <a:r>
                        <a:rPr lang="en-US" sz="1050" b="1" dirty="0">
                          <a:solidFill>
                            <a:srgbClr val="1B1F24"/>
                          </a:solidFill>
                          <a:latin typeface="Calibri" pitchFamily="34" charset="0"/>
                          <a:ea typeface="Calibri" pitchFamily="34" charset="-122"/>
                          <a:cs typeface="Calibri" pitchFamily="34" charset="-120"/>
                        </a:rPr>
                        <a:t>ARPU (balance)</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dirty="0">
                          <a:solidFill>
                            <a:srgbClr val="1B1F24"/>
                          </a:solidFill>
                          <a:latin typeface="Calibri" pitchFamily="34" charset="0"/>
                          <a:ea typeface="Calibri" pitchFamily="34" charset="-122"/>
                          <a:cs typeface="Calibri" pitchFamily="34" charset="-120"/>
                        </a:rPr>
                        <a:t>USD 64,76</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dirty="0">
                          <a:solidFill>
                            <a:srgbClr val="138A3F"/>
                          </a:solidFill>
                          <a:latin typeface="Calibri" pitchFamily="34" charset="0"/>
                          <a:ea typeface="Calibri" pitchFamily="34" charset="-122"/>
                          <a:cs typeface="Calibri" pitchFamily="34" charset="-120"/>
                        </a:rPr>
                        <a:t>≥ USD 64,76</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dirty="0">
                          <a:solidFill>
                            <a:srgbClr val="B07400"/>
                          </a:solidFill>
                          <a:latin typeface="Calibri" pitchFamily="34" charset="0"/>
                          <a:ea typeface="Calibri" pitchFamily="34" charset="-122"/>
                          <a:cs typeface="Calibri" pitchFamily="34" charset="-120"/>
                        </a:rPr>
                        <a:t>USD 62,82 – USD 64,76</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dirty="0">
                          <a:solidFill>
                            <a:srgbClr val="C8312F"/>
                          </a:solidFill>
                          <a:latin typeface="Calibri" pitchFamily="34" charset="0"/>
                          <a:ea typeface="Calibri" pitchFamily="34" charset="-122"/>
                          <a:cs typeface="Calibri" pitchFamily="34" charset="-120"/>
                        </a:rPr>
                        <a:t>&lt; USD 62,82</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dirty="0">
                          <a:solidFill>
                            <a:srgbClr val="1B1F24"/>
                          </a:solidFill>
                          <a:latin typeface="Calibri" pitchFamily="34" charset="0"/>
                          <a:ea typeface="Calibri" pitchFamily="34" charset="-122"/>
                          <a:cs typeface="Calibri" pitchFamily="34" charset="-120"/>
                        </a:rPr>
                        <a:t>Que la retención no se compre con descuentos</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dirty="0">
                          <a:solidFill>
                            <a:srgbClr val="1B1F24"/>
                          </a:solidFill>
                          <a:latin typeface="Calibri" pitchFamily="34" charset="0"/>
                          <a:ea typeface="Calibri" pitchFamily="34" charset="-122"/>
                          <a:cs typeface="Calibri" pitchFamily="34" charset="-120"/>
                        </a:rPr>
                        <a:t>Suspender o limitar el descuento L1.</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dirty="0">
                          <a:solidFill>
                            <a:srgbClr val="1B1F24"/>
                          </a:solidFill>
                          <a:latin typeface="Calibri" pitchFamily="34" charset="0"/>
                          <a:ea typeface="Calibri" pitchFamily="34" charset="-122"/>
                          <a:cs typeface="Calibri" pitchFamily="34" charset="-120"/>
                        </a:rPr>
                        <a:t>CFO</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r>
              <a:tr h="402336">
                <a:tc>
                  <a:txBody>
                    <a:bodyPr/>
                    <a:lstStyle/>
                    <a:p>
                      <a:pPr indent="0" marL="0">
                        <a:buNone/>
                      </a:pPr>
                      <a:r>
                        <a:rPr lang="en-US" sz="1050" b="1" dirty="0">
                          <a:solidFill>
                            <a:srgbClr val="1B1F24"/>
                          </a:solidFill>
                          <a:latin typeface="Calibri" pitchFamily="34" charset="0"/>
                          <a:ea typeface="Calibri" pitchFamily="34" charset="-122"/>
                          <a:cs typeface="Calibri" pitchFamily="34" charset="-120"/>
                        </a:rPr>
                        <a:t>ROI del programa (balance)</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indent="0" marL="0">
                        <a:buNone/>
                      </a:pPr>
                      <a:r>
                        <a:rPr lang="en-US" sz="1050" dirty="0">
                          <a:solidFill>
                            <a:srgbClr val="1B1F24"/>
                          </a:solidFill>
                          <a:latin typeface="Calibri" pitchFamily="34" charset="0"/>
                          <a:ea typeface="Calibri" pitchFamily="34" charset="-122"/>
                          <a:cs typeface="Calibri" pitchFamily="34" charset="-120"/>
                        </a:rPr>
                        <a:t>+179% est.</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indent="0" marL="0">
                        <a:buNone/>
                      </a:pPr>
                      <a:r>
                        <a:rPr lang="en-US" sz="1050" dirty="0">
                          <a:solidFill>
                            <a:srgbClr val="138A3F"/>
                          </a:solidFill>
                          <a:latin typeface="Calibri" pitchFamily="34" charset="0"/>
                          <a:ea typeface="Calibri" pitchFamily="34" charset="-122"/>
                          <a:cs typeface="Calibri" pitchFamily="34" charset="-120"/>
                        </a:rPr>
                        <a:t>≥ 0 %</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indent="0" marL="0">
                        <a:buNone/>
                      </a:pPr>
                      <a:r>
                        <a:rPr lang="en-US" sz="1050" dirty="0">
                          <a:solidFill>
                            <a:srgbClr val="B07400"/>
                          </a:solidFill>
                          <a:latin typeface="Calibri" pitchFamily="34" charset="0"/>
                          <a:ea typeface="Calibri" pitchFamily="34" charset="-122"/>
                          <a:cs typeface="Calibri" pitchFamily="34" charset="-120"/>
                        </a:rPr>
                        <a:t>−20 % – 0 %</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indent="0" marL="0">
                        <a:buNone/>
                      </a:pPr>
                      <a:r>
                        <a:rPr lang="en-US" sz="1050" dirty="0">
                          <a:solidFill>
                            <a:srgbClr val="C8312F"/>
                          </a:solidFill>
                          <a:latin typeface="Calibri" pitchFamily="34" charset="0"/>
                          <a:ea typeface="Calibri" pitchFamily="34" charset="-122"/>
                          <a:cs typeface="Calibri" pitchFamily="34" charset="-120"/>
                        </a:rPr>
                        <a:t>&lt; −20 %</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indent="0" marL="0">
                        <a:buNone/>
                      </a:pPr>
                      <a:r>
                        <a:rPr lang="en-US" sz="1050" dirty="0">
                          <a:solidFill>
                            <a:srgbClr val="1B1F24"/>
                          </a:solidFill>
                          <a:latin typeface="Calibri" pitchFamily="34" charset="0"/>
                          <a:ea typeface="Calibri" pitchFamily="34" charset="-122"/>
                          <a:cs typeface="Calibri" pitchFamily="34" charset="-120"/>
                        </a:rPr>
                        <a:t>Retorno observado del piloto</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indent="0" marL="0">
                        <a:buNone/>
                      </a:pPr>
                      <a:r>
                        <a:rPr lang="en-US" sz="1050" dirty="0">
                          <a:solidFill>
                            <a:srgbClr val="1B1F24"/>
                          </a:solidFill>
                          <a:latin typeface="Calibri" pitchFamily="34" charset="0"/>
                          <a:ea typeface="Calibri" pitchFamily="34" charset="-122"/>
                          <a:cs typeface="Calibri" pitchFamily="34" charset="-120"/>
                        </a:rPr>
                        <a:t>Verde: escalar. Amarillo: ajustar palancas. Rojo: detener y rediseñar.</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indent="0" marL="0">
                        <a:buNone/>
                      </a:pPr>
                      <a:r>
                        <a:rPr lang="en-US" sz="1050" dirty="0">
                          <a:solidFill>
                            <a:srgbClr val="1B1F24"/>
                          </a:solidFill>
                          <a:latin typeface="Calibri" pitchFamily="34" charset="0"/>
                          <a:ea typeface="Calibri" pitchFamily="34" charset="-122"/>
                          <a:cs typeface="Calibri" pitchFamily="34" charset="-120"/>
                        </a:rPr>
                        <a:t>CFO</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r>
              <a:tr h="402336">
                <a:tc>
                  <a:txBody>
                    <a:bodyPr/>
                    <a:lstStyle/>
                    <a:p>
                      <a:pPr indent="0" marL="0">
                        <a:buNone/>
                      </a:pPr>
                      <a:r>
                        <a:rPr lang="en-US" sz="1050" b="1" dirty="0">
                          <a:solidFill>
                            <a:srgbClr val="1B1F24"/>
                          </a:solidFill>
                          <a:latin typeface="Calibri" pitchFamily="34" charset="0"/>
                          <a:ea typeface="Calibri" pitchFamily="34" charset="-122"/>
                          <a:cs typeface="Calibri" pitchFamily="34" charset="-120"/>
                        </a:rPr>
                        <a:t>Uplift del piloto (90 días)</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dirty="0">
                          <a:solidFill>
                            <a:srgbClr val="1B1F24"/>
                          </a:solidFill>
                          <a:latin typeface="Calibri" pitchFamily="34" charset="0"/>
                          <a:ea typeface="Calibri" pitchFamily="34" charset="-122"/>
                          <a:cs typeface="Calibri" pitchFamily="34" charset="-120"/>
                        </a:rPr>
                        <a:t>Sin medir</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dirty="0">
                          <a:solidFill>
                            <a:srgbClr val="138A3F"/>
                          </a:solidFill>
                          <a:latin typeface="Calibri" pitchFamily="34" charset="0"/>
                          <a:ea typeface="Calibri" pitchFamily="34" charset="-122"/>
                          <a:cs typeface="Calibri" pitchFamily="34" charset="-120"/>
                        </a:rPr>
                        <a:t>Signif. ≥ equilibrio</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dirty="0">
                          <a:solidFill>
                            <a:srgbClr val="B07400"/>
                          </a:solidFill>
                          <a:latin typeface="Calibri" pitchFamily="34" charset="0"/>
                          <a:ea typeface="Calibri" pitchFamily="34" charset="-122"/>
                          <a:cs typeface="Calibri" pitchFamily="34" charset="-120"/>
                        </a:rPr>
                        <a:t>Positivo n.s.</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dirty="0">
                          <a:solidFill>
                            <a:srgbClr val="C8312F"/>
                          </a:solidFill>
                          <a:latin typeface="Calibri" pitchFamily="34" charset="0"/>
                          <a:ea typeface="Calibri" pitchFamily="34" charset="-122"/>
                          <a:cs typeface="Calibri" pitchFamily="34" charset="-120"/>
                        </a:rPr>
                        <a:t>Nulo o negativo</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dirty="0">
                          <a:solidFill>
                            <a:srgbClr val="1B1F24"/>
                          </a:solidFill>
                          <a:latin typeface="Calibri" pitchFamily="34" charset="0"/>
                          <a:ea typeface="Calibri" pitchFamily="34" charset="-122"/>
                          <a:cs typeface="Calibri" pitchFamily="34" charset="-120"/>
                        </a:rPr>
                        <a:t>Efecto causal de las palancas</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dirty="0">
                          <a:solidFill>
                            <a:srgbClr val="1B1F24"/>
                          </a:solidFill>
                          <a:latin typeface="Calibri" pitchFamily="34" charset="0"/>
                          <a:ea typeface="Calibri" pitchFamily="34" charset="-122"/>
                          <a:cs typeface="Calibri" pitchFamily="34" charset="-120"/>
                        </a:rPr>
                        <a:t>Verde: escalar a toda la población elegible. Rojo: no escalar.</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dirty="0">
                          <a:solidFill>
                            <a:srgbClr val="1B1F24"/>
                          </a:solidFill>
                          <a:latin typeface="Calibri" pitchFamily="34" charset="0"/>
                          <a:ea typeface="Calibri" pitchFamily="34" charset="-122"/>
                          <a:cs typeface="Calibri" pitchFamily="34" charset="-120"/>
                        </a:rPr>
                        <a:t>Analítica</a:t>
                      </a:r>
                      <a:endParaRPr lang="en-US" sz="1050" dirty="0">
                        <a:latin typeface="Calibri" charset="0"/>
                        <a:ea typeface="Calibri" charset="0"/>
                        <a:cs typeface="Calibri" charset="0"/>
                      </a:endParaRPr>
                    </a:p>
                  </a:txBody>
                  <a:tcPr marL="54864" marR="54864" marT="18288" marB="18288"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5B6573"/>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48640" y="164592"/>
            <a:ext cx="11091672" cy="256032"/>
          </a:xfrm>
          <a:prstGeom prst="rect">
            <a:avLst/>
          </a:prstGeom>
          <a:noFill/>
          <a:ln/>
        </p:spPr>
        <p:txBody>
          <a:bodyPr wrap="square" lIns="0" tIns="0" rIns="0" bIns="0" rtlCol="0" anchor="ctr"/>
          <a:lstStyle/>
          <a:p>
            <a:pPr indent="0" marL="0">
              <a:buNone/>
            </a:pPr>
            <a:r>
              <a:rPr lang="en-US" sz="1100" b="1" spc="50" kern="0" dirty="0">
                <a:solidFill>
                  <a:srgbClr val="2A78D6"/>
                </a:solidFill>
                <a:latin typeface="Calibri" pitchFamily="34" charset="0"/>
                <a:ea typeface="Calibri" pitchFamily="34" charset="-122"/>
                <a:cs typeface="Calibri" pitchFamily="34" charset="-120"/>
              </a:rPr>
              <a:t>05 · MONITOREO Y RECOMENDACIÓN</a:t>
            </a:r>
            <a:pPr indent="0" marL="0">
              <a:buNone/>
            </a:pPr>
            <a:endParaRPr lang="en-US" sz="1100" dirty="0"/>
          </a:p>
        </p:txBody>
      </p:sp>
      <p:sp>
        <p:nvSpPr>
          <p:cNvPr id="3" name="Text 0"/>
          <p:cNvSpPr/>
          <p:nvPr>
            <p:ph idx="100" type="title" hasCustomPrompt="1"/>
          </p:nvPr>
        </p:nvSpPr>
        <p:spPr>
          <a:xfrm>
            <a:off x="548640" y="457200"/>
            <a:ext cx="11091672" cy="841248"/>
          </a:xfrm>
          <a:prstGeom prst="rect">
            <a:avLst/>
          </a:prstGeom>
          <a:noFill/>
          <a:ln/>
        </p:spPr>
        <p:txBody>
          <a:bodyPr wrap="square" lIns="0" tIns="0" rIns="0" bIns="0" rtlCol="0" anchor="t"/>
          <a:lstStyle/>
          <a:p>
            <a:pPr algn="l" indent="0" marL="0">
              <a:buNone/>
            </a:pPr>
            <a:r>
              <a:rPr lang="en-US" sz="2400" b="1" dirty="0">
                <a:solidFill>
                  <a:srgbClr val="13294B"/>
                </a:solidFill>
                <a:latin typeface="Cambria" pitchFamily="34" charset="0"/>
                <a:ea typeface="Cambria" pitchFamily="34" charset="-122"/>
                <a:cs typeface="Cambria" pitchFamily="34" charset="-120"/>
              </a:rPr>
              <a:t>Recomendamos un piloto del programa focalizado con grupo control, no un descuento masivo</a:t>
            </a:r>
            <a:endParaRPr lang="en-US" sz="2400" dirty="0"/>
          </a:p>
        </p:txBody>
      </p:sp>
      <p:sp>
        <p:nvSpPr>
          <p:cNvPr id="5" name="Shape 2"/>
          <p:cNvSpPr/>
          <p:nvPr/>
        </p:nvSpPr>
        <p:spPr>
          <a:xfrm>
            <a:off x="548640" y="1417320"/>
            <a:ext cx="3593592" cy="3246120"/>
          </a:xfrm>
          <a:prstGeom prst="roundRect">
            <a:avLst>
              <a:gd name="adj" fmla="val 2254"/>
            </a:avLst>
          </a:prstGeom>
          <a:solidFill>
            <a:srgbClr val="F3F5F8"/>
          </a:solidFill>
          <a:ln w="12700">
            <a:solidFill>
              <a:srgbClr val="F3F5F8"/>
            </a:solidFill>
            <a:prstDash val="solid"/>
          </a:ln>
        </p:spPr>
        <p:txBody>
          <a:bodyPr/>
          <a:p/>
        </p:txBody>
      </p:sp>
      <p:sp>
        <p:nvSpPr>
          <p:cNvPr id="6" name="Shape 3"/>
          <p:cNvSpPr/>
          <p:nvPr/>
        </p:nvSpPr>
        <p:spPr>
          <a:xfrm>
            <a:off x="548640" y="1417320"/>
            <a:ext cx="3593592" cy="548640"/>
          </a:xfrm>
          <a:prstGeom prst="roundRect">
            <a:avLst>
              <a:gd name="adj" fmla="val 13333"/>
            </a:avLst>
          </a:prstGeom>
          <a:solidFill>
            <a:srgbClr val="13294B"/>
          </a:solidFill>
          <a:ln w="12700">
            <a:solidFill>
              <a:srgbClr val="13294B"/>
            </a:solidFill>
            <a:prstDash val="solid"/>
          </a:ln>
        </p:spPr>
        <p:txBody>
          <a:bodyPr/>
          <a:p/>
        </p:txBody>
      </p:sp>
      <p:sp>
        <p:nvSpPr>
          <p:cNvPr id="7" name="Shape 4"/>
          <p:cNvSpPr/>
          <p:nvPr/>
        </p:nvSpPr>
        <p:spPr>
          <a:xfrm>
            <a:off x="548640" y="1783080"/>
            <a:ext cx="3593592" cy="182880"/>
          </a:xfrm>
          <a:prstGeom prst="rect">
            <a:avLst/>
          </a:prstGeom>
          <a:solidFill>
            <a:srgbClr val="13294B"/>
          </a:solidFill>
          <a:ln w="12700">
            <a:solidFill>
              <a:srgbClr val="13294B"/>
            </a:solidFill>
            <a:prstDash val="solid"/>
          </a:ln>
        </p:spPr>
        <p:txBody>
          <a:bodyPr/>
          <a:p/>
        </p:txBody>
      </p:sp>
      <p:sp>
        <p:nvSpPr>
          <p:cNvPr id="8" name="Text 5"/>
          <p:cNvSpPr txBox="1"/>
          <p:nvPr/>
        </p:nvSpPr>
        <p:spPr>
          <a:xfrm>
            <a:off x="749808" y="1417320"/>
            <a:ext cx="3191256"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Decidir hoy</a:t>
            </a:r>
            <a:endParaRPr lang="en-US" sz="1700" dirty="0"/>
          </a:p>
        </p:txBody>
      </p:sp>
      <p:sp>
        <p:nvSpPr>
          <p:cNvPr id="9" name="Text 6"/>
          <p:cNvSpPr txBox="1"/>
          <p:nvPr/>
        </p:nvSpPr>
        <p:spPr>
          <a:xfrm>
            <a:off x="749808" y="2148840"/>
            <a:ext cx="3191256" cy="237744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Aprobar el piloto sobre los 820 clientes de riesgo alto (USD 64 mil de MRR).</a:t>
            </a:r>
            <a:endParaRPr lang="en-US" sz="1400" dirty="0"/>
          </a:p>
          <a:p>
            <a:pPr marL="177800" indent="-1778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Empezar por onboarding (L4), protección (L2) y pago automático (L3).</a:t>
            </a:r>
            <a:endParaRPr lang="en-US" sz="1400" dirty="0"/>
          </a:p>
          <a:p>
            <a:pPr marL="177800" indent="-1778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No aprobar el descuento masivo a clientes mes a mes.</a:t>
            </a:r>
            <a:endParaRPr lang="en-US" sz="1400" dirty="0"/>
          </a:p>
        </p:txBody>
      </p:sp>
      <p:sp>
        <p:nvSpPr>
          <p:cNvPr id="10" name="Shape 7"/>
          <p:cNvSpPr/>
          <p:nvPr/>
        </p:nvSpPr>
        <p:spPr>
          <a:xfrm>
            <a:off x="4297680" y="1417320"/>
            <a:ext cx="3593592" cy="3246120"/>
          </a:xfrm>
          <a:prstGeom prst="roundRect">
            <a:avLst>
              <a:gd name="adj" fmla="val 2254"/>
            </a:avLst>
          </a:prstGeom>
          <a:solidFill>
            <a:srgbClr val="F3F5F8"/>
          </a:solidFill>
          <a:ln w="12700">
            <a:solidFill>
              <a:srgbClr val="F3F5F8"/>
            </a:solidFill>
            <a:prstDash val="solid"/>
          </a:ln>
        </p:spPr>
        <p:txBody>
          <a:bodyPr/>
          <a:p/>
        </p:txBody>
      </p:sp>
      <p:sp>
        <p:nvSpPr>
          <p:cNvPr id="11" name="Shape 8"/>
          <p:cNvSpPr/>
          <p:nvPr/>
        </p:nvSpPr>
        <p:spPr>
          <a:xfrm>
            <a:off x="4297680" y="1417320"/>
            <a:ext cx="3593592" cy="548640"/>
          </a:xfrm>
          <a:prstGeom prst="roundRect">
            <a:avLst>
              <a:gd name="adj" fmla="val 13333"/>
            </a:avLst>
          </a:prstGeom>
          <a:solidFill>
            <a:srgbClr val="2A78D6"/>
          </a:solidFill>
          <a:ln w="12700">
            <a:solidFill>
              <a:srgbClr val="2A78D6"/>
            </a:solidFill>
            <a:prstDash val="solid"/>
          </a:ln>
        </p:spPr>
        <p:txBody>
          <a:bodyPr/>
          <a:p/>
        </p:txBody>
      </p:sp>
      <p:sp>
        <p:nvSpPr>
          <p:cNvPr id="12" name="Shape 9"/>
          <p:cNvSpPr/>
          <p:nvPr/>
        </p:nvSpPr>
        <p:spPr>
          <a:xfrm>
            <a:off x="4297680" y="1783080"/>
            <a:ext cx="3593592" cy="182880"/>
          </a:xfrm>
          <a:prstGeom prst="rect">
            <a:avLst/>
          </a:prstGeom>
          <a:solidFill>
            <a:srgbClr val="2A78D6"/>
          </a:solidFill>
          <a:ln w="12700">
            <a:solidFill>
              <a:srgbClr val="2A78D6"/>
            </a:solidFill>
            <a:prstDash val="solid"/>
          </a:ln>
        </p:spPr>
        <p:txBody>
          <a:bodyPr/>
          <a:p/>
        </p:txBody>
      </p:sp>
      <p:sp>
        <p:nvSpPr>
          <p:cNvPr id="13" name="Text 10"/>
          <p:cNvSpPr txBox="1"/>
          <p:nvPr/>
        </p:nvSpPr>
        <p:spPr>
          <a:xfrm>
            <a:off x="4498848" y="1417320"/>
            <a:ext cx="3191256"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Escalar solo si</a:t>
            </a:r>
            <a:endParaRPr lang="en-US" sz="1700" dirty="0"/>
          </a:p>
        </p:txBody>
      </p:sp>
      <p:sp>
        <p:nvSpPr>
          <p:cNvPr id="14" name="Text 11"/>
          <p:cNvSpPr txBox="1"/>
          <p:nvPr/>
        </p:nvSpPr>
        <p:spPr>
          <a:xfrm>
            <a:off x="4498848" y="2148840"/>
            <a:ext cx="3191256" cy="237744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El uplift a 90 días es significativo y supera el equilibrio (≈ 5 %).</a:t>
            </a:r>
            <a:endParaRPr lang="en-US" sz="1400" dirty="0"/>
          </a:p>
          <a:p>
            <a:pPr marL="177800" indent="-1778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El ARPU no cae más de 3 %.</a:t>
            </a:r>
            <a:endParaRPr lang="en-US" sz="1400" dirty="0"/>
          </a:p>
          <a:p>
            <a:pPr marL="177800" indent="-1778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El costo por cliente salvado es menor a USD 200.</a:t>
            </a:r>
            <a:endParaRPr lang="en-US" sz="1400" dirty="0"/>
          </a:p>
        </p:txBody>
      </p:sp>
      <p:sp>
        <p:nvSpPr>
          <p:cNvPr id="15" name="Shape 12"/>
          <p:cNvSpPr/>
          <p:nvPr/>
        </p:nvSpPr>
        <p:spPr>
          <a:xfrm>
            <a:off x="8046720" y="1417320"/>
            <a:ext cx="3593592" cy="3246120"/>
          </a:xfrm>
          <a:prstGeom prst="roundRect">
            <a:avLst>
              <a:gd name="adj" fmla="val 2254"/>
            </a:avLst>
          </a:prstGeom>
          <a:solidFill>
            <a:srgbClr val="F3F5F8"/>
          </a:solidFill>
          <a:ln w="12700">
            <a:solidFill>
              <a:srgbClr val="F3F5F8"/>
            </a:solidFill>
            <a:prstDash val="solid"/>
          </a:ln>
        </p:spPr>
        <p:txBody>
          <a:bodyPr/>
          <a:p/>
        </p:txBody>
      </p:sp>
      <p:sp>
        <p:nvSpPr>
          <p:cNvPr id="16" name="Shape 13"/>
          <p:cNvSpPr/>
          <p:nvPr/>
        </p:nvSpPr>
        <p:spPr>
          <a:xfrm>
            <a:off x="8046720" y="1417320"/>
            <a:ext cx="3593592" cy="548640"/>
          </a:xfrm>
          <a:prstGeom prst="roundRect">
            <a:avLst>
              <a:gd name="adj" fmla="val 13333"/>
            </a:avLst>
          </a:prstGeom>
          <a:solidFill>
            <a:srgbClr val="EB6834"/>
          </a:solidFill>
          <a:ln w="12700">
            <a:solidFill>
              <a:srgbClr val="EB6834"/>
            </a:solidFill>
            <a:prstDash val="solid"/>
          </a:ln>
        </p:spPr>
        <p:txBody>
          <a:bodyPr/>
          <a:p/>
        </p:txBody>
      </p:sp>
      <p:sp>
        <p:nvSpPr>
          <p:cNvPr id="17" name="Shape 14"/>
          <p:cNvSpPr/>
          <p:nvPr/>
        </p:nvSpPr>
        <p:spPr>
          <a:xfrm>
            <a:off x="8046720" y="1783080"/>
            <a:ext cx="3593592" cy="182880"/>
          </a:xfrm>
          <a:prstGeom prst="rect">
            <a:avLst/>
          </a:prstGeom>
          <a:solidFill>
            <a:srgbClr val="EB6834"/>
          </a:solidFill>
          <a:ln w="12700">
            <a:solidFill>
              <a:srgbClr val="EB6834"/>
            </a:solidFill>
            <a:prstDash val="solid"/>
          </a:ln>
        </p:spPr>
        <p:txBody>
          <a:bodyPr/>
          <a:p/>
        </p:txBody>
      </p:sp>
      <p:sp>
        <p:nvSpPr>
          <p:cNvPr id="18" name="Text 15"/>
          <p:cNvSpPr txBox="1"/>
          <p:nvPr/>
        </p:nvSpPr>
        <p:spPr>
          <a:xfrm>
            <a:off x="8247888" y="1417320"/>
            <a:ext cx="3191256"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Próximos 90 días</a:t>
            </a:r>
            <a:endParaRPr lang="en-US" sz="1700" dirty="0"/>
          </a:p>
        </p:txBody>
      </p:sp>
      <p:sp>
        <p:nvSpPr>
          <p:cNvPr id="19" name="Text 16"/>
          <p:cNvSpPr txBox="1"/>
          <p:nvPr/>
        </p:nvSpPr>
        <p:spPr>
          <a:xfrm>
            <a:off x="8247888" y="2148840"/>
            <a:ext cx="3191256" cy="237744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Mes 1: lista P1 y aleatorización 50/50 estratificada por palanca.</a:t>
            </a:r>
            <a:endParaRPr lang="en-US" sz="1400" dirty="0"/>
          </a:p>
          <a:p>
            <a:pPr marL="177800" indent="-1778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Meses 1–3: ejecutar las palancas y monitorear cada semana.</a:t>
            </a:r>
            <a:endParaRPr lang="en-US" sz="1400" dirty="0"/>
          </a:p>
          <a:p>
            <a:pPr marL="177800" indent="-1778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Mes 3: lectura del piloto y decisión de escalar con el Comité.</a:t>
            </a:r>
            <a:endParaRPr lang="en-US" sz="1400" dirty="0"/>
          </a:p>
        </p:txBody>
      </p:sp>
      <p:sp>
        <p:nvSpPr>
          <p:cNvPr id="20" name="Shape 17"/>
          <p:cNvSpPr/>
          <p:nvPr/>
        </p:nvSpPr>
        <p:spPr>
          <a:xfrm>
            <a:off x="548640" y="4846320"/>
            <a:ext cx="2670048" cy="1097280"/>
          </a:xfrm>
          <a:prstGeom prst="roundRect">
            <a:avLst>
              <a:gd name="adj" fmla="val 6667"/>
            </a:avLst>
          </a:prstGeom>
          <a:solidFill>
            <a:srgbClr val="EEF4FC"/>
          </a:solidFill>
          <a:ln w="12700">
            <a:solidFill>
              <a:srgbClr val="EEF4FC"/>
            </a:solidFill>
            <a:prstDash val="solid"/>
          </a:ln>
        </p:spPr>
        <p:txBody>
          <a:bodyPr/>
          <a:p/>
        </p:txBody>
      </p:sp>
      <p:sp>
        <p:nvSpPr>
          <p:cNvPr id="21" name="Text 18"/>
          <p:cNvSpPr txBox="1"/>
          <p:nvPr/>
        </p:nvSpPr>
        <p:spPr>
          <a:xfrm>
            <a:off x="731520" y="4974336"/>
            <a:ext cx="2304288" cy="526694"/>
          </a:xfrm>
          <a:prstGeom prst="rect">
            <a:avLst/>
          </a:prstGeom>
          <a:noFill/>
          <a:ln/>
        </p:spPr>
        <p:txBody>
          <a:bodyPr wrap="square" lIns="0" tIns="0" rIns="0" bIns="0" rtlCol="0" anchor="ctr"/>
          <a:lstStyle/>
          <a:p>
            <a:pPr indent="0" marL="0">
              <a:buNone/>
            </a:pPr>
            <a:r>
              <a:rPr lang="en-US" sz="2200" b="1" dirty="0">
                <a:solidFill>
                  <a:srgbClr val="13294B"/>
                </a:solidFill>
                <a:latin typeface="Cambria" pitchFamily="34" charset="0"/>
                <a:ea typeface="Cambria" pitchFamily="34" charset="-122"/>
                <a:cs typeface="Cambria" pitchFamily="34" charset="-120"/>
              </a:rPr>
              <a:t>72 %</a:t>
            </a:r>
            <a:endParaRPr lang="en-US" sz="2200" dirty="0"/>
          </a:p>
        </p:txBody>
      </p:sp>
      <p:sp>
        <p:nvSpPr>
          <p:cNvPr id="22" name="Text 19"/>
          <p:cNvSpPr txBox="1"/>
          <p:nvPr/>
        </p:nvSpPr>
        <p:spPr>
          <a:xfrm>
            <a:off x="731520" y="5501030"/>
            <a:ext cx="2304288" cy="35113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del MRR perdido en mes a mes con fibra</a:t>
            </a:r>
            <a:endParaRPr lang="en-US" sz="1300" dirty="0"/>
          </a:p>
        </p:txBody>
      </p:sp>
      <p:sp>
        <p:nvSpPr>
          <p:cNvPr id="23" name="Shape 20"/>
          <p:cNvSpPr/>
          <p:nvPr/>
        </p:nvSpPr>
        <p:spPr>
          <a:xfrm>
            <a:off x="3355848" y="4846320"/>
            <a:ext cx="2670048" cy="1097280"/>
          </a:xfrm>
          <a:prstGeom prst="roundRect">
            <a:avLst>
              <a:gd name="adj" fmla="val 6667"/>
            </a:avLst>
          </a:prstGeom>
          <a:solidFill>
            <a:srgbClr val="EEF4FC"/>
          </a:solidFill>
          <a:ln w="12700">
            <a:solidFill>
              <a:srgbClr val="EEF4FC"/>
            </a:solidFill>
            <a:prstDash val="solid"/>
          </a:ln>
        </p:spPr>
        <p:txBody>
          <a:bodyPr/>
          <a:p/>
        </p:txBody>
      </p:sp>
      <p:sp>
        <p:nvSpPr>
          <p:cNvPr id="24" name="Text 21"/>
          <p:cNvSpPr txBox="1"/>
          <p:nvPr/>
        </p:nvSpPr>
        <p:spPr>
          <a:xfrm>
            <a:off x="3538728" y="4974336"/>
            <a:ext cx="2304288" cy="526694"/>
          </a:xfrm>
          <a:prstGeom prst="rect">
            <a:avLst/>
          </a:prstGeom>
          <a:noFill/>
          <a:ln/>
        </p:spPr>
        <p:txBody>
          <a:bodyPr wrap="square" lIns="0" tIns="0" rIns="0" bIns="0" rtlCol="0" anchor="ctr"/>
          <a:lstStyle/>
          <a:p>
            <a:pPr indent="0" marL="0">
              <a:buNone/>
            </a:pPr>
            <a:r>
              <a:rPr lang="en-US" sz="2200" b="1" dirty="0">
                <a:solidFill>
                  <a:srgbClr val="13294B"/>
                </a:solidFill>
                <a:latin typeface="Cambria" pitchFamily="34" charset="0"/>
                <a:ea typeface="Cambria" pitchFamily="34" charset="-122"/>
                <a:cs typeface="Cambria" pitchFamily="34" charset="-120"/>
              </a:rPr>
              <a:t>+179 %</a:t>
            </a:r>
            <a:endParaRPr lang="en-US" sz="2200" dirty="0"/>
          </a:p>
        </p:txBody>
      </p:sp>
      <p:sp>
        <p:nvSpPr>
          <p:cNvPr id="25" name="Text 22"/>
          <p:cNvSpPr txBox="1"/>
          <p:nvPr/>
        </p:nvSpPr>
        <p:spPr>
          <a:xfrm>
            <a:off x="3538728" y="5501030"/>
            <a:ext cx="2304288" cy="35113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ROI base focalizado frente a −32 % del masivo</a:t>
            </a:r>
            <a:endParaRPr lang="en-US" sz="1300" dirty="0"/>
          </a:p>
        </p:txBody>
      </p:sp>
      <p:sp>
        <p:nvSpPr>
          <p:cNvPr id="26" name="Shape 23"/>
          <p:cNvSpPr/>
          <p:nvPr/>
        </p:nvSpPr>
        <p:spPr>
          <a:xfrm>
            <a:off x="6163056" y="4846320"/>
            <a:ext cx="2670048" cy="1097280"/>
          </a:xfrm>
          <a:prstGeom prst="roundRect">
            <a:avLst>
              <a:gd name="adj" fmla="val 6667"/>
            </a:avLst>
          </a:prstGeom>
          <a:solidFill>
            <a:srgbClr val="EEF4FC"/>
          </a:solidFill>
          <a:ln w="12700">
            <a:solidFill>
              <a:srgbClr val="EEF4FC"/>
            </a:solidFill>
            <a:prstDash val="solid"/>
          </a:ln>
        </p:spPr>
        <p:txBody>
          <a:bodyPr/>
          <a:p/>
        </p:txBody>
      </p:sp>
      <p:sp>
        <p:nvSpPr>
          <p:cNvPr id="27" name="Text 24"/>
          <p:cNvSpPr txBox="1"/>
          <p:nvPr/>
        </p:nvSpPr>
        <p:spPr>
          <a:xfrm>
            <a:off x="6345936" y="4974336"/>
            <a:ext cx="2304288" cy="526694"/>
          </a:xfrm>
          <a:prstGeom prst="rect">
            <a:avLst/>
          </a:prstGeom>
          <a:noFill/>
          <a:ln/>
        </p:spPr>
        <p:txBody>
          <a:bodyPr wrap="square" lIns="0" tIns="0" rIns="0" bIns="0" rtlCol="0" anchor="ctr"/>
          <a:lstStyle/>
          <a:p>
            <a:pPr indent="0" marL="0">
              <a:buNone/>
            </a:pPr>
            <a:r>
              <a:rPr lang="en-US" sz="2200" b="1" dirty="0">
                <a:solidFill>
                  <a:srgbClr val="13294B"/>
                </a:solidFill>
                <a:latin typeface="Cambria" pitchFamily="34" charset="0"/>
                <a:ea typeface="Cambria" pitchFamily="34" charset="-122"/>
                <a:cs typeface="Cambria" pitchFamily="34" charset="-120"/>
              </a:rPr>
              <a:t>5,0 %</a:t>
            </a:r>
            <a:endParaRPr lang="en-US" sz="2200" dirty="0"/>
          </a:p>
        </p:txBody>
      </p:sp>
      <p:sp>
        <p:nvSpPr>
          <p:cNvPr id="28" name="Text 25"/>
          <p:cNvSpPr txBox="1"/>
          <p:nvPr/>
        </p:nvSpPr>
        <p:spPr>
          <a:xfrm>
            <a:off x="6345936" y="5501030"/>
            <a:ext cx="2304288" cy="35113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de reducción basta para el equilibrio</a:t>
            </a:r>
            <a:endParaRPr lang="en-US" sz="1300" dirty="0"/>
          </a:p>
        </p:txBody>
      </p:sp>
      <p:sp>
        <p:nvSpPr>
          <p:cNvPr id="29" name="Shape 26"/>
          <p:cNvSpPr/>
          <p:nvPr/>
        </p:nvSpPr>
        <p:spPr>
          <a:xfrm>
            <a:off x="8970264" y="4846320"/>
            <a:ext cx="2670048" cy="1097280"/>
          </a:xfrm>
          <a:prstGeom prst="roundRect">
            <a:avLst>
              <a:gd name="adj" fmla="val 6667"/>
            </a:avLst>
          </a:prstGeom>
          <a:solidFill>
            <a:srgbClr val="EEF4FC"/>
          </a:solidFill>
          <a:ln w="12700">
            <a:solidFill>
              <a:srgbClr val="EEF4FC"/>
            </a:solidFill>
            <a:prstDash val="solid"/>
          </a:ln>
        </p:spPr>
        <p:txBody>
          <a:bodyPr/>
          <a:p/>
        </p:txBody>
      </p:sp>
      <p:sp>
        <p:nvSpPr>
          <p:cNvPr id="30" name="Text 27"/>
          <p:cNvSpPr txBox="1"/>
          <p:nvPr/>
        </p:nvSpPr>
        <p:spPr>
          <a:xfrm>
            <a:off x="9153144" y="4974336"/>
            <a:ext cx="2304288" cy="526694"/>
          </a:xfrm>
          <a:prstGeom prst="rect">
            <a:avLst/>
          </a:prstGeom>
          <a:noFill/>
          <a:ln/>
        </p:spPr>
        <p:txBody>
          <a:bodyPr wrap="square" lIns="0" tIns="0" rIns="0" bIns="0" rtlCol="0" anchor="ctr"/>
          <a:lstStyle/>
          <a:p>
            <a:pPr indent="0" marL="0">
              <a:buNone/>
            </a:pPr>
            <a:r>
              <a:rPr lang="en-US" sz="2200" b="1" dirty="0">
                <a:solidFill>
                  <a:srgbClr val="13294B"/>
                </a:solidFill>
                <a:latin typeface="Cambria" pitchFamily="34" charset="0"/>
                <a:ea typeface="Cambria" pitchFamily="34" charset="-122"/>
                <a:cs typeface="Cambria" pitchFamily="34" charset="-120"/>
              </a:rPr>
              <a:t>53 %</a:t>
            </a:r>
            <a:endParaRPr lang="en-US" sz="2200" dirty="0"/>
          </a:p>
        </p:txBody>
      </p:sp>
      <p:sp>
        <p:nvSpPr>
          <p:cNvPr id="31" name="Text 28"/>
          <p:cNvSpPr txBox="1"/>
          <p:nvPr/>
        </p:nvSpPr>
        <p:spPr>
          <a:xfrm>
            <a:off x="9153144" y="5501030"/>
            <a:ext cx="2304288" cy="35113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del MRR en riesgo en el 16 % de los activos</a:t>
            </a:r>
            <a:endParaRPr lang="en-US" sz="1300" dirty="0"/>
          </a:p>
        </p:txBody>
      </p:sp>
      <p:sp>
        <p:nvSpPr>
          <p:cNvPr id="25" name="Slide Number Placeholder 0"/>
          <p:cNvSpPr>
            <a:spLocks noGrp="1"/>
          </p:cNvSpPr>
          <p:nvPr>
            <p:ph type="sldNum" sz="quarter" idx="4294967295"/>
          </p:nvPr>
        </p:nvSpPr>
        <p:spPr>
          <a:xfrm>
            <a:off x="11091672"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5B6573"/>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48640" y="164592"/>
            <a:ext cx="11091672" cy="256032"/>
          </a:xfrm>
          <a:prstGeom prst="rect">
            <a:avLst/>
          </a:prstGeom>
          <a:noFill/>
          <a:ln/>
        </p:spPr>
        <p:txBody>
          <a:bodyPr wrap="square" lIns="0" tIns="0" rIns="0" bIns="0" rtlCol="0" anchor="ctr"/>
          <a:lstStyle/>
          <a:p>
            <a:pPr indent="0" marL="0">
              <a:buNone/>
            </a:pPr>
            <a:r>
              <a:rPr lang="en-US" sz="1100" b="1" spc="50" kern="0" dirty="0">
                <a:solidFill>
                  <a:srgbClr val="2A78D6"/>
                </a:solidFill>
                <a:latin typeface="Calibri" pitchFamily="34" charset="0"/>
                <a:ea typeface="Calibri" pitchFamily="34" charset="-122"/>
                <a:cs typeface="Calibri" pitchFamily="34" charset="-120"/>
              </a:rPr>
              <a:t>05 · MONITOREO Y RECOMENDACIÓN</a:t>
            </a:r>
            <a:pPr indent="0" marL="0">
              <a:buNone/>
            </a:pPr>
            <a:endParaRPr lang="en-US" sz="1100" dirty="0"/>
          </a:p>
        </p:txBody>
      </p:sp>
      <p:sp>
        <p:nvSpPr>
          <p:cNvPr id="3" name="Text 0"/>
          <p:cNvSpPr/>
          <p:nvPr>
            <p:ph idx="100" type="title" hasCustomPrompt="1"/>
          </p:nvPr>
        </p:nvSpPr>
        <p:spPr>
          <a:xfrm>
            <a:off x="548640" y="457200"/>
            <a:ext cx="11091672" cy="841248"/>
          </a:xfrm>
          <a:prstGeom prst="rect">
            <a:avLst/>
          </a:prstGeom>
          <a:noFill/>
          <a:ln/>
        </p:spPr>
        <p:txBody>
          <a:bodyPr wrap="square" lIns="0" tIns="0" rIns="0" bIns="0" rtlCol="0" anchor="t"/>
          <a:lstStyle/>
          <a:p>
            <a:pPr algn="l" indent="0" marL="0">
              <a:buNone/>
            </a:pPr>
            <a:r>
              <a:rPr lang="en-US" sz="2400" b="1" dirty="0">
                <a:solidFill>
                  <a:srgbClr val="13294B"/>
                </a:solidFill>
                <a:latin typeface="Cambria" pitchFamily="34" charset="0"/>
                <a:ea typeface="Cambria" pitchFamily="34" charset="-122"/>
                <a:cs typeface="Cambria" pitchFamily="34" charset="-120"/>
              </a:rPr>
              <a:t>Riesgos y limitaciones: qué no permiten concluir estos datos y cómo lo gestionamos</a:t>
            </a:r>
            <a:endParaRPr lang="en-US" sz="24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2926080"/>
                <a:gridCol w="4023360"/>
              </a:tblGrid>
              <a:tr h="713232">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Riesgo o limitación</a:t>
                      </a:r>
                      <a:endParaRPr lang="en-US" sz="13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Cómo lo gestionamos</a:t>
                      </a:r>
                      <a:endParaRPr lang="en-US" sz="13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13294B"/>
                    </a:solidFill>
                  </a:tcPr>
                </a:tc>
              </a:tr>
              <a:tr h="713232">
                <a:tc>
                  <a:txBody>
                    <a:bodyPr/>
                    <a:lstStyle/>
                    <a:p>
                      <a:pPr indent="0" marL="0">
                        <a:buNone/>
                      </a:pPr>
                      <a:r>
                        <a:rPr lang="en-US" sz="1300" b="1" dirty="0">
                          <a:solidFill>
                            <a:srgbClr val="1B1F24"/>
                          </a:solidFill>
                          <a:latin typeface="Calibri" pitchFamily="34" charset="0"/>
                          <a:ea typeface="Calibri" pitchFamily="34" charset="-122"/>
                          <a:cs typeface="Calibri" pitchFamily="34" charset="-120"/>
                        </a:rPr>
                        <a:t>Un solo corte sin fecha calendario</a:t>
                      </a:r>
                      <a:endParaRPr lang="en-US" sz="13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indent="0" marL="0">
                        <a:buNone/>
                      </a:pPr>
                      <a:r>
                        <a:rPr lang="en-US" sz="1300" dirty="0">
                          <a:solidFill>
                            <a:srgbClr val="1B1F24"/>
                          </a:solidFill>
                          <a:latin typeface="Calibri" pitchFamily="34" charset="0"/>
                          <a:ea typeface="Calibri" pitchFamily="34" charset="-122"/>
                          <a:cs typeface="Calibri" pitchFamily="34" charset="-120"/>
                        </a:rPr>
                        <a:t>Eje temporal por antigüedad; diseño de fecha_corte para cortes mensuales.</a:t>
                      </a:r>
                      <a:endParaRPr lang="en-US" sz="13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r>
              <a:tr h="713232">
                <a:tc>
                  <a:txBody>
                    <a:bodyPr/>
                    <a:lstStyle/>
                    <a:p>
                      <a:pPr indent="0" marL="0">
                        <a:buNone/>
                      </a:pPr>
                      <a:r>
                        <a:rPr lang="en-US" sz="1300" b="1" dirty="0">
                          <a:solidFill>
                            <a:srgbClr val="1B1F24"/>
                          </a:solidFill>
                          <a:latin typeface="Calibri" pitchFamily="34" charset="0"/>
                          <a:ea typeface="Calibri" pitchFamily="34" charset="-122"/>
                          <a:cs typeface="Calibri" pitchFamily="34" charset="-120"/>
                        </a:rPr>
                        <a:t>Churn sobrerrepresentado y ventana ambigua</a:t>
                      </a:r>
                      <a:endParaRPr lang="en-US" sz="13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300" dirty="0">
                          <a:solidFill>
                            <a:srgbClr val="1B1F24"/>
                          </a:solidFill>
                          <a:latin typeface="Calibri" pitchFamily="34" charset="0"/>
                          <a:ea typeface="Calibri" pitchFamily="34" charset="-122"/>
                          <a:cs typeface="Calibri" pitchFamily="34" charset="-120"/>
                        </a:rPr>
                        <a:t>Tasas del período de corte, comparación entre segmentos, sin anualizar.</a:t>
                      </a:r>
                      <a:endParaRPr lang="en-US" sz="13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r>
              <a:tr h="713232">
                <a:tc>
                  <a:txBody>
                    <a:bodyPr/>
                    <a:lstStyle/>
                    <a:p>
                      <a:pPr indent="0" marL="0">
                        <a:buNone/>
                      </a:pPr>
                      <a:r>
                        <a:rPr lang="en-US" sz="1300" b="1" dirty="0">
                          <a:solidFill>
                            <a:srgbClr val="1B1F24"/>
                          </a:solidFill>
                          <a:latin typeface="Calibri" pitchFamily="34" charset="0"/>
                          <a:ea typeface="Calibri" pitchFamily="34" charset="-122"/>
                          <a:cs typeface="Calibri" pitchFamily="34" charset="-120"/>
                        </a:rPr>
                        <a:t>Efectos observacionales (autoselección)</a:t>
                      </a:r>
                      <a:endParaRPr lang="en-US" sz="13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indent="0" marL="0">
                        <a:buNone/>
                      </a:pPr>
                      <a:r>
                        <a:rPr lang="en-US" sz="1300" dirty="0">
                          <a:solidFill>
                            <a:srgbClr val="1B1F24"/>
                          </a:solidFill>
                          <a:latin typeface="Calibri" pitchFamily="34" charset="0"/>
                          <a:ea typeface="Calibri" pitchFamily="34" charset="-122"/>
                          <a:cs typeface="Calibri" pitchFamily="34" charset="-120"/>
                        </a:rPr>
                        <a:t>Supuestos descontados y piloto A/B con grupo control.</a:t>
                      </a:r>
                      <a:endParaRPr lang="en-US" sz="13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r>
              <a:tr h="713232">
                <a:tc>
                  <a:txBody>
                    <a:bodyPr/>
                    <a:lstStyle/>
                    <a:p>
                      <a:pPr indent="0" marL="0">
                        <a:buNone/>
                      </a:pPr>
                      <a:r>
                        <a:rPr lang="en-US" sz="1300" b="1" dirty="0">
                          <a:solidFill>
                            <a:srgbClr val="1B1F24"/>
                          </a:solidFill>
                          <a:latin typeface="Calibri" pitchFamily="34" charset="0"/>
                          <a:ea typeface="Calibri" pitchFamily="34" charset="-122"/>
                          <a:cs typeface="Calibri" pitchFamily="34" charset="-120"/>
                        </a:rPr>
                        <a:t>Costos, aceptación y horizonte supuestos</a:t>
                      </a:r>
                      <a:endParaRPr lang="en-US" sz="13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300" dirty="0">
                          <a:solidFill>
                            <a:srgbClr val="1B1F24"/>
                          </a:solidFill>
                          <a:latin typeface="Calibri" pitchFamily="34" charset="0"/>
                          <a:ea typeface="Calibri" pitchFamily="34" charset="-122"/>
                          <a:cs typeface="Calibri" pitchFamily="34" charset="-120"/>
                        </a:rPr>
                        <a:t>Tres escenarios, sensibilidad y punto de equilibrio explícito.</a:t>
                      </a:r>
                      <a:endParaRPr lang="en-US" sz="13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r>
              <a:tr h="713232">
                <a:tc>
                  <a:txBody>
                    <a:bodyPr/>
                    <a:lstStyle/>
                    <a:p>
                      <a:pPr indent="0" marL="0">
                        <a:buNone/>
                      </a:pPr>
                      <a:r>
                        <a:rPr lang="en-US" sz="1300" b="1" dirty="0">
                          <a:solidFill>
                            <a:srgbClr val="1B1F24"/>
                          </a:solidFill>
                          <a:latin typeface="Calibri" pitchFamily="34" charset="0"/>
                          <a:ea typeface="Calibri" pitchFamily="34" charset="-122"/>
                          <a:cs typeface="Calibri" pitchFamily="34" charset="-120"/>
                        </a:rPr>
                        <a:t>Comprar retención con descuentos (Goodhart)</a:t>
                      </a:r>
                      <a:endParaRPr lang="en-US" sz="13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c>
                  <a:txBody>
                    <a:bodyPr/>
                    <a:lstStyle/>
                    <a:p>
                      <a:pPr indent="0" marL="0">
                        <a:buNone/>
                      </a:pPr>
                      <a:r>
                        <a:rPr lang="en-US" sz="1300" dirty="0">
                          <a:solidFill>
                            <a:srgbClr val="1B1F24"/>
                          </a:solidFill>
                          <a:latin typeface="Calibri" pitchFamily="34" charset="0"/>
                          <a:ea typeface="Calibri" pitchFamily="34" charset="-122"/>
                          <a:cs typeface="Calibri" pitchFamily="34" charset="-120"/>
                        </a:rPr>
                        <a:t>Guardrails de ARPU y ROI; L1 solo en riesgo alto.</a:t>
                      </a:r>
                      <a:endParaRPr lang="en-US" sz="1300" dirty="0">
                        <a:latin typeface="Calibri" charset="0"/>
                        <a:ea typeface="Calibri" charset="0"/>
                        <a:cs typeface="Calibri" charset="0"/>
                      </a:endParaRPr>
                    </a:p>
                  </a:txBody>
                  <a:tcPr marL="73152" marR="73152" marT="36576" marB="36576" anchor="ctr">
                    <a:lnL w="6350" cap="flat" cmpd="sng" algn="ctr">
                      <a:solidFill>
                        <a:srgbClr val="DDE3EA"/>
                      </a:solidFill>
                      <a:prstDash val="solid"/>
                      <a:round/>
                      <a:headEnd type="none" w="med" len="med"/>
                      <a:tailEnd type="none" w="med" len="med"/>
                    </a:lnL>
                    <a:lnR w="6350" cap="flat" cmpd="sng" algn="ctr">
                      <a:solidFill>
                        <a:srgbClr val="DDE3EA"/>
                      </a:solidFill>
                      <a:prstDash val="solid"/>
                      <a:round/>
                      <a:headEnd type="none" w="med" len="med"/>
                      <a:tailEnd type="none" w="med" len="med"/>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3F5F8"/>
                    </a:solidFill>
                  </a:tcPr>
                </a:tc>
              </a:tr>
            </a:tbl>
          </a:graphicData>
        </a:graphic>
      </p:graphicFrame>
      <p:sp>
        <p:nvSpPr>
          <p:cNvPr id="6" name="Shape 2"/>
          <p:cNvSpPr/>
          <p:nvPr/>
        </p:nvSpPr>
        <p:spPr>
          <a:xfrm>
            <a:off x="7818120" y="1417320"/>
            <a:ext cx="3822192" cy="4526280"/>
          </a:xfrm>
          <a:prstGeom prst="roundRect">
            <a:avLst>
              <a:gd name="adj" fmla="val 1914"/>
            </a:avLst>
          </a:prstGeom>
          <a:solidFill>
            <a:srgbClr val="EEF4FC"/>
          </a:solidFill>
          <a:ln w="12700">
            <a:solidFill>
              <a:srgbClr val="EEF4FC"/>
            </a:solidFill>
            <a:prstDash val="solid"/>
          </a:ln>
        </p:spPr>
        <p:txBody>
          <a:bodyPr/>
          <a:p/>
        </p:txBody>
      </p:sp>
      <p:sp>
        <p:nvSpPr>
          <p:cNvPr id="7" name="Text 3"/>
          <p:cNvSpPr txBox="1"/>
          <p:nvPr/>
        </p:nvSpPr>
        <p:spPr>
          <a:xfrm>
            <a:off x="8046720" y="1572768"/>
            <a:ext cx="3474720" cy="310896"/>
          </a:xfrm>
          <a:prstGeom prst="rect">
            <a:avLst/>
          </a:prstGeom>
          <a:noFill/>
          <a:ln/>
        </p:spPr>
        <p:txBody>
          <a:bodyPr wrap="square" lIns="0" tIns="0" rIns="0" bIns="0" rtlCol="0" anchor="t"/>
          <a:lstStyle/>
          <a:p>
            <a:pPr indent="0" marL="0">
              <a:buNone/>
            </a:pPr>
            <a:r>
              <a:rPr lang="en-US" sz="1500" b="1" dirty="0">
                <a:solidFill>
                  <a:srgbClr val="13294B"/>
                </a:solidFill>
                <a:latin typeface="Calibri" pitchFamily="34" charset="0"/>
                <a:ea typeface="Calibri" pitchFamily="34" charset="-122"/>
                <a:cs typeface="Calibri" pitchFamily="34" charset="-120"/>
              </a:rPr>
              <a:t>Próximos pasos</a:t>
            </a:r>
            <a:endParaRPr lang="en-US" sz="1500" dirty="0"/>
          </a:p>
        </p:txBody>
      </p:sp>
      <p:sp>
        <p:nvSpPr>
          <p:cNvPr id="8" name="Shape 4"/>
          <p:cNvSpPr/>
          <p:nvPr/>
        </p:nvSpPr>
        <p:spPr>
          <a:xfrm>
            <a:off x="8046720" y="2011680"/>
            <a:ext cx="347472" cy="347472"/>
          </a:xfrm>
          <a:prstGeom prst="ellipse">
            <a:avLst/>
          </a:prstGeom>
          <a:solidFill>
            <a:srgbClr val="2A78D6"/>
          </a:solidFill>
          <a:ln w="12700">
            <a:solidFill>
              <a:srgbClr val="2A78D6"/>
            </a:solidFill>
            <a:prstDash val="solid"/>
          </a:ln>
        </p:spPr>
        <p:txBody>
          <a:bodyPr/>
          <a:p/>
        </p:txBody>
      </p:sp>
      <p:sp>
        <p:nvSpPr>
          <p:cNvPr id="9" name="Text 5"/>
          <p:cNvSpPr txBox="1"/>
          <p:nvPr/>
        </p:nvSpPr>
        <p:spPr>
          <a:xfrm>
            <a:off x="8046720" y="201168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6"/>
          <p:cNvSpPr txBox="1"/>
          <p:nvPr/>
        </p:nvSpPr>
        <p:spPr>
          <a:xfrm>
            <a:off x="8522208" y="1956816"/>
            <a:ext cx="2971800" cy="685800"/>
          </a:xfrm>
          <a:prstGeom prst="rect">
            <a:avLst/>
          </a:prstGeom>
          <a:noFill/>
          <a:ln/>
        </p:spPr>
        <p:txBody>
          <a:bodyPr wrap="square" lIns="0" tIns="0" rIns="0" bIns="0" rtlCol="0" anchor="t"/>
          <a:lstStyle/>
          <a:p>
            <a:pPr indent="0" marL="0">
              <a:buNone/>
            </a:pPr>
            <a:r>
              <a:rPr lang="en-US" sz="1350" dirty="0">
                <a:solidFill>
                  <a:srgbClr val="1B1F24"/>
                </a:solidFill>
                <a:latin typeface="Calibri" pitchFamily="34" charset="0"/>
                <a:ea typeface="Calibri" pitchFamily="34" charset="-122"/>
                <a:cs typeface="Calibri" pitchFamily="34" charset="-120"/>
              </a:rPr>
              <a:t>Cargar cortes mensuales con fecha de corte y fecha de alta.</a:t>
            </a:r>
            <a:endParaRPr lang="en-US" sz="1350" dirty="0"/>
          </a:p>
        </p:txBody>
      </p:sp>
      <p:sp>
        <p:nvSpPr>
          <p:cNvPr id="11" name="Shape 7"/>
          <p:cNvSpPr/>
          <p:nvPr/>
        </p:nvSpPr>
        <p:spPr>
          <a:xfrm>
            <a:off x="8046720" y="2779776"/>
            <a:ext cx="347472" cy="347472"/>
          </a:xfrm>
          <a:prstGeom prst="ellipse">
            <a:avLst/>
          </a:prstGeom>
          <a:solidFill>
            <a:srgbClr val="2A78D6"/>
          </a:solidFill>
          <a:ln w="12700">
            <a:solidFill>
              <a:srgbClr val="2A78D6"/>
            </a:solidFill>
            <a:prstDash val="solid"/>
          </a:ln>
        </p:spPr>
        <p:txBody>
          <a:bodyPr/>
          <a:p/>
        </p:txBody>
      </p:sp>
      <p:sp>
        <p:nvSpPr>
          <p:cNvPr id="12" name="Text 8"/>
          <p:cNvSpPr txBox="1"/>
          <p:nvPr/>
        </p:nvSpPr>
        <p:spPr>
          <a:xfrm>
            <a:off x="8046720" y="2779776"/>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9"/>
          <p:cNvSpPr txBox="1"/>
          <p:nvPr/>
        </p:nvSpPr>
        <p:spPr>
          <a:xfrm>
            <a:off x="8522208" y="2724912"/>
            <a:ext cx="2971800" cy="685800"/>
          </a:xfrm>
          <a:prstGeom prst="rect">
            <a:avLst/>
          </a:prstGeom>
          <a:noFill/>
          <a:ln/>
        </p:spPr>
        <p:txBody>
          <a:bodyPr wrap="square" lIns="0" tIns="0" rIns="0" bIns="0" rtlCol="0" anchor="t"/>
          <a:lstStyle/>
          <a:p>
            <a:pPr indent="0" marL="0">
              <a:buNone/>
            </a:pPr>
            <a:r>
              <a:rPr lang="en-US" sz="1350" dirty="0">
                <a:solidFill>
                  <a:srgbClr val="1B1F24"/>
                </a:solidFill>
                <a:latin typeface="Calibri" pitchFamily="34" charset="0"/>
                <a:ea typeface="Calibri" pitchFamily="34" charset="-122"/>
                <a:cs typeface="Calibri" pitchFamily="34" charset="-120"/>
              </a:rPr>
              <a:t>Integrar el CRM de campañas y los costos reales.</a:t>
            </a:r>
            <a:endParaRPr lang="en-US" sz="1350" dirty="0"/>
          </a:p>
        </p:txBody>
      </p:sp>
      <p:sp>
        <p:nvSpPr>
          <p:cNvPr id="14" name="Shape 10"/>
          <p:cNvSpPr/>
          <p:nvPr/>
        </p:nvSpPr>
        <p:spPr>
          <a:xfrm>
            <a:off x="8046720" y="3547872"/>
            <a:ext cx="347472" cy="347472"/>
          </a:xfrm>
          <a:prstGeom prst="ellipse">
            <a:avLst/>
          </a:prstGeom>
          <a:solidFill>
            <a:srgbClr val="2A78D6"/>
          </a:solidFill>
          <a:ln w="12700">
            <a:solidFill>
              <a:srgbClr val="2A78D6"/>
            </a:solidFill>
            <a:prstDash val="solid"/>
          </a:ln>
        </p:spPr>
        <p:txBody>
          <a:bodyPr/>
          <a:p/>
        </p:txBody>
      </p:sp>
      <p:sp>
        <p:nvSpPr>
          <p:cNvPr id="15" name="Text 11"/>
          <p:cNvSpPr txBox="1"/>
          <p:nvPr/>
        </p:nvSpPr>
        <p:spPr>
          <a:xfrm>
            <a:off x="8046720" y="3547872"/>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2"/>
          <p:cNvSpPr txBox="1"/>
          <p:nvPr/>
        </p:nvSpPr>
        <p:spPr>
          <a:xfrm>
            <a:off x="8522208" y="3493008"/>
            <a:ext cx="2971800" cy="685800"/>
          </a:xfrm>
          <a:prstGeom prst="rect">
            <a:avLst/>
          </a:prstGeom>
          <a:noFill/>
          <a:ln/>
        </p:spPr>
        <p:txBody>
          <a:bodyPr wrap="square" lIns="0" tIns="0" rIns="0" bIns="0" rtlCol="0" anchor="t"/>
          <a:lstStyle/>
          <a:p>
            <a:pPr indent="0" marL="0">
              <a:buNone/>
            </a:pPr>
            <a:r>
              <a:rPr lang="en-US" sz="1350" dirty="0">
                <a:solidFill>
                  <a:srgbClr val="1B1F24"/>
                </a:solidFill>
                <a:latin typeface="Calibri" pitchFamily="34" charset="0"/>
                <a:ea typeface="Calibri" pitchFamily="34" charset="-122"/>
                <a:cs typeface="Calibri" pitchFamily="34" charset="-120"/>
              </a:rPr>
              <a:t>Ejecutar el piloto A/B y leerlo a 30, 60 y 90 días.</a:t>
            </a:r>
            <a:endParaRPr lang="en-US" sz="1350" dirty="0"/>
          </a:p>
        </p:txBody>
      </p:sp>
      <p:sp>
        <p:nvSpPr>
          <p:cNvPr id="17" name="Shape 13"/>
          <p:cNvSpPr/>
          <p:nvPr/>
        </p:nvSpPr>
        <p:spPr>
          <a:xfrm>
            <a:off x="8046720" y="4315968"/>
            <a:ext cx="347472" cy="347472"/>
          </a:xfrm>
          <a:prstGeom prst="ellipse">
            <a:avLst/>
          </a:prstGeom>
          <a:solidFill>
            <a:srgbClr val="2A78D6"/>
          </a:solidFill>
          <a:ln w="12700">
            <a:solidFill>
              <a:srgbClr val="2A78D6"/>
            </a:solidFill>
            <a:prstDash val="solid"/>
          </a:ln>
        </p:spPr>
        <p:txBody>
          <a:bodyPr/>
          <a:p/>
        </p:txBody>
      </p:sp>
      <p:sp>
        <p:nvSpPr>
          <p:cNvPr id="18" name="Text 14"/>
          <p:cNvSpPr txBox="1"/>
          <p:nvPr/>
        </p:nvSpPr>
        <p:spPr>
          <a:xfrm>
            <a:off x="8046720" y="4315968"/>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5"/>
          <p:cNvSpPr txBox="1"/>
          <p:nvPr/>
        </p:nvSpPr>
        <p:spPr>
          <a:xfrm>
            <a:off x="8522208" y="4261104"/>
            <a:ext cx="2971800" cy="685800"/>
          </a:xfrm>
          <a:prstGeom prst="rect">
            <a:avLst/>
          </a:prstGeom>
          <a:noFill/>
          <a:ln/>
        </p:spPr>
        <p:txBody>
          <a:bodyPr wrap="square" lIns="0" tIns="0" rIns="0" bIns="0" rtlCol="0" anchor="t"/>
          <a:lstStyle/>
          <a:p>
            <a:pPr indent="0" marL="0">
              <a:buNone/>
            </a:pPr>
            <a:r>
              <a:rPr lang="en-US" sz="1350" dirty="0">
                <a:solidFill>
                  <a:srgbClr val="1B1F24"/>
                </a:solidFill>
                <a:latin typeface="Calibri" pitchFamily="34" charset="0"/>
                <a:ea typeface="Calibri" pitchFamily="34" charset="-122"/>
                <a:cs typeface="Calibri" pitchFamily="34" charset="-120"/>
              </a:rPr>
              <a:t>Investigar la propuesta de valor de la fibra (alternativa D).</a:t>
            </a:r>
            <a:endParaRPr lang="en-US" sz="1350" dirty="0"/>
          </a:p>
        </p:txBody>
      </p:sp>
      <p:sp>
        <p:nvSpPr>
          <p:cNvPr id="20" name="Shape 16"/>
          <p:cNvSpPr/>
          <p:nvPr/>
        </p:nvSpPr>
        <p:spPr>
          <a:xfrm>
            <a:off x="8046720" y="5084064"/>
            <a:ext cx="347472" cy="347472"/>
          </a:xfrm>
          <a:prstGeom prst="ellipse">
            <a:avLst/>
          </a:prstGeom>
          <a:solidFill>
            <a:srgbClr val="2A78D6"/>
          </a:solidFill>
          <a:ln w="12700">
            <a:solidFill>
              <a:srgbClr val="2A78D6"/>
            </a:solidFill>
            <a:prstDash val="solid"/>
          </a:ln>
        </p:spPr>
        <p:txBody>
          <a:bodyPr/>
          <a:p/>
        </p:txBody>
      </p:sp>
      <p:sp>
        <p:nvSpPr>
          <p:cNvPr id="21" name="Text 17"/>
          <p:cNvSpPr txBox="1"/>
          <p:nvPr/>
        </p:nvSpPr>
        <p:spPr>
          <a:xfrm>
            <a:off x="8046720" y="508406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2" name="Text 18"/>
          <p:cNvSpPr txBox="1"/>
          <p:nvPr/>
        </p:nvSpPr>
        <p:spPr>
          <a:xfrm>
            <a:off x="8522208" y="5029200"/>
            <a:ext cx="2971800" cy="685800"/>
          </a:xfrm>
          <a:prstGeom prst="rect">
            <a:avLst/>
          </a:prstGeom>
          <a:noFill/>
          <a:ln/>
        </p:spPr>
        <p:txBody>
          <a:bodyPr wrap="square" lIns="0" tIns="0" rIns="0" bIns="0" rtlCol="0" anchor="t"/>
          <a:lstStyle/>
          <a:p>
            <a:pPr indent="0" marL="0">
              <a:buNone/>
            </a:pPr>
            <a:r>
              <a:rPr lang="en-US" sz="1350" dirty="0">
                <a:solidFill>
                  <a:srgbClr val="1B1F24"/>
                </a:solidFill>
                <a:latin typeface="Calibri" pitchFamily="34" charset="0"/>
                <a:ea typeface="Calibri" pitchFamily="34" charset="-122"/>
                <a:cs typeface="Calibri" pitchFamily="34" charset="-120"/>
              </a:rPr>
              <a:t>Recalibrar el score con cada corte.</a:t>
            </a:r>
            <a:endParaRPr lang="en-US" sz="1350" dirty="0"/>
          </a:p>
        </p:txBody>
      </p:sp>
      <p:sp>
        <p:nvSpPr>
          <p:cNvPr id="25" name="Slide Number Placeholder 0"/>
          <p:cNvSpPr>
            <a:spLocks noGrp="1"/>
          </p:cNvSpPr>
          <p:nvPr>
            <p:ph type="sldNum" sz="quarter" idx="4294967295"/>
          </p:nvPr>
        </p:nvSpPr>
        <p:spPr>
          <a:xfrm>
            <a:off x="11091672"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5B6573"/>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822960" y="1280160"/>
            <a:ext cx="10515600" cy="137160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La meta no es reportar datos: es ayudar a decidir mejor.</a:t>
            </a:r>
            <a:endParaRPr lang="en-US" sz="3600" dirty="0"/>
          </a:p>
        </p:txBody>
      </p:sp>
      <p:sp>
        <p:nvSpPr>
          <p:cNvPr id="3" name="Text 1"/>
          <p:cNvSpPr txBox="1"/>
          <p:nvPr/>
        </p:nvSpPr>
        <p:spPr>
          <a:xfrm>
            <a:off x="822960" y="2788920"/>
            <a:ext cx="10515600" cy="548640"/>
          </a:xfrm>
          <a:prstGeom prst="rect">
            <a:avLst/>
          </a:prstGeom>
          <a:noFill/>
          <a:ln/>
        </p:spPr>
        <p:txBody>
          <a:bodyPr wrap="square" lIns="0" tIns="0" rIns="0" bIns="0" rtlCol="0" anchor="ctr"/>
          <a:lstStyle/>
          <a:p>
            <a:pPr indent="0" marL="0">
              <a:buNone/>
            </a:pPr>
            <a:r>
              <a:rPr lang="en-US" sz="2400" b="1" dirty="0">
                <a:solidFill>
                  <a:srgbClr val="EB6834"/>
                </a:solidFill>
                <a:latin typeface="Calibri" pitchFamily="34" charset="0"/>
                <a:ea typeface="Calibri" pitchFamily="34" charset="-122"/>
                <a:cs typeface="Calibri" pitchFamily="34" charset="-120"/>
              </a:rPr>
              <a:t>Gracias. ¿Preguntas?</a:t>
            </a:r>
            <a:endParaRPr lang="en-US" sz="2400" dirty="0"/>
          </a:p>
        </p:txBody>
      </p:sp>
      <p:sp>
        <p:nvSpPr>
          <p:cNvPr id="4" name="Text 2"/>
          <p:cNvSpPr txBox="1"/>
          <p:nvPr/>
        </p:nvSpPr>
        <p:spPr>
          <a:xfrm>
            <a:off x="822960" y="3840480"/>
            <a:ext cx="5486400" cy="274320"/>
          </a:xfrm>
          <a:prstGeom prst="rect">
            <a:avLst/>
          </a:prstGeom>
          <a:noFill/>
          <a:ln/>
        </p:spPr>
        <p:txBody>
          <a:bodyPr wrap="square" lIns="0" tIns="0" rIns="0" bIns="0" rtlCol="0" anchor="ctr"/>
          <a:lstStyle/>
          <a:p>
            <a:pPr indent="0" marL="0">
              <a:buNone/>
            </a:pPr>
            <a:r>
              <a:rPr lang="en-US" sz="1100" b="1" spc="200" kern="0" dirty="0">
                <a:solidFill>
                  <a:srgbClr val="C3D2E6"/>
                </a:solidFill>
                <a:latin typeface="Calibri" pitchFamily="34" charset="0"/>
                <a:ea typeface="Calibri" pitchFamily="34" charset="-122"/>
                <a:cs typeface="Calibri" pitchFamily="34" charset="-120"/>
              </a:rPr>
              <a:t>ENTREGABLES</a:t>
            </a:r>
            <a:endParaRPr lang="en-US" sz="1100" dirty="0"/>
          </a:p>
        </p:txBody>
      </p:sp>
      <p:sp>
        <p:nvSpPr>
          <p:cNvPr id="5" name="Text 3"/>
          <p:cNvSpPr txBox="1"/>
          <p:nvPr/>
        </p:nvSpPr>
        <p:spPr>
          <a:xfrm>
            <a:off x="822960" y="4133088"/>
            <a:ext cx="10515600" cy="54864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Informe final en PDF · notebook reproducible · dashboard en Power BI (5 páginas) · diccionario de métricas · presentación ejecutiva</a:t>
            </a:r>
            <a:endParaRPr lang="en-US" sz="1500" dirty="0"/>
          </a:p>
        </p:txBody>
      </p:sp>
      <p:sp>
        <p:nvSpPr>
          <p:cNvPr id="6" name="Text 4"/>
          <p:cNvSpPr txBox="1"/>
          <p:nvPr/>
        </p:nvSpPr>
        <p:spPr>
          <a:xfrm>
            <a:off x="822960" y="5989320"/>
            <a:ext cx="10515600" cy="365760"/>
          </a:xfrm>
          <a:prstGeom prst="rect">
            <a:avLst/>
          </a:prstGeom>
          <a:noFill/>
          <a:ln/>
        </p:spPr>
        <p:txBody>
          <a:bodyPr wrap="square" lIns="0" tIns="0" rIns="0" bIns="0" rtlCol="0" anchor="ctr"/>
          <a:lstStyle/>
          <a:p>
            <a:pPr indent="0" marL="0">
              <a:buNone/>
            </a:pPr>
            <a:r>
              <a:rPr lang="en-US" sz="1200" dirty="0">
                <a:solidFill>
                  <a:srgbClr val="8FA3BF"/>
                </a:solidFill>
                <a:latin typeface="Calibri" pitchFamily="34" charset="0"/>
                <a:ea typeface="Calibri" pitchFamily="34" charset="-122"/>
                <a:cs typeface="Calibri" pitchFamily="34" charset="-120"/>
              </a:rPr>
              <a:t>DataForge Consulting · Oscar Santiago Merino Suárez · Claudia Rocío Rodríguez Ortiz · Paula Andrea Gacha García · Daniel Felipe Pérez Pineda</a:t>
            </a:r>
            <a:endParaRPr lang="en-US" sz="1200" dirty="0"/>
          </a:p>
        </p:txBody>
      </p:sp>
    </p:spTree>
  </p:cSld>
  <p:clrMapOvr>
    <a:masterClrMapping/>
  </p:clrMapOvr>
</p:sld>
</file>

<file path=ppt/theme/theme1.xml><?xml version="1.0" encoding="utf-8"?>
<a:theme xmlns:a="http://schemas.openxmlformats.org/drawingml/2006/main" name="DataForge Consulting">
  <a:themeElements>
    <a:clrScheme name="DataForge Consulting">
      <a:dk1>
        <a:srgbClr val="1B1F24"/>
      </a:dk1>
      <a:lt1>
        <a:srgbClr val="FFFFFF"/>
      </a:lt1>
      <a:dk2>
        <a:srgbClr val="13294B"/>
      </a:dk2>
      <a:lt2>
        <a:srgbClr val="F3F5F8"/>
      </a:lt2>
      <a:accent1>
        <a:srgbClr val="2A78D6"/>
      </a:accent1>
      <a:accent2>
        <a:srgbClr val="EB6834"/>
      </a:accent2>
      <a:accent3>
        <a:srgbClr val="1BAF7A"/>
      </a:accent3>
      <a:accent4>
        <a:srgbClr val="EDA100"/>
      </a:accent4>
      <a:accent5>
        <a:srgbClr val="6250D6"/>
      </a:accent5>
      <a:accent6>
        <a:srgbClr val="8E99A8"/>
      </a:accent6>
      <a:hlink>
        <a:srgbClr val="2A78D6"/>
      </a:hlink>
      <a:folHlink>
        <a:srgbClr val="6250D6"/>
      </a:folHlink>
    </a:clrScheme>
    <a:fontScheme name="DataForge Consult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DataForge Consulting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Sistema de Decision Intelligence para la retención de clientes · Caso Telco</dc:title>
  <dc:subject>PptxGenJS Presentation</dc:subject>
  <dc:creator>DataForge Consulting</dc:creator>
  <cp:lastModifiedBy>DataForge Consulting</cp:lastModifiedBy>
  <cp:revision>1</cp:revision>
  <dcterms:created xsi:type="dcterms:W3CDTF">2026-10-28T03:27:06Z</dcterms:created>
  <dcterms:modified xsi:type="dcterms:W3CDTF">2026-10-28T03:27:06Z</dcterms:modified>
</cp:coreProperties>
</file>